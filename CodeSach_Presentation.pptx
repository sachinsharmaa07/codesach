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3A"/>
        </a:solidFill>
      </p:bgPr>
    </p:bg>
    <p:spTree>
      <p:nvGrpSpPr>
        <p:cNvPr id="1" name=""/>
        <p:cNvGrpSpPr/>
        <p:nvPr/>
      </p:nvGrpSpPr>
      <p:grpSpPr>
        <a:xfrm>
          <a:off x="0" y="0"/>
          <a:ext cx="0" cy="0"/>
          <a:chOff x="0" y="0"/>
          <a:chExt cx="0" cy="0"/>
        </a:xfrm>
      </p:grpSpPr>
      <p:sp>
        <p:nvSpPr>
          <p:cNvPr id="2" name="Shape 0"/>
          <p:cNvSpPr/>
          <p:nvPr/>
        </p:nvSpPr>
        <p:spPr>
          <a:xfrm>
            <a:off x="9966960" y="-1463040"/>
            <a:ext cx="4572000" cy="4572000"/>
          </a:xfrm>
          <a:prstGeom prst="ellipse">
            <a:avLst/>
          </a:prstGeom>
          <a:solidFill>
            <a:srgbClr val="065A82">
              <a:alpha val="45000"/>
            </a:srgbClr>
          </a:solidFill>
          <a:ln/>
        </p:spPr>
      </p:sp>
      <p:sp>
        <p:nvSpPr>
          <p:cNvPr id="3" name="Shape 1"/>
          <p:cNvSpPr/>
          <p:nvPr/>
        </p:nvSpPr>
        <p:spPr>
          <a:xfrm>
            <a:off x="-1645920" y="4846320"/>
            <a:ext cx="3840480" cy="3840480"/>
          </a:xfrm>
          <a:prstGeom prst="ellipse">
            <a:avLst/>
          </a:prstGeom>
          <a:solidFill>
            <a:srgbClr val="1C7293">
              <a:alpha val="40000"/>
            </a:srgbClr>
          </a:solidFill>
          <a:ln/>
        </p:spPr>
      </p:sp>
      <p:sp>
        <p:nvSpPr>
          <p:cNvPr id="4" name="Text 2"/>
          <p:cNvSpPr/>
          <p:nvPr/>
        </p:nvSpPr>
        <p:spPr>
          <a:xfrm>
            <a:off x="822960" y="1874520"/>
            <a:ext cx="9144000" cy="365760"/>
          </a:xfrm>
          <a:prstGeom prst="rect">
            <a:avLst/>
          </a:prstGeom>
          <a:noFill/>
          <a:ln/>
        </p:spPr>
        <p:txBody>
          <a:bodyPr wrap="square" rtlCol="0" anchor="ctr"/>
          <a:lstStyle/>
          <a:p>
            <a:pPr indent="0" marL="0">
              <a:buNone/>
            </a:pPr>
            <a:r>
              <a:rPr lang="en-US" sz="1400" b="1" spc="300" kern="0" dirty="0">
                <a:solidFill>
                  <a:srgbClr val="FFB100"/>
                </a:solidFill>
                <a:latin typeface="Calibri" pitchFamily="34" charset="0"/>
                <a:ea typeface="Calibri" pitchFamily="34" charset="-122"/>
                <a:cs typeface="Calibri" pitchFamily="34" charset="-120"/>
              </a:rPr>
              <a:t>CLOUD-NATIVE  ·  FULL STACK  ·  DEVOPS  ·  DSA</a:t>
            </a:r>
            <a:endParaRPr lang="en-US" sz="1400" dirty="0"/>
          </a:p>
        </p:txBody>
      </p:sp>
      <p:sp>
        <p:nvSpPr>
          <p:cNvPr id="5" name="Text 3"/>
          <p:cNvSpPr/>
          <p:nvPr/>
        </p:nvSpPr>
        <p:spPr>
          <a:xfrm>
            <a:off x="777240" y="2240280"/>
            <a:ext cx="10058400" cy="1280160"/>
          </a:xfrm>
          <a:prstGeom prst="rect">
            <a:avLst/>
          </a:prstGeom>
          <a:noFill/>
          <a:ln/>
        </p:spPr>
        <p:txBody>
          <a:bodyPr wrap="square" rtlCol="0" anchor="ctr"/>
          <a:lstStyle/>
          <a:p>
            <a:pPr indent="0" marL="0">
              <a:buNone/>
            </a:pPr>
            <a:r>
              <a:rPr lang="en-US" sz="6000" b="1" dirty="0">
                <a:solidFill>
                  <a:srgbClr val="FFFFFF"/>
                </a:solidFill>
                <a:latin typeface="Arial" pitchFamily="34" charset="0"/>
                <a:ea typeface="Arial" pitchFamily="34" charset="-122"/>
                <a:cs typeface="Arial" pitchFamily="34" charset="-120"/>
              </a:rPr>
              <a:t>CodeSach</a:t>
            </a:r>
            <a:endParaRPr lang="en-US" sz="6000" dirty="0"/>
          </a:p>
        </p:txBody>
      </p:sp>
      <p:sp>
        <p:nvSpPr>
          <p:cNvPr id="6" name="Text 4"/>
          <p:cNvSpPr/>
          <p:nvPr/>
        </p:nvSpPr>
        <p:spPr>
          <a:xfrm>
            <a:off x="822960" y="3474720"/>
            <a:ext cx="9601200" cy="502920"/>
          </a:xfrm>
          <a:prstGeom prst="rect">
            <a:avLst/>
          </a:prstGeom>
          <a:noFill/>
          <a:ln/>
        </p:spPr>
        <p:txBody>
          <a:bodyPr wrap="square" rtlCol="0" anchor="ctr"/>
          <a:lstStyle/>
          <a:p>
            <a:pPr indent="0" marL="0">
              <a:buNone/>
            </a:pPr>
            <a:r>
              <a:rPr lang="en-US" sz="1900" dirty="0">
                <a:solidFill>
                  <a:srgbClr val="C9D8E0"/>
                </a:solidFill>
                <a:latin typeface="Calibri" pitchFamily="34" charset="0"/>
                <a:ea typeface="Calibri" pitchFamily="34" charset="-122"/>
                <a:cs typeface="Calibri" pitchFamily="34" charset="-120"/>
              </a:rPr>
              <a:t>An Advanced Cloud-Native Online Coding Platform</a:t>
            </a:r>
            <a:endParaRPr lang="en-US" sz="1900" dirty="0"/>
          </a:p>
        </p:txBody>
      </p:sp>
      <p:sp>
        <p:nvSpPr>
          <p:cNvPr id="7" name="Shape 5"/>
          <p:cNvSpPr/>
          <p:nvPr/>
        </p:nvSpPr>
        <p:spPr>
          <a:xfrm>
            <a:off x="822960" y="4160520"/>
            <a:ext cx="2011680" cy="0"/>
          </a:xfrm>
          <a:prstGeom prst="line">
            <a:avLst/>
          </a:prstGeom>
          <a:noFill/>
          <a:ln w="31750">
            <a:solidFill>
              <a:srgbClr val="FFB100"/>
            </a:solidFill>
            <a:prstDash val="solid"/>
          </a:ln>
        </p:spPr>
      </p:sp>
      <p:sp>
        <p:nvSpPr>
          <p:cNvPr id="8" name="Text 6"/>
          <p:cNvSpPr/>
          <p:nvPr/>
        </p:nvSpPr>
        <p:spPr>
          <a:xfrm>
            <a:off x="822960" y="4315968"/>
            <a:ext cx="9601200" cy="365760"/>
          </a:xfrm>
          <a:prstGeom prst="rect">
            <a:avLst/>
          </a:prstGeom>
          <a:noFill/>
          <a:ln/>
        </p:spPr>
        <p:txBody>
          <a:bodyPr wrap="square" rtlCol="0" anchor="ctr"/>
          <a:lstStyle/>
          <a:p>
            <a:pPr indent="0" marL="0">
              <a:buNone/>
            </a:pPr>
            <a:r>
              <a:rPr lang="en-US" sz="1350" i="1" dirty="0">
                <a:solidFill>
                  <a:srgbClr val="9FB4C2"/>
                </a:solidFill>
                <a:latin typeface="Calibri" pitchFamily="34" charset="0"/>
                <a:ea typeface="Calibri" pitchFamily="34" charset="-122"/>
                <a:cs typeface="Calibri" pitchFamily="34" charset="-120"/>
              </a:rPr>
              <a:t>A Complete Technical &amp; Architectural Deep-Dive — Every Tool, Every Decision</a:t>
            </a:r>
            <a:endParaRPr lang="en-US" sz="1350" dirty="0"/>
          </a:p>
        </p:txBody>
      </p:sp>
      <p:sp>
        <p:nvSpPr>
          <p:cNvPr id="9" name="Shape 7"/>
          <p:cNvSpPr/>
          <p:nvPr/>
        </p:nvSpPr>
        <p:spPr>
          <a:xfrm>
            <a:off x="822960" y="5623560"/>
            <a:ext cx="1078992" cy="347472"/>
          </a:xfrm>
          <a:prstGeom prst="roundRect">
            <a:avLst>
              <a:gd name="adj" fmla="val 21053"/>
            </a:avLst>
          </a:prstGeom>
          <a:solidFill>
            <a:srgbClr val="1F2C4D"/>
          </a:solidFill>
          <a:ln w="12700">
            <a:solidFill>
              <a:srgbClr val="35456E"/>
            </a:solidFill>
            <a:prstDash val="solid"/>
          </a:ln>
        </p:spPr>
      </p:sp>
      <p:sp>
        <p:nvSpPr>
          <p:cNvPr id="10" name="Text 8"/>
          <p:cNvSpPr/>
          <p:nvPr/>
        </p:nvSpPr>
        <p:spPr>
          <a:xfrm>
            <a:off x="822960" y="5623560"/>
            <a:ext cx="1078992" cy="347472"/>
          </a:xfrm>
          <a:prstGeom prst="rect">
            <a:avLst/>
          </a:prstGeom>
          <a:noFill/>
          <a:ln/>
        </p:spPr>
        <p:txBody>
          <a:bodyPr wrap="square" rtlCol="0" anchor="ctr"/>
          <a:lstStyle/>
          <a:p>
            <a:pPr algn="ctr" indent="0" marL="0">
              <a:buNone/>
            </a:pPr>
            <a:r>
              <a:rPr lang="en-US" sz="1100" dirty="0">
                <a:solidFill>
                  <a:srgbClr val="DCE6EC"/>
                </a:solidFill>
                <a:latin typeface="Calibri" pitchFamily="34" charset="0"/>
                <a:ea typeface="Calibri" pitchFamily="34" charset="-122"/>
                <a:cs typeface="Calibri" pitchFamily="34" charset="-120"/>
              </a:rPr>
              <a:t>React 18</a:t>
            </a:r>
            <a:endParaRPr lang="en-US" sz="1100" dirty="0"/>
          </a:p>
        </p:txBody>
      </p:sp>
      <p:sp>
        <p:nvSpPr>
          <p:cNvPr id="11" name="Shape 9"/>
          <p:cNvSpPr/>
          <p:nvPr/>
        </p:nvSpPr>
        <p:spPr>
          <a:xfrm>
            <a:off x="2048256" y="5623560"/>
            <a:ext cx="982980" cy="347472"/>
          </a:xfrm>
          <a:prstGeom prst="roundRect">
            <a:avLst>
              <a:gd name="adj" fmla="val 21053"/>
            </a:avLst>
          </a:prstGeom>
          <a:solidFill>
            <a:srgbClr val="1F2C4D"/>
          </a:solidFill>
          <a:ln w="12700">
            <a:solidFill>
              <a:srgbClr val="35456E"/>
            </a:solidFill>
            <a:prstDash val="solid"/>
          </a:ln>
        </p:spPr>
      </p:sp>
      <p:sp>
        <p:nvSpPr>
          <p:cNvPr id="12" name="Text 10"/>
          <p:cNvSpPr/>
          <p:nvPr/>
        </p:nvSpPr>
        <p:spPr>
          <a:xfrm>
            <a:off x="2048256" y="5623560"/>
            <a:ext cx="982980" cy="347472"/>
          </a:xfrm>
          <a:prstGeom prst="rect">
            <a:avLst/>
          </a:prstGeom>
          <a:noFill/>
          <a:ln/>
        </p:spPr>
        <p:txBody>
          <a:bodyPr wrap="square" rtlCol="0" anchor="ctr"/>
          <a:lstStyle/>
          <a:p>
            <a:pPr algn="ctr" indent="0" marL="0">
              <a:buNone/>
            </a:pPr>
            <a:r>
              <a:rPr lang="en-US" sz="1100" dirty="0">
                <a:solidFill>
                  <a:srgbClr val="DCE6EC"/>
                </a:solidFill>
                <a:latin typeface="Calibri" pitchFamily="34" charset="0"/>
                <a:ea typeface="Calibri" pitchFamily="34" charset="-122"/>
                <a:cs typeface="Calibri" pitchFamily="34" charset="-120"/>
              </a:rPr>
              <a:t>Node.js</a:t>
            </a:r>
            <a:endParaRPr lang="en-US" sz="1100" dirty="0"/>
          </a:p>
        </p:txBody>
      </p:sp>
      <p:sp>
        <p:nvSpPr>
          <p:cNvPr id="13" name="Shape 11"/>
          <p:cNvSpPr/>
          <p:nvPr/>
        </p:nvSpPr>
        <p:spPr>
          <a:xfrm>
            <a:off x="3177540" y="5623560"/>
            <a:ext cx="982980" cy="347472"/>
          </a:xfrm>
          <a:prstGeom prst="roundRect">
            <a:avLst>
              <a:gd name="adj" fmla="val 21053"/>
            </a:avLst>
          </a:prstGeom>
          <a:solidFill>
            <a:srgbClr val="1F2C4D"/>
          </a:solidFill>
          <a:ln w="12700">
            <a:solidFill>
              <a:srgbClr val="35456E"/>
            </a:solidFill>
            <a:prstDash val="solid"/>
          </a:ln>
        </p:spPr>
      </p:sp>
      <p:sp>
        <p:nvSpPr>
          <p:cNvPr id="14" name="Text 12"/>
          <p:cNvSpPr/>
          <p:nvPr/>
        </p:nvSpPr>
        <p:spPr>
          <a:xfrm>
            <a:off x="3177540" y="5623560"/>
            <a:ext cx="982980" cy="347472"/>
          </a:xfrm>
          <a:prstGeom prst="rect">
            <a:avLst/>
          </a:prstGeom>
          <a:noFill/>
          <a:ln/>
        </p:spPr>
        <p:txBody>
          <a:bodyPr wrap="square" rtlCol="0" anchor="ctr"/>
          <a:lstStyle/>
          <a:p>
            <a:pPr algn="ctr" indent="0" marL="0">
              <a:buNone/>
            </a:pPr>
            <a:r>
              <a:rPr lang="en-US" sz="1100" dirty="0">
                <a:solidFill>
                  <a:srgbClr val="DCE6EC"/>
                </a:solidFill>
                <a:latin typeface="Calibri" pitchFamily="34" charset="0"/>
                <a:ea typeface="Calibri" pitchFamily="34" charset="-122"/>
                <a:cs typeface="Calibri" pitchFamily="34" charset="-120"/>
              </a:rPr>
              <a:t>Express</a:t>
            </a:r>
            <a:endParaRPr lang="en-US" sz="1100" dirty="0"/>
          </a:p>
        </p:txBody>
      </p:sp>
      <p:sp>
        <p:nvSpPr>
          <p:cNvPr id="15" name="Shape 13"/>
          <p:cNvSpPr/>
          <p:nvPr/>
        </p:nvSpPr>
        <p:spPr>
          <a:xfrm>
            <a:off x="4306824" y="5623560"/>
            <a:ext cx="982980" cy="347472"/>
          </a:xfrm>
          <a:prstGeom prst="roundRect">
            <a:avLst>
              <a:gd name="adj" fmla="val 21053"/>
            </a:avLst>
          </a:prstGeom>
          <a:solidFill>
            <a:srgbClr val="1F2C4D"/>
          </a:solidFill>
          <a:ln w="12700">
            <a:solidFill>
              <a:srgbClr val="35456E"/>
            </a:solidFill>
            <a:prstDash val="solid"/>
          </a:ln>
        </p:spPr>
      </p:sp>
      <p:sp>
        <p:nvSpPr>
          <p:cNvPr id="16" name="Text 14"/>
          <p:cNvSpPr/>
          <p:nvPr/>
        </p:nvSpPr>
        <p:spPr>
          <a:xfrm>
            <a:off x="4306824" y="5623560"/>
            <a:ext cx="982980" cy="347472"/>
          </a:xfrm>
          <a:prstGeom prst="rect">
            <a:avLst/>
          </a:prstGeom>
          <a:noFill/>
          <a:ln/>
        </p:spPr>
        <p:txBody>
          <a:bodyPr wrap="square" rtlCol="0" anchor="ctr"/>
          <a:lstStyle/>
          <a:p>
            <a:pPr algn="ctr" indent="0" marL="0">
              <a:buNone/>
            </a:pPr>
            <a:r>
              <a:rPr lang="en-US" sz="1100" dirty="0">
                <a:solidFill>
                  <a:srgbClr val="DCE6EC"/>
                </a:solidFill>
                <a:latin typeface="Calibri" pitchFamily="34" charset="0"/>
                <a:ea typeface="Calibri" pitchFamily="34" charset="-122"/>
                <a:cs typeface="Calibri" pitchFamily="34" charset="-120"/>
              </a:rPr>
              <a:t>MongoDB</a:t>
            </a:r>
            <a:endParaRPr lang="en-US" sz="1100" dirty="0"/>
          </a:p>
        </p:txBody>
      </p:sp>
      <p:sp>
        <p:nvSpPr>
          <p:cNvPr id="17" name="Shape 15"/>
          <p:cNvSpPr/>
          <p:nvPr/>
        </p:nvSpPr>
        <p:spPr>
          <a:xfrm>
            <a:off x="5436108" y="5623560"/>
            <a:ext cx="886968" cy="347472"/>
          </a:xfrm>
          <a:prstGeom prst="roundRect">
            <a:avLst>
              <a:gd name="adj" fmla="val 21053"/>
            </a:avLst>
          </a:prstGeom>
          <a:solidFill>
            <a:srgbClr val="1F2C4D"/>
          </a:solidFill>
          <a:ln w="12700">
            <a:solidFill>
              <a:srgbClr val="35456E"/>
            </a:solidFill>
            <a:prstDash val="solid"/>
          </a:ln>
        </p:spPr>
      </p:sp>
      <p:sp>
        <p:nvSpPr>
          <p:cNvPr id="18" name="Text 16"/>
          <p:cNvSpPr/>
          <p:nvPr/>
        </p:nvSpPr>
        <p:spPr>
          <a:xfrm>
            <a:off x="5436108" y="5623560"/>
            <a:ext cx="886968" cy="347472"/>
          </a:xfrm>
          <a:prstGeom prst="rect">
            <a:avLst/>
          </a:prstGeom>
          <a:noFill/>
          <a:ln/>
        </p:spPr>
        <p:txBody>
          <a:bodyPr wrap="square" rtlCol="0" anchor="ctr"/>
          <a:lstStyle/>
          <a:p>
            <a:pPr algn="ctr" indent="0" marL="0">
              <a:buNone/>
            </a:pPr>
            <a:r>
              <a:rPr lang="en-US" sz="1100" dirty="0">
                <a:solidFill>
                  <a:srgbClr val="DCE6EC"/>
                </a:solidFill>
                <a:latin typeface="Calibri" pitchFamily="34" charset="0"/>
                <a:ea typeface="Calibri" pitchFamily="34" charset="-122"/>
                <a:cs typeface="Calibri" pitchFamily="34" charset="-120"/>
              </a:rPr>
              <a:t>Docker</a:t>
            </a:r>
            <a:endParaRPr lang="en-US" sz="1100" dirty="0"/>
          </a:p>
        </p:txBody>
      </p:sp>
      <p:sp>
        <p:nvSpPr>
          <p:cNvPr id="19" name="Shape 17"/>
          <p:cNvSpPr/>
          <p:nvPr/>
        </p:nvSpPr>
        <p:spPr>
          <a:xfrm>
            <a:off x="6469380" y="5623560"/>
            <a:ext cx="1271016" cy="347472"/>
          </a:xfrm>
          <a:prstGeom prst="roundRect">
            <a:avLst>
              <a:gd name="adj" fmla="val 21053"/>
            </a:avLst>
          </a:prstGeom>
          <a:solidFill>
            <a:srgbClr val="1F2C4D"/>
          </a:solidFill>
          <a:ln w="12700">
            <a:solidFill>
              <a:srgbClr val="35456E"/>
            </a:solidFill>
            <a:prstDash val="solid"/>
          </a:ln>
        </p:spPr>
      </p:sp>
      <p:sp>
        <p:nvSpPr>
          <p:cNvPr id="20" name="Text 18"/>
          <p:cNvSpPr/>
          <p:nvPr/>
        </p:nvSpPr>
        <p:spPr>
          <a:xfrm>
            <a:off x="6469380" y="5623560"/>
            <a:ext cx="1271016" cy="347472"/>
          </a:xfrm>
          <a:prstGeom prst="rect">
            <a:avLst/>
          </a:prstGeom>
          <a:noFill/>
          <a:ln/>
        </p:spPr>
        <p:txBody>
          <a:bodyPr wrap="square" rtlCol="0" anchor="ctr"/>
          <a:lstStyle/>
          <a:p>
            <a:pPr algn="ctr" indent="0" marL="0">
              <a:buNone/>
            </a:pPr>
            <a:r>
              <a:rPr lang="en-US" sz="1100" dirty="0">
                <a:solidFill>
                  <a:srgbClr val="DCE6EC"/>
                </a:solidFill>
                <a:latin typeface="Calibri" pitchFamily="34" charset="0"/>
                <a:ea typeface="Calibri" pitchFamily="34" charset="-122"/>
                <a:cs typeface="Calibri" pitchFamily="34" charset="-120"/>
              </a:rPr>
              <a:t>Kubernetes</a:t>
            </a:r>
            <a:endParaRPr lang="en-US" sz="1100" dirty="0"/>
          </a:p>
        </p:txBody>
      </p:sp>
      <p:sp>
        <p:nvSpPr>
          <p:cNvPr id="21" name="Shape 19"/>
          <p:cNvSpPr/>
          <p:nvPr/>
        </p:nvSpPr>
        <p:spPr>
          <a:xfrm>
            <a:off x="7886700" y="5623560"/>
            <a:ext cx="982980" cy="347472"/>
          </a:xfrm>
          <a:prstGeom prst="roundRect">
            <a:avLst>
              <a:gd name="adj" fmla="val 21053"/>
            </a:avLst>
          </a:prstGeom>
          <a:solidFill>
            <a:srgbClr val="1F2C4D"/>
          </a:solidFill>
          <a:ln w="12700">
            <a:solidFill>
              <a:srgbClr val="35456E"/>
            </a:solidFill>
            <a:prstDash val="solid"/>
          </a:ln>
        </p:spPr>
      </p:sp>
      <p:sp>
        <p:nvSpPr>
          <p:cNvPr id="22" name="Text 20"/>
          <p:cNvSpPr/>
          <p:nvPr/>
        </p:nvSpPr>
        <p:spPr>
          <a:xfrm>
            <a:off x="7886700" y="5623560"/>
            <a:ext cx="982980" cy="347472"/>
          </a:xfrm>
          <a:prstGeom prst="rect">
            <a:avLst/>
          </a:prstGeom>
          <a:noFill/>
          <a:ln/>
        </p:spPr>
        <p:txBody>
          <a:bodyPr wrap="square" rtlCol="0" anchor="ctr"/>
          <a:lstStyle/>
          <a:p>
            <a:pPr algn="ctr" indent="0" marL="0">
              <a:buNone/>
            </a:pPr>
            <a:r>
              <a:rPr lang="en-US" sz="1100" dirty="0">
                <a:solidFill>
                  <a:srgbClr val="DCE6EC"/>
                </a:solidFill>
                <a:latin typeface="Calibri" pitchFamily="34" charset="0"/>
                <a:ea typeface="Calibri" pitchFamily="34" charset="-122"/>
                <a:cs typeface="Calibri" pitchFamily="34" charset="-120"/>
              </a:rPr>
              <a:t>AWS EC2</a:t>
            </a:r>
            <a:endParaRPr lang="en-US" sz="1100" dirty="0"/>
          </a:p>
        </p:txBody>
      </p:sp>
      <p:sp>
        <p:nvSpPr>
          <p:cNvPr id="23" name="Shape 21"/>
          <p:cNvSpPr/>
          <p:nvPr/>
        </p:nvSpPr>
        <p:spPr>
          <a:xfrm>
            <a:off x="9015984" y="5623560"/>
            <a:ext cx="886968" cy="347472"/>
          </a:xfrm>
          <a:prstGeom prst="roundRect">
            <a:avLst>
              <a:gd name="adj" fmla="val 21053"/>
            </a:avLst>
          </a:prstGeom>
          <a:solidFill>
            <a:srgbClr val="1F2C4D"/>
          </a:solidFill>
          <a:ln w="12700">
            <a:solidFill>
              <a:srgbClr val="35456E"/>
            </a:solidFill>
            <a:prstDash val="solid"/>
          </a:ln>
        </p:spPr>
      </p:sp>
      <p:sp>
        <p:nvSpPr>
          <p:cNvPr id="24" name="Text 22"/>
          <p:cNvSpPr/>
          <p:nvPr/>
        </p:nvSpPr>
        <p:spPr>
          <a:xfrm>
            <a:off x="9015984" y="5623560"/>
            <a:ext cx="886968" cy="347472"/>
          </a:xfrm>
          <a:prstGeom prst="rect">
            <a:avLst/>
          </a:prstGeom>
          <a:noFill/>
          <a:ln/>
        </p:spPr>
        <p:txBody>
          <a:bodyPr wrap="square" rtlCol="0" anchor="ctr"/>
          <a:lstStyle/>
          <a:p>
            <a:pPr algn="ctr" indent="0" marL="0">
              <a:buNone/>
            </a:pPr>
            <a:r>
              <a:rPr lang="en-US" sz="1100" dirty="0">
                <a:solidFill>
                  <a:srgbClr val="DCE6EC"/>
                </a:solidFill>
                <a:latin typeface="Calibri" pitchFamily="34" charset="0"/>
                <a:ea typeface="Calibri" pitchFamily="34" charset="-122"/>
                <a:cs typeface="Calibri" pitchFamily="34" charset="-120"/>
              </a:rPr>
              <a:t>Judge0</a:t>
            </a:r>
            <a:endParaRPr lang="en-US" sz="1100" dirty="0"/>
          </a:p>
        </p:txBody>
      </p:sp>
      <p:sp>
        <p:nvSpPr>
          <p:cNvPr id="25" name="Shape 23"/>
          <p:cNvSpPr/>
          <p:nvPr/>
        </p:nvSpPr>
        <p:spPr>
          <a:xfrm>
            <a:off x="822960" y="6080760"/>
            <a:ext cx="1655064" cy="347472"/>
          </a:xfrm>
          <a:prstGeom prst="roundRect">
            <a:avLst>
              <a:gd name="adj" fmla="val 21053"/>
            </a:avLst>
          </a:prstGeom>
          <a:solidFill>
            <a:srgbClr val="1F2C4D"/>
          </a:solidFill>
          <a:ln w="12700">
            <a:solidFill>
              <a:srgbClr val="35456E"/>
            </a:solidFill>
            <a:prstDash val="solid"/>
          </a:ln>
        </p:spPr>
      </p:sp>
      <p:sp>
        <p:nvSpPr>
          <p:cNvPr id="26" name="Text 24"/>
          <p:cNvSpPr/>
          <p:nvPr/>
        </p:nvSpPr>
        <p:spPr>
          <a:xfrm>
            <a:off x="822960" y="6080760"/>
            <a:ext cx="1655064" cy="347472"/>
          </a:xfrm>
          <a:prstGeom prst="rect">
            <a:avLst/>
          </a:prstGeom>
          <a:noFill/>
          <a:ln/>
        </p:spPr>
        <p:txBody>
          <a:bodyPr wrap="square" rtlCol="0" anchor="ctr"/>
          <a:lstStyle/>
          <a:p>
            <a:pPr algn="ctr" indent="0" marL="0">
              <a:buNone/>
            </a:pPr>
            <a:r>
              <a:rPr lang="en-US" sz="1100" dirty="0">
                <a:solidFill>
                  <a:srgbClr val="DCE6EC"/>
                </a:solidFill>
                <a:latin typeface="Calibri" pitchFamily="34" charset="0"/>
                <a:ea typeface="Calibri" pitchFamily="34" charset="-122"/>
                <a:cs typeface="Calibri" pitchFamily="34" charset="-120"/>
              </a:rPr>
              <a:t>GitHub Actions</a:t>
            </a:r>
            <a:endParaRPr lang="en-US" sz="1100" dirty="0"/>
          </a:p>
        </p:txBody>
      </p:sp>
      <p:sp>
        <p:nvSpPr>
          <p:cNvPr id="27" name="Shape 25"/>
          <p:cNvSpPr/>
          <p:nvPr/>
        </p:nvSpPr>
        <p:spPr>
          <a:xfrm>
            <a:off x="2624328" y="6080760"/>
            <a:ext cx="790956" cy="347472"/>
          </a:xfrm>
          <a:prstGeom prst="roundRect">
            <a:avLst>
              <a:gd name="adj" fmla="val 21053"/>
            </a:avLst>
          </a:prstGeom>
          <a:solidFill>
            <a:srgbClr val="1F2C4D"/>
          </a:solidFill>
          <a:ln w="12700">
            <a:solidFill>
              <a:srgbClr val="35456E"/>
            </a:solidFill>
            <a:prstDash val="solid"/>
          </a:ln>
        </p:spPr>
      </p:sp>
      <p:sp>
        <p:nvSpPr>
          <p:cNvPr id="28" name="Text 26"/>
          <p:cNvSpPr/>
          <p:nvPr/>
        </p:nvSpPr>
        <p:spPr>
          <a:xfrm>
            <a:off x="2624328" y="6080760"/>
            <a:ext cx="790956" cy="347472"/>
          </a:xfrm>
          <a:prstGeom prst="rect">
            <a:avLst/>
          </a:prstGeom>
          <a:noFill/>
          <a:ln/>
        </p:spPr>
        <p:txBody>
          <a:bodyPr wrap="square" rtlCol="0" anchor="ctr"/>
          <a:lstStyle/>
          <a:p>
            <a:pPr algn="ctr" indent="0" marL="0">
              <a:buNone/>
            </a:pPr>
            <a:r>
              <a:rPr lang="en-US" sz="1100" dirty="0">
                <a:solidFill>
                  <a:srgbClr val="DCE6EC"/>
                </a:solidFill>
                <a:latin typeface="Calibri" pitchFamily="34" charset="0"/>
                <a:ea typeface="Calibri" pitchFamily="34" charset="-122"/>
                <a:cs typeface="Calibri" pitchFamily="34" charset="-120"/>
              </a:rPr>
              <a:t>Caddy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PROJECT OVERVIEW</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What Is CodeSach?</a:t>
            </a:r>
            <a:endParaRPr lang="en-US" sz="2800" dirty="0"/>
          </a:p>
        </p:txBody>
      </p:sp>
      <p:sp>
        <p:nvSpPr>
          <p:cNvPr id="4" name="Text 2"/>
          <p:cNvSpPr/>
          <p:nvPr/>
        </p:nvSpPr>
        <p:spPr>
          <a:xfrm>
            <a:off x="548640" y="1371600"/>
            <a:ext cx="6492240" cy="1417320"/>
          </a:xfrm>
          <a:prstGeom prst="rect">
            <a:avLst/>
          </a:prstGeom>
          <a:noFill/>
          <a:ln/>
        </p:spPr>
        <p:txBody>
          <a:bodyPr wrap="square" rtlCol="0" anchor="ctr"/>
          <a:lstStyle/>
          <a:p>
            <a:pPr indent="0" marL="0">
              <a:lnSpc>
                <a:spcPct val="122000"/>
              </a:lnSpc>
              <a:buNone/>
            </a:pPr>
            <a:r>
              <a:rPr lang="en-US" sz="1350" dirty="0">
                <a:solidFill>
                  <a:srgbClr val="5B6B7A"/>
                </a:solidFill>
                <a:latin typeface="Calibri" pitchFamily="34" charset="0"/>
                <a:ea typeface="Calibri" pitchFamily="34" charset="-122"/>
                <a:cs typeface="Calibri" pitchFamily="34" charset="-120"/>
              </a:rPr>
              <a:t>A full-stack coding platform where users write, compile, and execute programs in 60+ languages. Judge0 provides sandboxed remote execution, Google OAuth + JWT handle authentication, and the entire application is containerized with Docker and deployed to AWS through an automated GitHub Actions CI/CD pipeline.</a:t>
            </a:r>
            <a:endParaRPr lang="en-US" sz="1350" dirty="0"/>
          </a:p>
        </p:txBody>
      </p:sp>
      <p:sp>
        <p:nvSpPr>
          <p:cNvPr id="5" name="Text 3"/>
          <p:cNvSpPr/>
          <p:nvPr/>
        </p:nvSpPr>
        <p:spPr>
          <a:xfrm>
            <a:off x="548640" y="2926080"/>
            <a:ext cx="4572000" cy="274320"/>
          </a:xfrm>
          <a:prstGeom prst="rect">
            <a:avLst/>
          </a:prstGeom>
          <a:noFill/>
          <a:ln/>
        </p:spPr>
        <p:txBody>
          <a:bodyPr wrap="square" rtlCol="0" anchor="ctr"/>
          <a:lstStyle/>
          <a:p>
            <a:pPr indent="0" marL="0">
              <a:buNone/>
            </a:pPr>
            <a:r>
              <a:rPr lang="en-US" sz="1150" b="1" spc="150" kern="0" dirty="0">
                <a:solidFill>
                  <a:srgbClr val="065A82"/>
                </a:solidFill>
                <a:latin typeface="Calibri" pitchFamily="34" charset="0"/>
                <a:ea typeface="Calibri" pitchFamily="34" charset="-122"/>
                <a:cs typeface="Calibri" pitchFamily="34" charset="-120"/>
              </a:rPr>
              <a:t>CORE OBJECTIVES</a:t>
            </a:r>
            <a:endParaRPr lang="en-US" sz="1150" dirty="0"/>
          </a:p>
        </p:txBody>
      </p:sp>
      <p:sp>
        <p:nvSpPr>
          <p:cNvPr id="6" name="Shape 4"/>
          <p:cNvSpPr/>
          <p:nvPr/>
        </p:nvSpPr>
        <p:spPr>
          <a:xfrm>
            <a:off x="548640" y="3364992"/>
            <a:ext cx="146304" cy="146304"/>
          </a:xfrm>
          <a:prstGeom prst="ellipse">
            <a:avLst/>
          </a:prstGeom>
          <a:solidFill>
            <a:srgbClr val="FFB100"/>
          </a:solidFill>
          <a:ln/>
        </p:spPr>
      </p:sp>
      <p:sp>
        <p:nvSpPr>
          <p:cNvPr id="7" name="Text 5"/>
          <p:cNvSpPr/>
          <p:nvPr/>
        </p:nvSpPr>
        <p:spPr>
          <a:xfrm>
            <a:off x="841248" y="3255264"/>
            <a:ext cx="6108192" cy="365760"/>
          </a:xfrm>
          <a:prstGeom prst="rect">
            <a:avLst/>
          </a:prstGeom>
          <a:noFill/>
          <a:ln/>
        </p:spPr>
        <p:txBody>
          <a:bodyPr wrap="square" rtlCol="0" anchor="ctr"/>
          <a:lstStyle/>
          <a:p>
            <a:pPr indent="0" marL="0">
              <a:buNone/>
            </a:pPr>
            <a:r>
              <a:rPr lang="en-US" sz="1300" dirty="0">
                <a:solidFill>
                  <a:srgbClr val="16232E"/>
                </a:solidFill>
                <a:latin typeface="Calibri" pitchFamily="34" charset="0"/>
                <a:ea typeface="Calibri" pitchFamily="34" charset="-122"/>
                <a:cs typeface="Calibri" pitchFamily="34" charset="-120"/>
              </a:rPr>
              <a:t>Build a scalable, production-style coding platform</a:t>
            </a:r>
            <a:endParaRPr lang="en-US" sz="1300" dirty="0"/>
          </a:p>
        </p:txBody>
      </p:sp>
      <p:sp>
        <p:nvSpPr>
          <p:cNvPr id="8" name="Shape 6"/>
          <p:cNvSpPr/>
          <p:nvPr/>
        </p:nvSpPr>
        <p:spPr>
          <a:xfrm>
            <a:off x="548640" y="3877056"/>
            <a:ext cx="146304" cy="146304"/>
          </a:xfrm>
          <a:prstGeom prst="ellipse">
            <a:avLst/>
          </a:prstGeom>
          <a:solidFill>
            <a:srgbClr val="FFB100"/>
          </a:solidFill>
          <a:ln/>
        </p:spPr>
      </p:sp>
      <p:sp>
        <p:nvSpPr>
          <p:cNvPr id="9" name="Text 7"/>
          <p:cNvSpPr/>
          <p:nvPr/>
        </p:nvSpPr>
        <p:spPr>
          <a:xfrm>
            <a:off x="841248" y="3767328"/>
            <a:ext cx="6108192" cy="365760"/>
          </a:xfrm>
          <a:prstGeom prst="rect">
            <a:avLst/>
          </a:prstGeom>
          <a:noFill/>
          <a:ln/>
        </p:spPr>
        <p:txBody>
          <a:bodyPr wrap="square" rtlCol="0" anchor="ctr"/>
          <a:lstStyle/>
          <a:p>
            <a:pPr indent="0" marL="0">
              <a:buNone/>
            </a:pPr>
            <a:r>
              <a:rPr lang="en-US" sz="1300" dirty="0">
                <a:solidFill>
                  <a:srgbClr val="16232E"/>
                </a:solidFill>
                <a:latin typeface="Calibri" pitchFamily="34" charset="0"/>
                <a:ea typeface="Calibri" pitchFamily="34" charset="-122"/>
                <a:cs typeface="Calibri" pitchFamily="34" charset="-120"/>
              </a:rPr>
              <a:t>Apply data structures &amp; algorithms in a real system</a:t>
            </a:r>
            <a:endParaRPr lang="en-US" sz="1300" dirty="0"/>
          </a:p>
        </p:txBody>
      </p:sp>
      <p:sp>
        <p:nvSpPr>
          <p:cNvPr id="10" name="Shape 8"/>
          <p:cNvSpPr/>
          <p:nvPr/>
        </p:nvSpPr>
        <p:spPr>
          <a:xfrm>
            <a:off x="548640" y="4389120"/>
            <a:ext cx="146304" cy="146304"/>
          </a:xfrm>
          <a:prstGeom prst="ellipse">
            <a:avLst/>
          </a:prstGeom>
          <a:solidFill>
            <a:srgbClr val="FFB100"/>
          </a:solidFill>
          <a:ln/>
        </p:spPr>
      </p:sp>
      <p:sp>
        <p:nvSpPr>
          <p:cNvPr id="11" name="Text 9"/>
          <p:cNvSpPr/>
          <p:nvPr/>
        </p:nvSpPr>
        <p:spPr>
          <a:xfrm>
            <a:off x="841248" y="4279392"/>
            <a:ext cx="6108192" cy="365760"/>
          </a:xfrm>
          <a:prstGeom prst="rect">
            <a:avLst/>
          </a:prstGeom>
          <a:noFill/>
          <a:ln/>
        </p:spPr>
        <p:txBody>
          <a:bodyPr wrap="square" rtlCol="0" anchor="ctr"/>
          <a:lstStyle/>
          <a:p>
            <a:pPr indent="0" marL="0">
              <a:buNone/>
            </a:pPr>
            <a:r>
              <a:rPr lang="en-US" sz="1300" dirty="0">
                <a:solidFill>
                  <a:srgbClr val="16232E"/>
                </a:solidFill>
                <a:latin typeface="Calibri" pitchFamily="34" charset="0"/>
                <a:ea typeface="Calibri" pitchFamily="34" charset="-122"/>
                <a:cs typeface="Calibri" pitchFamily="34" charset="-120"/>
              </a:rPr>
              <a:t>Practice DevOps: containers, CI/CD, automation</a:t>
            </a:r>
            <a:endParaRPr lang="en-US" sz="1300" dirty="0"/>
          </a:p>
        </p:txBody>
      </p:sp>
      <p:sp>
        <p:nvSpPr>
          <p:cNvPr id="12" name="Shape 10"/>
          <p:cNvSpPr/>
          <p:nvPr/>
        </p:nvSpPr>
        <p:spPr>
          <a:xfrm>
            <a:off x="548640" y="4901184"/>
            <a:ext cx="146304" cy="146304"/>
          </a:xfrm>
          <a:prstGeom prst="ellipse">
            <a:avLst/>
          </a:prstGeom>
          <a:solidFill>
            <a:srgbClr val="FFB100"/>
          </a:solidFill>
          <a:ln/>
        </p:spPr>
      </p:sp>
      <p:sp>
        <p:nvSpPr>
          <p:cNvPr id="13" name="Text 11"/>
          <p:cNvSpPr/>
          <p:nvPr/>
        </p:nvSpPr>
        <p:spPr>
          <a:xfrm>
            <a:off x="841248" y="4791456"/>
            <a:ext cx="6108192" cy="365760"/>
          </a:xfrm>
          <a:prstGeom prst="rect">
            <a:avLst/>
          </a:prstGeom>
          <a:noFill/>
          <a:ln/>
        </p:spPr>
        <p:txBody>
          <a:bodyPr wrap="square" rtlCol="0" anchor="ctr"/>
          <a:lstStyle/>
          <a:p>
            <a:pPr indent="0" marL="0">
              <a:buNone/>
            </a:pPr>
            <a:r>
              <a:rPr lang="en-US" sz="1300" dirty="0">
                <a:solidFill>
                  <a:srgbClr val="16232E"/>
                </a:solidFill>
                <a:latin typeface="Calibri" pitchFamily="34" charset="0"/>
                <a:ea typeface="Calibri" pitchFamily="34" charset="-122"/>
                <a:cs typeface="Calibri" pitchFamily="34" charset="-120"/>
              </a:rPr>
              <a:t>Deploy and operate real cloud infrastructure</a:t>
            </a:r>
            <a:endParaRPr lang="en-US" sz="1300" dirty="0"/>
          </a:p>
        </p:txBody>
      </p:sp>
      <p:sp>
        <p:nvSpPr>
          <p:cNvPr id="14" name="Shape 12"/>
          <p:cNvSpPr/>
          <p:nvPr/>
        </p:nvSpPr>
        <p:spPr>
          <a:xfrm>
            <a:off x="548640" y="5413248"/>
            <a:ext cx="146304" cy="146304"/>
          </a:xfrm>
          <a:prstGeom prst="ellipse">
            <a:avLst/>
          </a:prstGeom>
          <a:solidFill>
            <a:srgbClr val="FFB100"/>
          </a:solidFill>
          <a:ln/>
        </p:spPr>
      </p:sp>
      <p:sp>
        <p:nvSpPr>
          <p:cNvPr id="15" name="Text 13"/>
          <p:cNvSpPr/>
          <p:nvPr/>
        </p:nvSpPr>
        <p:spPr>
          <a:xfrm>
            <a:off x="841248" y="5303520"/>
            <a:ext cx="6108192" cy="365760"/>
          </a:xfrm>
          <a:prstGeom prst="rect">
            <a:avLst/>
          </a:prstGeom>
          <a:noFill/>
          <a:ln/>
        </p:spPr>
        <p:txBody>
          <a:bodyPr wrap="square" rtlCol="0" anchor="ctr"/>
          <a:lstStyle/>
          <a:p>
            <a:pPr indent="0" marL="0">
              <a:buNone/>
            </a:pPr>
            <a:r>
              <a:rPr lang="en-US" sz="1300" dirty="0">
                <a:solidFill>
                  <a:srgbClr val="16232E"/>
                </a:solidFill>
                <a:latin typeface="Calibri" pitchFamily="34" charset="0"/>
                <a:ea typeface="Calibri" pitchFamily="34" charset="-122"/>
                <a:cs typeface="Calibri" pitchFamily="34" charset="-120"/>
              </a:rPr>
              <a:t>Implement secure, password-less authentication</a:t>
            </a:r>
            <a:endParaRPr lang="en-US" sz="1300" dirty="0"/>
          </a:p>
        </p:txBody>
      </p:sp>
      <p:sp>
        <p:nvSpPr>
          <p:cNvPr id="16" name="Shape 14"/>
          <p:cNvSpPr/>
          <p:nvPr/>
        </p:nvSpPr>
        <p:spPr>
          <a:xfrm>
            <a:off x="7360920" y="1371600"/>
            <a:ext cx="4251960" cy="1005840"/>
          </a:xfrm>
          <a:prstGeom prst="roundRect">
            <a:avLst>
              <a:gd name="adj" fmla="val 7273"/>
            </a:avLst>
          </a:prstGeom>
          <a:solidFill>
            <a:srgbClr val="F4F8FA"/>
          </a:solidFill>
          <a:ln w="12700">
            <a:solidFill>
              <a:srgbClr val="D9E3E8"/>
            </a:solidFill>
            <a:prstDash val="solid"/>
          </a:ln>
        </p:spPr>
      </p:sp>
      <p:sp>
        <p:nvSpPr>
          <p:cNvPr id="17" name="Shape 15"/>
          <p:cNvSpPr/>
          <p:nvPr/>
        </p:nvSpPr>
        <p:spPr>
          <a:xfrm>
            <a:off x="7360920" y="1371600"/>
            <a:ext cx="82296" cy="1005840"/>
          </a:xfrm>
          <a:prstGeom prst="rect">
            <a:avLst/>
          </a:prstGeom>
          <a:solidFill>
            <a:srgbClr val="065A82"/>
          </a:solidFill>
          <a:ln/>
        </p:spPr>
      </p:sp>
      <p:sp>
        <p:nvSpPr>
          <p:cNvPr id="18" name="Text 16"/>
          <p:cNvSpPr/>
          <p:nvPr/>
        </p:nvSpPr>
        <p:spPr>
          <a:xfrm>
            <a:off x="7635240" y="1481328"/>
            <a:ext cx="3840480" cy="365760"/>
          </a:xfrm>
          <a:prstGeom prst="rect">
            <a:avLst/>
          </a:prstGeom>
          <a:noFill/>
          <a:ln/>
        </p:spPr>
        <p:txBody>
          <a:bodyPr wrap="square" rtlCol="0" anchor="ctr"/>
          <a:lstStyle/>
          <a:p>
            <a:pPr indent="0" marL="0">
              <a:buNone/>
            </a:pPr>
            <a:r>
              <a:rPr lang="en-US" sz="1400" b="1" dirty="0">
                <a:solidFill>
                  <a:srgbClr val="16232E"/>
                </a:solidFill>
                <a:latin typeface="Arial" pitchFamily="34" charset="0"/>
                <a:ea typeface="Arial" pitchFamily="34" charset="-122"/>
                <a:cs typeface="Arial" pitchFamily="34" charset="-120"/>
              </a:rPr>
              <a:t>Web Development</a:t>
            </a:r>
            <a:endParaRPr lang="en-US" sz="1400" dirty="0"/>
          </a:p>
        </p:txBody>
      </p:sp>
      <p:sp>
        <p:nvSpPr>
          <p:cNvPr id="19" name="Text 17"/>
          <p:cNvSpPr/>
          <p:nvPr/>
        </p:nvSpPr>
        <p:spPr>
          <a:xfrm>
            <a:off x="7635240" y="1883664"/>
            <a:ext cx="3840480" cy="384048"/>
          </a:xfrm>
          <a:prstGeom prst="rect">
            <a:avLst/>
          </a:prstGeom>
          <a:noFill/>
          <a:ln/>
        </p:spPr>
        <p:txBody>
          <a:bodyPr wrap="square" rtlCol="0" anchor="ctr"/>
          <a:lstStyle/>
          <a:p>
            <a:pPr indent="0" marL="0">
              <a:buNone/>
            </a:pPr>
            <a:r>
              <a:rPr lang="en-US" sz="1100" dirty="0">
                <a:solidFill>
                  <a:srgbClr val="5B6B7A"/>
                </a:solidFill>
                <a:latin typeface="Calibri" pitchFamily="34" charset="0"/>
                <a:ea typeface="Calibri" pitchFamily="34" charset="-122"/>
                <a:cs typeface="Calibri" pitchFamily="34" charset="-120"/>
              </a:rPr>
              <a:t>React, Node, Express, MongoDB</a:t>
            </a:r>
            <a:endParaRPr lang="en-US" sz="1100" dirty="0"/>
          </a:p>
        </p:txBody>
      </p:sp>
      <p:sp>
        <p:nvSpPr>
          <p:cNvPr id="20" name="Shape 18"/>
          <p:cNvSpPr/>
          <p:nvPr/>
        </p:nvSpPr>
        <p:spPr>
          <a:xfrm>
            <a:off x="7360920" y="2514600"/>
            <a:ext cx="4251960" cy="1005840"/>
          </a:xfrm>
          <a:prstGeom prst="roundRect">
            <a:avLst>
              <a:gd name="adj" fmla="val 7273"/>
            </a:avLst>
          </a:prstGeom>
          <a:solidFill>
            <a:srgbClr val="F4F8FA"/>
          </a:solidFill>
          <a:ln w="12700">
            <a:solidFill>
              <a:srgbClr val="D9E3E8"/>
            </a:solidFill>
            <a:prstDash val="solid"/>
          </a:ln>
        </p:spPr>
      </p:sp>
      <p:sp>
        <p:nvSpPr>
          <p:cNvPr id="21" name="Shape 19"/>
          <p:cNvSpPr/>
          <p:nvPr/>
        </p:nvSpPr>
        <p:spPr>
          <a:xfrm>
            <a:off x="7360920" y="2514600"/>
            <a:ext cx="82296" cy="1005840"/>
          </a:xfrm>
          <a:prstGeom prst="rect">
            <a:avLst/>
          </a:prstGeom>
          <a:solidFill>
            <a:srgbClr val="1C7293"/>
          </a:solidFill>
          <a:ln/>
        </p:spPr>
      </p:sp>
      <p:sp>
        <p:nvSpPr>
          <p:cNvPr id="22" name="Text 20"/>
          <p:cNvSpPr/>
          <p:nvPr/>
        </p:nvSpPr>
        <p:spPr>
          <a:xfrm>
            <a:off x="7635240" y="2624328"/>
            <a:ext cx="3840480" cy="365760"/>
          </a:xfrm>
          <a:prstGeom prst="rect">
            <a:avLst/>
          </a:prstGeom>
          <a:noFill/>
          <a:ln/>
        </p:spPr>
        <p:txBody>
          <a:bodyPr wrap="square" rtlCol="0" anchor="ctr"/>
          <a:lstStyle/>
          <a:p>
            <a:pPr indent="0" marL="0">
              <a:buNone/>
            </a:pPr>
            <a:r>
              <a:rPr lang="en-US" sz="1400" b="1" dirty="0">
                <a:solidFill>
                  <a:srgbClr val="16232E"/>
                </a:solidFill>
                <a:latin typeface="Arial" pitchFamily="34" charset="0"/>
                <a:ea typeface="Arial" pitchFamily="34" charset="-122"/>
                <a:cs typeface="Arial" pitchFamily="34" charset="-120"/>
              </a:rPr>
              <a:t>Data Structures &amp; Algorithms</a:t>
            </a:r>
            <a:endParaRPr lang="en-US" sz="1400" dirty="0"/>
          </a:p>
        </p:txBody>
      </p:sp>
      <p:sp>
        <p:nvSpPr>
          <p:cNvPr id="23" name="Text 21"/>
          <p:cNvSpPr/>
          <p:nvPr/>
        </p:nvSpPr>
        <p:spPr>
          <a:xfrm>
            <a:off x="7635240" y="3026664"/>
            <a:ext cx="3840480" cy="384048"/>
          </a:xfrm>
          <a:prstGeom prst="rect">
            <a:avLst/>
          </a:prstGeom>
          <a:noFill/>
          <a:ln/>
        </p:spPr>
        <p:txBody>
          <a:bodyPr wrap="square" rtlCol="0" anchor="ctr"/>
          <a:lstStyle/>
          <a:p>
            <a:pPr indent="0" marL="0">
              <a:buNone/>
            </a:pPr>
            <a:r>
              <a:rPr lang="en-US" sz="1100" dirty="0">
                <a:solidFill>
                  <a:srgbClr val="5B6B7A"/>
                </a:solidFill>
                <a:latin typeface="Calibri" pitchFamily="34" charset="0"/>
                <a:ea typeface="Calibri" pitchFamily="34" charset="-122"/>
                <a:cs typeface="Calibri" pitchFamily="34" charset="-120"/>
              </a:rPr>
              <a:t>Hash maps, queues, graphs, trees</a:t>
            </a:r>
            <a:endParaRPr lang="en-US" sz="1100" dirty="0"/>
          </a:p>
        </p:txBody>
      </p:sp>
      <p:sp>
        <p:nvSpPr>
          <p:cNvPr id="24" name="Shape 22"/>
          <p:cNvSpPr/>
          <p:nvPr/>
        </p:nvSpPr>
        <p:spPr>
          <a:xfrm>
            <a:off x="7360920" y="3657600"/>
            <a:ext cx="4251960" cy="1005840"/>
          </a:xfrm>
          <a:prstGeom prst="roundRect">
            <a:avLst>
              <a:gd name="adj" fmla="val 7273"/>
            </a:avLst>
          </a:prstGeom>
          <a:solidFill>
            <a:srgbClr val="F4F8FA"/>
          </a:solidFill>
          <a:ln w="12700">
            <a:solidFill>
              <a:srgbClr val="D9E3E8"/>
            </a:solidFill>
            <a:prstDash val="solid"/>
          </a:ln>
        </p:spPr>
      </p:sp>
      <p:sp>
        <p:nvSpPr>
          <p:cNvPr id="25" name="Shape 23"/>
          <p:cNvSpPr/>
          <p:nvPr/>
        </p:nvSpPr>
        <p:spPr>
          <a:xfrm>
            <a:off x="7360920" y="3657600"/>
            <a:ext cx="82296" cy="1005840"/>
          </a:xfrm>
          <a:prstGeom prst="rect">
            <a:avLst/>
          </a:prstGeom>
          <a:solidFill>
            <a:srgbClr val="17203A"/>
          </a:solidFill>
          <a:ln/>
        </p:spPr>
      </p:sp>
      <p:sp>
        <p:nvSpPr>
          <p:cNvPr id="26" name="Text 24"/>
          <p:cNvSpPr/>
          <p:nvPr/>
        </p:nvSpPr>
        <p:spPr>
          <a:xfrm>
            <a:off x="7635240" y="3767328"/>
            <a:ext cx="3840480" cy="365760"/>
          </a:xfrm>
          <a:prstGeom prst="rect">
            <a:avLst/>
          </a:prstGeom>
          <a:noFill/>
          <a:ln/>
        </p:spPr>
        <p:txBody>
          <a:bodyPr wrap="square" rtlCol="0" anchor="ctr"/>
          <a:lstStyle/>
          <a:p>
            <a:pPr indent="0" marL="0">
              <a:buNone/>
            </a:pPr>
            <a:r>
              <a:rPr lang="en-US" sz="1400" b="1" dirty="0">
                <a:solidFill>
                  <a:srgbClr val="16232E"/>
                </a:solidFill>
                <a:latin typeface="Arial" pitchFamily="34" charset="0"/>
                <a:ea typeface="Arial" pitchFamily="34" charset="-122"/>
                <a:cs typeface="Arial" pitchFamily="34" charset="-120"/>
              </a:rPr>
              <a:t>DevOps</a:t>
            </a:r>
            <a:endParaRPr lang="en-US" sz="1400" dirty="0"/>
          </a:p>
        </p:txBody>
      </p:sp>
      <p:sp>
        <p:nvSpPr>
          <p:cNvPr id="27" name="Text 25"/>
          <p:cNvSpPr/>
          <p:nvPr/>
        </p:nvSpPr>
        <p:spPr>
          <a:xfrm>
            <a:off x="7635240" y="4169664"/>
            <a:ext cx="3840480" cy="384048"/>
          </a:xfrm>
          <a:prstGeom prst="rect">
            <a:avLst/>
          </a:prstGeom>
          <a:noFill/>
          <a:ln/>
        </p:spPr>
        <p:txBody>
          <a:bodyPr wrap="square" rtlCol="0" anchor="ctr"/>
          <a:lstStyle/>
          <a:p>
            <a:pPr indent="0" marL="0">
              <a:buNone/>
            </a:pPr>
            <a:r>
              <a:rPr lang="en-US" sz="1100" dirty="0">
                <a:solidFill>
                  <a:srgbClr val="5B6B7A"/>
                </a:solidFill>
                <a:latin typeface="Calibri" pitchFamily="34" charset="0"/>
                <a:ea typeface="Calibri" pitchFamily="34" charset="-122"/>
                <a:cs typeface="Calibri" pitchFamily="34" charset="-120"/>
              </a:rPr>
              <a:t>Docker, Compose, GitHub Actions</a:t>
            </a:r>
            <a:endParaRPr lang="en-US" sz="1100" dirty="0"/>
          </a:p>
        </p:txBody>
      </p:sp>
      <p:sp>
        <p:nvSpPr>
          <p:cNvPr id="28" name="Shape 26"/>
          <p:cNvSpPr/>
          <p:nvPr/>
        </p:nvSpPr>
        <p:spPr>
          <a:xfrm>
            <a:off x="7360920" y="4800600"/>
            <a:ext cx="4251960" cy="1005840"/>
          </a:xfrm>
          <a:prstGeom prst="roundRect">
            <a:avLst>
              <a:gd name="adj" fmla="val 7273"/>
            </a:avLst>
          </a:prstGeom>
          <a:solidFill>
            <a:srgbClr val="F4F8FA"/>
          </a:solidFill>
          <a:ln w="12700">
            <a:solidFill>
              <a:srgbClr val="D9E3E8"/>
            </a:solidFill>
            <a:prstDash val="solid"/>
          </a:ln>
        </p:spPr>
      </p:sp>
      <p:sp>
        <p:nvSpPr>
          <p:cNvPr id="29" name="Shape 27"/>
          <p:cNvSpPr/>
          <p:nvPr/>
        </p:nvSpPr>
        <p:spPr>
          <a:xfrm>
            <a:off x="7360920" y="4800600"/>
            <a:ext cx="82296" cy="1005840"/>
          </a:xfrm>
          <a:prstGeom prst="rect">
            <a:avLst/>
          </a:prstGeom>
          <a:solidFill>
            <a:srgbClr val="FFB100"/>
          </a:solidFill>
          <a:ln/>
        </p:spPr>
      </p:sp>
      <p:sp>
        <p:nvSpPr>
          <p:cNvPr id="30" name="Text 28"/>
          <p:cNvSpPr/>
          <p:nvPr/>
        </p:nvSpPr>
        <p:spPr>
          <a:xfrm>
            <a:off x="7635240" y="4910328"/>
            <a:ext cx="3840480" cy="365760"/>
          </a:xfrm>
          <a:prstGeom prst="rect">
            <a:avLst/>
          </a:prstGeom>
          <a:noFill/>
          <a:ln/>
        </p:spPr>
        <p:txBody>
          <a:bodyPr wrap="square" rtlCol="0" anchor="ctr"/>
          <a:lstStyle/>
          <a:p>
            <a:pPr indent="0" marL="0">
              <a:buNone/>
            </a:pPr>
            <a:r>
              <a:rPr lang="en-US" sz="1400" b="1" dirty="0">
                <a:solidFill>
                  <a:srgbClr val="16232E"/>
                </a:solidFill>
                <a:latin typeface="Arial" pitchFamily="34" charset="0"/>
                <a:ea typeface="Arial" pitchFamily="34" charset="-122"/>
                <a:cs typeface="Arial" pitchFamily="34" charset="-120"/>
              </a:rPr>
              <a:t>Cloud</a:t>
            </a:r>
            <a:endParaRPr lang="en-US" sz="1400" dirty="0"/>
          </a:p>
        </p:txBody>
      </p:sp>
      <p:sp>
        <p:nvSpPr>
          <p:cNvPr id="31" name="Text 29"/>
          <p:cNvSpPr/>
          <p:nvPr/>
        </p:nvSpPr>
        <p:spPr>
          <a:xfrm>
            <a:off x="7635240" y="5312664"/>
            <a:ext cx="3840480" cy="384048"/>
          </a:xfrm>
          <a:prstGeom prst="rect">
            <a:avLst/>
          </a:prstGeom>
          <a:noFill/>
          <a:ln/>
        </p:spPr>
        <p:txBody>
          <a:bodyPr wrap="square" rtlCol="0" anchor="ctr"/>
          <a:lstStyle/>
          <a:p>
            <a:pPr indent="0" marL="0">
              <a:buNone/>
            </a:pPr>
            <a:r>
              <a:rPr lang="en-US" sz="1100" dirty="0">
                <a:solidFill>
                  <a:srgbClr val="5B6B7A"/>
                </a:solidFill>
                <a:latin typeface="Calibri" pitchFamily="34" charset="0"/>
                <a:ea typeface="Calibri" pitchFamily="34" charset="-122"/>
                <a:cs typeface="Calibri" pitchFamily="34" charset="-120"/>
              </a:rPr>
              <a:t>AWS EC2, Kubernetes, DuckDNS</a:t>
            </a:r>
            <a:endParaRPr lang="en-US" sz="1100" dirty="0"/>
          </a:p>
        </p:txBody>
      </p:sp>
      <p:sp>
        <p:nvSpPr>
          <p:cNvPr id="32" name="Text 3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SYSTEM DESIGN</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End-to-End Architecture</a:t>
            </a:r>
            <a:endParaRPr lang="en-US" sz="2800" dirty="0"/>
          </a:p>
        </p:txBody>
      </p:sp>
      <p:sp>
        <p:nvSpPr>
          <p:cNvPr id="4" name="Shape 2"/>
          <p:cNvSpPr/>
          <p:nvPr/>
        </p:nvSpPr>
        <p:spPr>
          <a:xfrm>
            <a:off x="640080" y="1463040"/>
            <a:ext cx="2514600" cy="841248"/>
          </a:xfrm>
          <a:prstGeom prst="roundRect">
            <a:avLst>
              <a:gd name="adj" fmla="val 7609"/>
            </a:avLst>
          </a:prstGeom>
          <a:solidFill>
            <a:srgbClr val="FFFFFF"/>
          </a:solidFill>
          <a:ln w="19050">
            <a:solidFill>
              <a:srgbClr val="065A82"/>
            </a:solidFill>
            <a:prstDash val="solid"/>
          </a:ln>
        </p:spPr>
      </p:sp>
      <p:sp>
        <p:nvSpPr>
          <p:cNvPr id="5" name="Shape 3"/>
          <p:cNvSpPr/>
          <p:nvPr/>
        </p:nvSpPr>
        <p:spPr>
          <a:xfrm>
            <a:off x="640080" y="1463040"/>
            <a:ext cx="64008" cy="841248"/>
          </a:xfrm>
          <a:prstGeom prst="rect">
            <a:avLst/>
          </a:prstGeom>
          <a:solidFill>
            <a:srgbClr val="065A82"/>
          </a:solidFill>
          <a:ln/>
        </p:spPr>
      </p:sp>
      <p:sp>
        <p:nvSpPr>
          <p:cNvPr id="6" name="Shape 4"/>
          <p:cNvSpPr/>
          <p:nvPr/>
        </p:nvSpPr>
        <p:spPr>
          <a:xfrm>
            <a:off x="2862072" y="1362456"/>
            <a:ext cx="292608" cy="292608"/>
          </a:xfrm>
          <a:prstGeom prst="ellipse">
            <a:avLst/>
          </a:prstGeom>
          <a:solidFill>
            <a:srgbClr val="065A82"/>
          </a:solidFill>
          <a:ln/>
        </p:spPr>
      </p:sp>
      <p:sp>
        <p:nvSpPr>
          <p:cNvPr id="7" name="Text 5"/>
          <p:cNvSpPr/>
          <p:nvPr/>
        </p:nvSpPr>
        <p:spPr>
          <a:xfrm>
            <a:off x="2862072" y="1362456"/>
            <a:ext cx="292608"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1</a:t>
            </a:r>
            <a:endParaRPr lang="en-US" sz="1050" dirty="0"/>
          </a:p>
        </p:txBody>
      </p:sp>
      <p:sp>
        <p:nvSpPr>
          <p:cNvPr id="8" name="Text 6"/>
          <p:cNvSpPr/>
          <p:nvPr/>
        </p:nvSpPr>
        <p:spPr>
          <a:xfrm>
            <a:off x="777240" y="1463040"/>
            <a:ext cx="2286000" cy="841248"/>
          </a:xfrm>
          <a:prstGeom prst="rect">
            <a:avLst/>
          </a:prstGeom>
          <a:noFill/>
          <a:ln/>
        </p:spPr>
        <p:txBody>
          <a:bodyPr wrap="square" rtlCol="0" anchor="ctr"/>
          <a:lstStyle/>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User</a:t>
            </a:r>
            <a:endParaRPr lang="en-US" sz="1200" dirty="0"/>
          </a:p>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(Browser)</a:t>
            </a:r>
            <a:endParaRPr lang="en-US" sz="1200" dirty="0"/>
          </a:p>
        </p:txBody>
      </p:sp>
      <p:sp>
        <p:nvSpPr>
          <p:cNvPr id="9" name="Text 7"/>
          <p:cNvSpPr/>
          <p:nvPr/>
        </p:nvSpPr>
        <p:spPr>
          <a:xfrm>
            <a:off x="3154680" y="1463040"/>
            <a:ext cx="256032" cy="841248"/>
          </a:xfrm>
          <a:prstGeom prst="rect">
            <a:avLst/>
          </a:prstGeom>
          <a:noFill/>
          <a:ln/>
        </p:spPr>
        <p:txBody>
          <a:bodyPr wrap="square" rtlCol="0" anchor="ctr"/>
          <a:lstStyle/>
          <a:p>
            <a:pPr algn="ctr" indent="0" marL="0">
              <a:buNone/>
            </a:pPr>
            <a:r>
              <a:rPr lang="en-US" sz="1700" dirty="0">
                <a:solidFill>
                  <a:srgbClr val="5B6B7A"/>
                </a:solidFill>
                <a:latin typeface="Arial" pitchFamily="34" charset="0"/>
                <a:ea typeface="Arial" pitchFamily="34" charset="-122"/>
                <a:cs typeface="Arial" pitchFamily="34" charset="-120"/>
              </a:rPr>
              <a:t>→</a:t>
            </a:r>
            <a:endParaRPr lang="en-US" sz="1700" dirty="0"/>
          </a:p>
        </p:txBody>
      </p:sp>
      <p:sp>
        <p:nvSpPr>
          <p:cNvPr id="10" name="Shape 8"/>
          <p:cNvSpPr/>
          <p:nvPr/>
        </p:nvSpPr>
        <p:spPr>
          <a:xfrm>
            <a:off x="3410712" y="1463040"/>
            <a:ext cx="2514600" cy="841248"/>
          </a:xfrm>
          <a:prstGeom prst="roundRect">
            <a:avLst>
              <a:gd name="adj" fmla="val 7609"/>
            </a:avLst>
          </a:prstGeom>
          <a:solidFill>
            <a:srgbClr val="FFFFFF"/>
          </a:solidFill>
          <a:ln w="19050">
            <a:solidFill>
              <a:srgbClr val="1C7293"/>
            </a:solidFill>
            <a:prstDash val="solid"/>
          </a:ln>
        </p:spPr>
      </p:sp>
      <p:sp>
        <p:nvSpPr>
          <p:cNvPr id="11" name="Shape 9"/>
          <p:cNvSpPr/>
          <p:nvPr/>
        </p:nvSpPr>
        <p:spPr>
          <a:xfrm>
            <a:off x="3410712" y="1463040"/>
            <a:ext cx="64008" cy="841248"/>
          </a:xfrm>
          <a:prstGeom prst="rect">
            <a:avLst/>
          </a:prstGeom>
          <a:solidFill>
            <a:srgbClr val="1C7293"/>
          </a:solidFill>
          <a:ln/>
        </p:spPr>
      </p:sp>
      <p:sp>
        <p:nvSpPr>
          <p:cNvPr id="12" name="Shape 10"/>
          <p:cNvSpPr/>
          <p:nvPr/>
        </p:nvSpPr>
        <p:spPr>
          <a:xfrm>
            <a:off x="5632704" y="1362456"/>
            <a:ext cx="292608" cy="292608"/>
          </a:xfrm>
          <a:prstGeom prst="ellipse">
            <a:avLst/>
          </a:prstGeom>
          <a:solidFill>
            <a:srgbClr val="1C7293"/>
          </a:solidFill>
          <a:ln/>
        </p:spPr>
      </p:sp>
      <p:sp>
        <p:nvSpPr>
          <p:cNvPr id="13" name="Text 11"/>
          <p:cNvSpPr/>
          <p:nvPr/>
        </p:nvSpPr>
        <p:spPr>
          <a:xfrm>
            <a:off x="5632704" y="1362456"/>
            <a:ext cx="292608"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2</a:t>
            </a:r>
            <a:endParaRPr lang="en-US" sz="1050" dirty="0"/>
          </a:p>
        </p:txBody>
      </p:sp>
      <p:sp>
        <p:nvSpPr>
          <p:cNvPr id="14" name="Text 12"/>
          <p:cNvSpPr/>
          <p:nvPr/>
        </p:nvSpPr>
        <p:spPr>
          <a:xfrm>
            <a:off x="3547872" y="1463040"/>
            <a:ext cx="2286000" cy="841248"/>
          </a:xfrm>
          <a:prstGeom prst="rect">
            <a:avLst/>
          </a:prstGeom>
          <a:noFill/>
          <a:ln/>
        </p:spPr>
        <p:txBody>
          <a:bodyPr wrap="square" rtlCol="0" anchor="ctr"/>
          <a:lstStyle/>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React</a:t>
            </a:r>
            <a:endParaRPr lang="en-US" sz="1200" dirty="0"/>
          </a:p>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Frontend</a:t>
            </a:r>
            <a:endParaRPr lang="en-US" sz="1200" dirty="0"/>
          </a:p>
        </p:txBody>
      </p:sp>
      <p:sp>
        <p:nvSpPr>
          <p:cNvPr id="15" name="Text 13"/>
          <p:cNvSpPr/>
          <p:nvPr/>
        </p:nvSpPr>
        <p:spPr>
          <a:xfrm>
            <a:off x="5925312" y="1463040"/>
            <a:ext cx="256032" cy="841248"/>
          </a:xfrm>
          <a:prstGeom prst="rect">
            <a:avLst/>
          </a:prstGeom>
          <a:noFill/>
          <a:ln/>
        </p:spPr>
        <p:txBody>
          <a:bodyPr wrap="square" rtlCol="0" anchor="ctr"/>
          <a:lstStyle/>
          <a:p>
            <a:pPr algn="ctr" indent="0" marL="0">
              <a:buNone/>
            </a:pPr>
            <a:r>
              <a:rPr lang="en-US" sz="1700" dirty="0">
                <a:solidFill>
                  <a:srgbClr val="5B6B7A"/>
                </a:solidFill>
                <a:latin typeface="Arial" pitchFamily="34" charset="0"/>
                <a:ea typeface="Arial" pitchFamily="34" charset="-122"/>
                <a:cs typeface="Arial" pitchFamily="34" charset="-120"/>
              </a:rPr>
              <a:t>→</a:t>
            </a:r>
            <a:endParaRPr lang="en-US" sz="1700" dirty="0"/>
          </a:p>
        </p:txBody>
      </p:sp>
      <p:sp>
        <p:nvSpPr>
          <p:cNvPr id="16" name="Shape 14"/>
          <p:cNvSpPr/>
          <p:nvPr/>
        </p:nvSpPr>
        <p:spPr>
          <a:xfrm>
            <a:off x="6181344" y="1463040"/>
            <a:ext cx="2514600" cy="841248"/>
          </a:xfrm>
          <a:prstGeom prst="roundRect">
            <a:avLst>
              <a:gd name="adj" fmla="val 7609"/>
            </a:avLst>
          </a:prstGeom>
          <a:solidFill>
            <a:srgbClr val="FFFFFF"/>
          </a:solidFill>
          <a:ln w="19050">
            <a:solidFill>
              <a:srgbClr val="17203A"/>
            </a:solidFill>
            <a:prstDash val="solid"/>
          </a:ln>
        </p:spPr>
      </p:sp>
      <p:sp>
        <p:nvSpPr>
          <p:cNvPr id="17" name="Shape 15"/>
          <p:cNvSpPr/>
          <p:nvPr/>
        </p:nvSpPr>
        <p:spPr>
          <a:xfrm>
            <a:off x="6181344" y="1463040"/>
            <a:ext cx="64008" cy="841248"/>
          </a:xfrm>
          <a:prstGeom prst="rect">
            <a:avLst/>
          </a:prstGeom>
          <a:solidFill>
            <a:srgbClr val="17203A"/>
          </a:solidFill>
          <a:ln/>
        </p:spPr>
      </p:sp>
      <p:sp>
        <p:nvSpPr>
          <p:cNvPr id="18" name="Shape 16"/>
          <p:cNvSpPr/>
          <p:nvPr/>
        </p:nvSpPr>
        <p:spPr>
          <a:xfrm>
            <a:off x="8403336" y="1362456"/>
            <a:ext cx="292608" cy="292608"/>
          </a:xfrm>
          <a:prstGeom prst="ellipse">
            <a:avLst/>
          </a:prstGeom>
          <a:solidFill>
            <a:srgbClr val="17203A"/>
          </a:solidFill>
          <a:ln/>
        </p:spPr>
      </p:sp>
      <p:sp>
        <p:nvSpPr>
          <p:cNvPr id="19" name="Text 17"/>
          <p:cNvSpPr/>
          <p:nvPr/>
        </p:nvSpPr>
        <p:spPr>
          <a:xfrm>
            <a:off x="8403336" y="1362456"/>
            <a:ext cx="292608"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3</a:t>
            </a:r>
            <a:endParaRPr lang="en-US" sz="1050" dirty="0"/>
          </a:p>
        </p:txBody>
      </p:sp>
      <p:sp>
        <p:nvSpPr>
          <p:cNvPr id="20" name="Text 18"/>
          <p:cNvSpPr/>
          <p:nvPr/>
        </p:nvSpPr>
        <p:spPr>
          <a:xfrm>
            <a:off x="6318504" y="1463040"/>
            <a:ext cx="2286000" cy="841248"/>
          </a:xfrm>
          <a:prstGeom prst="rect">
            <a:avLst/>
          </a:prstGeom>
          <a:noFill/>
          <a:ln/>
        </p:spPr>
        <p:txBody>
          <a:bodyPr wrap="square" rtlCol="0" anchor="ctr"/>
          <a:lstStyle/>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Express</a:t>
            </a:r>
            <a:endParaRPr lang="en-US" sz="1200" dirty="0"/>
          </a:p>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Backend API</a:t>
            </a:r>
            <a:endParaRPr lang="en-US" sz="1200" dirty="0"/>
          </a:p>
        </p:txBody>
      </p:sp>
      <p:sp>
        <p:nvSpPr>
          <p:cNvPr id="21" name="Text 19"/>
          <p:cNvSpPr/>
          <p:nvPr/>
        </p:nvSpPr>
        <p:spPr>
          <a:xfrm>
            <a:off x="8695944" y="1463040"/>
            <a:ext cx="256032" cy="841248"/>
          </a:xfrm>
          <a:prstGeom prst="rect">
            <a:avLst/>
          </a:prstGeom>
          <a:noFill/>
          <a:ln/>
        </p:spPr>
        <p:txBody>
          <a:bodyPr wrap="square" rtlCol="0" anchor="ctr"/>
          <a:lstStyle/>
          <a:p>
            <a:pPr algn="ctr" indent="0" marL="0">
              <a:buNone/>
            </a:pPr>
            <a:r>
              <a:rPr lang="en-US" sz="1700" dirty="0">
                <a:solidFill>
                  <a:srgbClr val="5B6B7A"/>
                </a:solidFill>
                <a:latin typeface="Arial" pitchFamily="34" charset="0"/>
                <a:ea typeface="Arial" pitchFamily="34" charset="-122"/>
                <a:cs typeface="Arial" pitchFamily="34" charset="-120"/>
              </a:rPr>
              <a:t>→</a:t>
            </a:r>
            <a:endParaRPr lang="en-US" sz="1700" dirty="0"/>
          </a:p>
        </p:txBody>
      </p:sp>
      <p:sp>
        <p:nvSpPr>
          <p:cNvPr id="22" name="Shape 20"/>
          <p:cNvSpPr/>
          <p:nvPr/>
        </p:nvSpPr>
        <p:spPr>
          <a:xfrm>
            <a:off x="8951976" y="1463040"/>
            <a:ext cx="2514600" cy="841248"/>
          </a:xfrm>
          <a:prstGeom prst="roundRect">
            <a:avLst>
              <a:gd name="adj" fmla="val 7609"/>
            </a:avLst>
          </a:prstGeom>
          <a:solidFill>
            <a:srgbClr val="FFFFFF"/>
          </a:solidFill>
          <a:ln w="19050">
            <a:solidFill>
              <a:srgbClr val="FFB100"/>
            </a:solidFill>
            <a:prstDash val="solid"/>
          </a:ln>
        </p:spPr>
      </p:sp>
      <p:sp>
        <p:nvSpPr>
          <p:cNvPr id="23" name="Shape 21"/>
          <p:cNvSpPr/>
          <p:nvPr/>
        </p:nvSpPr>
        <p:spPr>
          <a:xfrm>
            <a:off x="8951976" y="1463040"/>
            <a:ext cx="64008" cy="841248"/>
          </a:xfrm>
          <a:prstGeom prst="rect">
            <a:avLst/>
          </a:prstGeom>
          <a:solidFill>
            <a:srgbClr val="FFB100"/>
          </a:solidFill>
          <a:ln/>
        </p:spPr>
      </p:sp>
      <p:sp>
        <p:nvSpPr>
          <p:cNvPr id="24" name="Shape 22"/>
          <p:cNvSpPr/>
          <p:nvPr/>
        </p:nvSpPr>
        <p:spPr>
          <a:xfrm>
            <a:off x="11173968" y="1362456"/>
            <a:ext cx="292608" cy="292608"/>
          </a:xfrm>
          <a:prstGeom prst="ellipse">
            <a:avLst/>
          </a:prstGeom>
          <a:solidFill>
            <a:srgbClr val="FFB100"/>
          </a:solidFill>
          <a:ln/>
        </p:spPr>
      </p:sp>
      <p:sp>
        <p:nvSpPr>
          <p:cNvPr id="25" name="Text 23"/>
          <p:cNvSpPr/>
          <p:nvPr/>
        </p:nvSpPr>
        <p:spPr>
          <a:xfrm>
            <a:off x="11173968" y="1362456"/>
            <a:ext cx="292608"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4</a:t>
            </a:r>
            <a:endParaRPr lang="en-US" sz="1050" dirty="0"/>
          </a:p>
        </p:txBody>
      </p:sp>
      <p:sp>
        <p:nvSpPr>
          <p:cNvPr id="26" name="Text 24"/>
          <p:cNvSpPr/>
          <p:nvPr/>
        </p:nvSpPr>
        <p:spPr>
          <a:xfrm>
            <a:off x="9089136" y="1463040"/>
            <a:ext cx="2286000" cy="841248"/>
          </a:xfrm>
          <a:prstGeom prst="rect">
            <a:avLst/>
          </a:prstGeom>
          <a:noFill/>
          <a:ln/>
        </p:spPr>
        <p:txBody>
          <a:bodyPr wrap="square" rtlCol="0" anchor="ctr"/>
          <a:lstStyle/>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Auth</a:t>
            </a:r>
            <a:endParaRPr lang="en-US" sz="1200" dirty="0"/>
          </a:p>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(OAuth+JWT)</a:t>
            </a:r>
            <a:endParaRPr lang="en-US" sz="1200" dirty="0"/>
          </a:p>
        </p:txBody>
      </p:sp>
      <p:sp>
        <p:nvSpPr>
          <p:cNvPr id="27" name="Shape 25"/>
          <p:cNvSpPr/>
          <p:nvPr/>
        </p:nvSpPr>
        <p:spPr>
          <a:xfrm>
            <a:off x="640080" y="2578608"/>
            <a:ext cx="2514600" cy="841248"/>
          </a:xfrm>
          <a:prstGeom prst="roundRect">
            <a:avLst>
              <a:gd name="adj" fmla="val 7609"/>
            </a:avLst>
          </a:prstGeom>
          <a:solidFill>
            <a:srgbClr val="FFFFFF"/>
          </a:solidFill>
          <a:ln w="19050">
            <a:solidFill>
              <a:srgbClr val="065A82"/>
            </a:solidFill>
            <a:prstDash val="solid"/>
          </a:ln>
        </p:spPr>
      </p:sp>
      <p:sp>
        <p:nvSpPr>
          <p:cNvPr id="28" name="Shape 26"/>
          <p:cNvSpPr/>
          <p:nvPr/>
        </p:nvSpPr>
        <p:spPr>
          <a:xfrm>
            <a:off x="640080" y="2578608"/>
            <a:ext cx="64008" cy="841248"/>
          </a:xfrm>
          <a:prstGeom prst="rect">
            <a:avLst/>
          </a:prstGeom>
          <a:solidFill>
            <a:srgbClr val="065A82"/>
          </a:solidFill>
          <a:ln/>
        </p:spPr>
      </p:sp>
      <p:sp>
        <p:nvSpPr>
          <p:cNvPr id="29" name="Shape 27"/>
          <p:cNvSpPr/>
          <p:nvPr/>
        </p:nvSpPr>
        <p:spPr>
          <a:xfrm>
            <a:off x="2862072" y="2478024"/>
            <a:ext cx="292608" cy="292608"/>
          </a:xfrm>
          <a:prstGeom prst="ellipse">
            <a:avLst/>
          </a:prstGeom>
          <a:solidFill>
            <a:srgbClr val="065A82"/>
          </a:solidFill>
          <a:ln/>
        </p:spPr>
      </p:sp>
      <p:sp>
        <p:nvSpPr>
          <p:cNvPr id="30" name="Text 28"/>
          <p:cNvSpPr/>
          <p:nvPr/>
        </p:nvSpPr>
        <p:spPr>
          <a:xfrm>
            <a:off x="2862072" y="2478024"/>
            <a:ext cx="292608"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5</a:t>
            </a:r>
            <a:endParaRPr lang="en-US" sz="1050" dirty="0"/>
          </a:p>
        </p:txBody>
      </p:sp>
      <p:sp>
        <p:nvSpPr>
          <p:cNvPr id="31" name="Text 29"/>
          <p:cNvSpPr/>
          <p:nvPr/>
        </p:nvSpPr>
        <p:spPr>
          <a:xfrm>
            <a:off x="777240" y="2578608"/>
            <a:ext cx="2286000" cy="841248"/>
          </a:xfrm>
          <a:prstGeom prst="rect">
            <a:avLst/>
          </a:prstGeom>
          <a:noFill/>
          <a:ln/>
        </p:spPr>
        <p:txBody>
          <a:bodyPr wrap="square" rtlCol="0" anchor="ctr"/>
          <a:lstStyle/>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Judge0</a:t>
            </a:r>
            <a:endParaRPr lang="en-US" sz="1200" dirty="0"/>
          </a:p>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Execution</a:t>
            </a:r>
            <a:endParaRPr lang="en-US" sz="1200" dirty="0"/>
          </a:p>
        </p:txBody>
      </p:sp>
      <p:sp>
        <p:nvSpPr>
          <p:cNvPr id="32" name="Text 30"/>
          <p:cNvSpPr/>
          <p:nvPr/>
        </p:nvSpPr>
        <p:spPr>
          <a:xfrm>
            <a:off x="3154680" y="2578608"/>
            <a:ext cx="256032" cy="841248"/>
          </a:xfrm>
          <a:prstGeom prst="rect">
            <a:avLst/>
          </a:prstGeom>
          <a:noFill/>
          <a:ln/>
        </p:spPr>
        <p:txBody>
          <a:bodyPr wrap="square" rtlCol="0" anchor="ctr"/>
          <a:lstStyle/>
          <a:p>
            <a:pPr algn="ctr" indent="0" marL="0">
              <a:buNone/>
            </a:pPr>
            <a:r>
              <a:rPr lang="en-US" sz="1700" dirty="0">
                <a:solidFill>
                  <a:srgbClr val="5B6B7A"/>
                </a:solidFill>
                <a:latin typeface="Arial" pitchFamily="34" charset="0"/>
                <a:ea typeface="Arial" pitchFamily="34" charset="-122"/>
                <a:cs typeface="Arial" pitchFamily="34" charset="-120"/>
              </a:rPr>
              <a:t>→</a:t>
            </a:r>
            <a:endParaRPr lang="en-US" sz="1700" dirty="0"/>
          </a:p>
        </p:txBody>
      </p:sp>
      <p:sp>
        <p:nvSpPr>
          <p:cNvPr id="33" name="Shape 31"/>
          <p:cNvSpPr/>
          <p:nvPr/>
        </p:nvSpPr>
        <p:spPr>
          <a:xfrm>
            <a:off x="3410712" y="2578608"/>
            <a:ext cx="2514600" cy="841248"/>
          </a:xfrm>
          <a:prstGeom prst="roundRect">
            <a:avLst>
              <a:gd name="adj" fmla="val 7609"/>
            </a:avLst>
          </a:prstGeom>
          <a:solidFill>
            <a:srgbClr val="FFFFFF"/>
          </a:solidFill>
          <a:ln w="19050">
            <a:solidFill>
              <a:srgbClr val="1C7293"/>
            </a:solidFill>
            <a:prstDash val="solid"/>
          </a:ln>
        </p:spPr>
      </p:sp>
      <p:sp>
        <p:nvSpPr>
          <p:cNvPr id="34" name="Shape 32"/>
          <p:cNvSpPr/>
          <p:nvPr/>
        </p:nvSpPr>
        <p:spPr>
          <a:xfrm>
            <a:off x="3410712" y="2578608"/>
            <a:ext cx="64008" cy="841248"/>
          </a:xfrm>
          <a:prstGeom prst="rect">
            <a:avLst/>
          </a:prstGeom>
          <a:solidFill>
            <a:srgbClr val="1C7293"/>
          </a:solidFill>
          <a:ln/>
        </p:spPr>
      </p:sp>
      <p:sp>
        <p:nvSpPr>
          <p:cNvPr id="35" name="Shape 33"/>
          <p:cNvSpPr/>
          <p:nvPr/>
        </p:nvSpPr>
        <p:spPr>
          <a:xfrm>
            <a:off x="5632704" y="2478024"/>
            <a:ext cx="292608" cy="292608"/>
          </a:xfrm>
          <a:prstGeom prst="ellipse">
            <a:avLst/>
          </a:prstGeom>
          <a:solidFill>
            <a:srgbClr val="1C7293"/>
          </a:solidFill>
          <a:ln/>
        </p:spPr>
      </p:sp>
      <p:sp>
        <p:nvSpPr>
          <p:cNvPr id="36" name="Text 34"/>
          <p:cNvSpPr/>
          <p:nvPr/>
        </p:nvSpPr>
        <p:spPr>
          <a:xfrm>
            <a:off x="5632704" y="2478024"/>
            <a:ext cx="292608"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6</a:t>
            </a:r>
            <a:endParaRPr lang="en-US" sz="1050" dirty="0"/>
          </a:p>
        </p:txBody>
      </p:sp>
      <p:sp>
        <p:nvSpPr>
          <p:cNvPr id="37" name="Text 35"/>
          <p:cNvSpPr/>
          <p:nvPr/>
        </p:nvSpPr>
        <p:spPr>
          <a:xfrm>
            <a:off x="3547872" y="2578608"/>
            <a:ext cx="2286000" cy="841248"/>
          </a:xfrm>
          <a:prstGeom prst="rect">
            <a:avLst/>
          </a:prstGeom>
          <a:noFill/>
          <a:ln/>
        </p:spPr>
        <p:txBody>
          <a:bodyPr wrap="square" rtlCol="0" anchor="ctr"/>
          <a:lstStyle/>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MongoDB</a:t>
            </a:r>
            <a:endParaRPr lang="en-US" sz="1200" dirty="0"/>
          </a:p>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Atlas</a:t>
            </a:r>
            <a:endParaRPr lang="en-US" sz="1200" dirty="0"/>
          </a:p>
        </p:txBody>
      </p:sp>
      <p:sp>
        <p:nvSpPr>
          <p:cNvPr id="38" name="Text 36"/>
          <p:cNvSpPr/>
          <p:nvPr/>
        </p:nvSpPr>
        <p:spPr>
          <a:xfrm>
            <a:off x="5925312" y="2578608"/>
            <a:ext cx="256032" cy="841248"/>
          </a:xfrm>
          <a:prstGeom prst="rect">
            <a:avLst/>
          </a:prstGeom>
          <a:noFill/>
          <a:ln/>
        </p:spPr>
        <p:txBody>
          <a:bodyPr wrap="square" rtlCol="0" anchor="ctr"/>
          <a:lstStyle/>
          <a:p>
            <a:pPr algn="ctr" indent="0" marL="0">
              <a:buNone/>
            </a:pPr>
            <a:r>
              <a:rPr lang="en-US" sz="1700" dirty="0">
                <a:solidFill>
                  <a:srgbClr val="5B6B7A"/>
                </a:solidFill>
                <a:latin typeface="Arial" pitchFamily="34" charset="0"/>
                <a:ea typeface="Arial" pitchFamily="34" charset="-122"/>
                <a:cs typeface="Arial" pitchFamily="34" charset="-120"/>
              </a:rPr>
              <a:t>→</a:t>
            </a:r>
            <a:endParaRPr lang="en-US" sz="1700" dirty="0"/>
          </a:p>
        </p:txBody>
      </p:sp>
      <p:sp>
        <p:nvSpPr>
          <p:cNvPr id="39" name="Shape 37"/>
          <p:cNvSpPr/>
          <p:nvPr/>
        </p:nvSpPr>
        <p:spPr>
          <a:xfrm>
            <a:off x="6181344" y="2578608"/>
            <a:ext cx="2514600" cy="841248"/>
          </a:xfrm>
          <a:prstGeom prst="roundRect">
            <a:avLst>
              <a:gd name="adj" fmla="val 7609"/>
            </a:avLst>
          </a:prstGeom>
          <a:solidFill>
            <a:srgbClr val="FFFFFF"/>
          </a:solidFill>
          <a:ln w="19050">
            <a:solidFill>
              <a:srgbClr val="17203A"/>
            </a:solidFill>
            <a:prstDash val="solid"/>
          </a:ln>
        </p:spPr>
      </p:sp>
      <p:sp>
        <p:nvSpPr>
          <p:cNvPr id="40" name="Shape 38"/>
          <p:cNvSpPr/>
          <p:nvPr/>
        </p:nvSpPr>
        <p:spPr>
          <a:xfrm>
            <a:off x="6181344" y="2578608"/>
            <a:ext cx="64008" cy="841248"/>
          </a:xfrm>
          <a:prstGeom prst="rect">
            <a:avLst/>
          </a:prstGeom>
          <a:solidFill>
            <a:srgbClr val="17203A"/>
          </a:solidFill>
          <a:ln/>
        </p:spPr>
      </p:sp>
      <p:sp>
        <p:nvSpPr>
          <p:cNvPr id="41" name="Shape 39"/>
          <p:cNvSpPr/>
          <p:nvPr/>
        </p:nvSpPr>
        <p:spPr>
          <a:xfrm>
            <a:off x="8403336" y="2478024"/>
            <a:ext cx="292608" cy="292608"/>
          </a:xfrm>
          <a:prstGeom prst="ellipse">
            <a:avLst/>
          </a:prstGeom>
          <a:solidFill>
            <a:srgbClr val="17203A"/>
          </a:solidFill>
          <a:ln/>
        </p:spPr>
      </p:sp>
      <p:sp>
        <p:nvSpPr>
          <p:cNvPr id="42" name="Text 40"/>
          <p:cNvSpPr/>
          <p:nvPr/>
        </p:nvSpPr>
        <p:spPr>
          <a:xfrm>
            <a:off x="8403336" y="2478024"/>
            <a:ext cx="292608"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7</a:t>
            </a:r>
            <a:endParaRPr lang="en-US" sz="1050" dirty="0"/>
          </a:p>
        </p:txBody>
      </p:sp>
      <p:sp>
        <p:nvSpPr>
          <p:cNvPr id="43" name="Text 41"/>
          <p:cNvSpPr/>
          <p:nvPr/>
        </p:nvSpPr>
        <p:spPr>
          <a:xfrm>
            <a:off x="6318504" y="2578608"/>
            <a:ext cx="2286000" cy="841248"/>
          </a:xfrm>
          <a:prstGeom prst="rect">
            <a:avLst/>
          </a:prstGeom>
          <a:noFill/>
          <a:ln/>
        </p:spPr>
        <p:txBody>
          <a:bodyPr wrap="square" rtlCol="0" anchor="ctr"/>
          <a:lstStyle/>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Docker</a:t>
            </a:r>
            <a:endParaRPr lang="en-US" sz="1200" dirty="0"/>
          </a:p>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Containers</a:t>
            </a:r>
            <a:endParaRPr lang="en-US" sz="1200" dirty="0"/>
          </a:p>
        </p:txBody>
      </p:sp>
      <p:sp>
        <p:nvSpPr>
          <p:cNvPr id="44" name="Text 42"/>
          <p:cNvSpPr/>
          <p:nvPr/>
        </p:nvSpPr>
        <p:spPr>
          <a:xfrm>
            <a:off x="8695944" y="2578608"/>
            <a:ext cx="256032" cy="841248"/>
          </a:xfrm>
          <a:prstGeom prst="rect">
            <a:avLst/>
          </a:prstGeom>
          <a:noFill/>
          <a:ln/>
        </p:spPr>
        <p:txBody>
          <a:bodyPr wrap="square" rtlCol="0" anchor="ctr"/>
          <a:lstStyle/>
          <a:p>
            <a:pPr algn="ctr" indent="0" marL="0">
              <a:buNone/>
            </a:pPr>
            <a:r>
              <a:rPr lang="en-US" sz="1700" dirty="0">
                <a:solidFill>
                  <a:srgbClr val="5B6B7A"/>
                </a:solidFill>
                <a:latin typeface="Arial" pitchFamily="34" charset="0"/>
                <a:ea typeface="Arial" pitchFamily="34" charset="-122"/>
                <a:cs typeface="Arial" pitchFamily="34" charset="-120"/>
              </a:rPr>
              <a:t>→</a:t>
            </a:r>
            <a:endParaRPr lang="en-US" sz="1700" dirty="0"/>
          </a:p>
        </p:txBody>
      </p:sp>
      <p:sp>
        <p:nvSpPr>
          <p:cNvPr id="45" name="Shape 43"/>
          <p:cNvSpPr/>
          <p:nvPr/>
        </p:nvSpPr>
        <p:spPr>
          <a:xfrm>
            <a:off x="8951976" y="2578608"/>
            <a:ext cx="2514600" cy="841248"/>
          </a:xfrm>
          <a:prstGeom prst="roundRect">
            <a:avLst>
              <a:gd name="adj" fmla="val 7609"/>
            </a:avLst>
          </a:prstGeom>
          <a:solidFill>
            <a:srgbClr val="FFFFFF"/>
          </a:solidFill>
          <a:ln w="19050">
            <a:solidFill>
              <a:srgbClr val="FFB100"/>
            </a:solidFill>
            <a:prstDash val="solid"/>
          </a:ln>
        </p:spPr>
      </p:sp>
      <p:sp>
        <p:nvSpPr>
          <p:cNvPr id="46" name="Shape 44"/>
          <p:cNvSpPr/>
          <p:nvPr/>
        </p:nvSpPr>
        <p:spPr>
          <a:xfrm>
            <a:off x="8951976" y="2578608"/>
            <a:ext cx="64008" cy="841248"/>
          </a:xfrm>
          <a:prstGeom prst="rect">
            <a:avLst/>
          </a:prstGeom>
          <a:solidFill>
            <a:srgbClr val="FFB100"/>
          </a:solidFill>
          <a:ln/>
        </p:spPr>
      </p:sp>
      <p:sp>
        <p:nvSpPr>
          <p:cNvPr id="47" name="Shape 45"/>
          <p:cNvSpPr/>
          <p:nvPr/>
        </p:nvSpPr>
        <p:spPr>
          <a:xfrm>
            <a:off x="11173968" y="2478024"/>
            <a:ext cx="292608" cy="292608"/>
          </a:xfrm>
          <a:prstGeom prst="ellipse">
            <a:avLst/>
          </a:prstGeom>
          <a:solidFill>
            <a:srgbClr val="FFB100"/>
          </a:solidFill>
          <a:ln/>
        </p:spPr>
      </p:sp>
      <p:sp>
        <p:nvSpPr>
          <p:cNvPr id="48" name="Text 46"/>
          <p:cNvSpPr/>
          <p:nvPr/>
        </p:nvSpPr>
        <p:spPr>
          <a:xfrm>
            <a:off x="11173968" y="2478024"/>
            <a:ext cx="292608"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8</a:t>
            </a:r>
            <a:endParaRPr lang="en-US" sz="1050" dirty="0"/>
          </a:p>
        </p:txBody>
      </p:sp>
      <p:sp>
        <p:nvSpPr>
          <p:cNvPr id="49" name="Text 47"/>
          <p:cNvSpPr/>
          <p:nvPr/>
        </p:nvSpPr>
        <p:spPr>
          <a:xfrm>
            <a:off x="9089136" y="2578608"/>
            <a:ext cx="2286000" cy="841248"/>
          </a:xfrm>
          <a:prstGeom prst="rect">
            <a:avLst/>
          </a:prstGeom>
          <a:noFill/>
          <a:ln/>
        </p:spPr>
        <p:txBody>
          <a:bodyPr wrap="square" rtlCol="0" anchor="ctr"/>
          <a:lstStyle/>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GitHub</a:t>
            </a:r>
            <a:endParaRPr lang="en-US" sz="1200" dirty="0"/>
          </a:p>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Actions CI/CD</a:t>
            </a:r>
            <a:endParaRPr lang="en-US" sz="1200" dirty="0"/>
          </a:p>
        </p:txBody>
      </p:sp>
      <p:sp>
        <p:nvSpPr>
          <p:cNvPr id="50" name="Shape 48"/>
          <p:cNvSpPr/>
          <p:nvPr/>
        </p:nvSpPr>
        <p:spPr>
          <a:xfrm>
            <a:off x="640080" y="3694176"/>
            <a:ext cx="2514600" cy="841248"/>
          </a:xfrm>
          <a:prstGeom prst="roundRect">
            <a:avLst>
              <a:gd name="adj" fmla="val 7609"/>
            </a:avLst>
          </a:prstGeom>
          <a:solidFill>
            <a:srgbClr val="FFFFFF"/>
          </a:solidFill>
          <a:ln w="19050">
            <a:solidFill>
              <a:srgbClr val="065A82"/>
            </a:solidFill>
            <a:prstDash val="solid"/>
          </a:ln>
        </p:spPr>
      </p:sp>
      <p:sp>
        <p:nvSpPr>
          <p:cNvPr id="51" name="Shape 49"/>
          <p:cNvSpPr/>
          <p:nvPr/>
        </p:nvSpPr>
        <p:spPr>
          <a:xfrm>
            <a:off x="640080" y="3694176"/>
            <a:ext cx="64008" cy="841248"/>
          </a:xfrm>
          <a:prstGeom prst="rect">
            <a:avLst/>
          </a:prstGeom>
          <a:solidFill>
            <a:srgbClr val="065A82"/>
          </a:solidFill>
          <a:ln/>
        </p:spPr>
      </p:sp>
      <p:sp>
        <p:nvSpPr>
          <p:cNvPr id="52" name="Shape 50"/>
          <p:cNvSpPr/>
          <p:nvPr/>
        </p:nvSpPr>
        <p:spPr>
          <a:xfrm>
            <a:off x="2862072" y="3593592"/>
            <a:ext cx="292608" cy="292608"/>
          </a:xfrm>
          <a:prstGeom prst="ellipse">
            <a:avLst/>
          </a:prstGeom>
          <a:solidFill>
            <a:srgbClr val="065A82"/>
          </a:solidFill>
          <a:ln/>
        </p:spPr>
      </p:sp>
      <p:sp>
        <p:nvSpPr>
          <p:cNvPr id="53" name="Text 51"/>
          <p:cNvSpPr/>
          <p:nvPr/>
        </p:nvSpPr>
        <p:spPr>
          <a:xfrm>
            <a:off x="2862072" y="3593592"/>
            <a:ext cx="292608"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9</a:t>
            </a:r>
            <a:endParaRPr lang="en-US" sz="1050" dirty="0"/>
          </a:p>
        </p:txBody>
      </p:sp>
      <p:sp>
        <p:nvSpPr>
          <p:cNvPr id="54" name="Text 52"/>
          <p:cNvSpPr/>
          <p:nvPr/>
        </p:nvSpPr>
        <p:spPr>
          <a:xfrm>
            <a:off x="777240" y="3694176"/>
            <a:ext cx="2286000" cy="841248"/>
          </a:xfrm>
          <a:prstGeom prst="rect">
            <a:avLst/>
          </a:prstGeom>
          <a:noFill/>
          <a:ln/>
        </p:spPr>
        <p:txBody>
          <a:bodyPr wrap="square" rtlCol="0" anchor="ctr"/>
          <a:lstStyle/>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DockerHub</a:t>
            </a:r>
            <a:endParaRPr lang="en-US" sz="1200" dirty="0"/>
          </a:p>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Registry</a:t>
            </a:r>
            <a:endParaRPr lang="en-US" sz="1200" dirty="0"/>
          </a:p>
        </p:txBody>
      </p:sp>
      <p:sp>
        <p:nvSpPr>
          <p:cNvPr id="55" name="Text 53"/>
          <p:cNvSpPr/>
          <p:nvPr/>
        </p:nvSpPr>
        <p:spPr>
          <a:xfrm>
            <a:off x="3154680" y="3694176"/>
            <a:ext cx="256032" cy="841248"/>
          </a:xfrm>
          <a:prstGeom prst="rect">
            <a:avLst/>
          </a:prstGeom>
          <a:noFill/>
          <a:ln/>
        </p:spPr>
        <p:txBody>
          <a:bodyPr wrap="square" rtlCol="0" anchor="ctr"/>
          <a:lstStyle/>
          <a:p>
            <a:pPr algn="ctr" indent="0" marL="0">
              <a:buNone/>
            </a:pPr>
            <a:r>
              <a:rPr lang="en-US" sz="1700" dirty="0">
                <a:solidFill>
                  <a:srgbClr val="5B6B7A"/>
                </a:solidFill>
                <a:latin typeface="Arial" pitchFamily="34" charset="0"/>
                <a:ea typeface="Arial" pitchFamily="34" charset="-122"/>
                <a:cs typeface="Arial" pitchFamily="34" charset="-120"/>
              </a:rPr>
              <a:t>→</a:t>
            </a:r>
            <a:endParaRPr lang="en-US" sz="1700" dirty="0"/>
          </a:p>
        </p:txBody>
      </p:sp>
      <p:sp>
        <p:nvSpPr>
          <p:cNvPr id="56" name="Shape 54"/>
          <p:cNvSpPr/>
          <p:nvPr/>
        </p:nvSpPr>
        <p:spPr>
          <a:xfrm>
            <a:off x="3410712" y="3694176"/>
            <a:ext cx="2514600" cy="841248"/>
          </a:xfrm>
          <a:prstGeom prst="roundRect">
            <a:avLst>
              <a:gd name="adj" fmla="val 7609"/>
            </a:avLst>
          </a:prstGeom>
          <a:solidFill>
            <a:srgbClr val="FFFFFF"/>
          </a:solidFill>
          <a:ln w="19050">
            <a:solidFill>
              <a:srgbClr val="1C7293"/>
            </a:solidFill>
            <a:prstDash val="solid"/>
          </a:ln>
        </p:spPr>
      </p:sp>
      <p:sp>
        <p:nvSpPr>
          <p:cNvPr id="57" name="Shape 55"/>
          <p:cNvSpPr/>
          <p:nvPr/>
        </p:nvSpPr>
        <p:spPr>
          <a:xfrm>
            <a:off x="3410712" y="3694176"/>
            <a:ext cx="64008" cy="841248"/>
          </a:xfrm>
          <a:prstGeom prst="rect">
            <a:avLst/>
          </a:prstGeom>
          <a:solidFill>
            <a:srgbClr val="1C7293"/>
          </a:solidFill>
          <a:ln/>
        </p:spPr>
      </p:sp>
      <p:sp>
        <p:nvSpPr>
          <p:cNvPr id="58" name="Shape 56"/>
          <p:cNvSpPr/>
          <p:nvPr/>
        </p:nvSpPr>
        <p:spPr>
          <a:xfrm>
            <a:off x="5632704" y="3593592"/>
            <a:ext cx="292608" cy="292608"/>
          </a:xfrm>
          <a:prstGeom prst="ellipse">
            <a:avLst/>
          </a:prstGeom>
          <a:solidFill>
            <a:srgbClr val="1C7293"/>
          </a:solidFill>
          <a:ln/>
        </p:spPr>
      </p:sp>
      <p:sp>
        <p:nvSpPr>
          <p:cNvPr id="59" name="Text 57"/>
          <p:cNvSpPr/>
          <p:nvPr/>
        </p:nvSpPr>
        <p:spPr>
          <a:xfrm>
            <a:off x="5632704" y="3593592"/>
            <a:ext cx="292608"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10</a:t>
            </a:r>
            <a:endParaRPr lang="en-US" sz="1050" dirty="0"/>
          </a:p>
        </p:txBody>
      </p:sp>
      <p:sp>
        <p:nvSpPr>
          <p:cNvPr id="60" name="Text 58"/>
          <p:cNvSpPr/>
          <p:nvPr/>
        </p:nvSpPr>
        <p:spPr>
          <a:xfrm>
            <a:off x="3547872" y="3694176"/>
            <a:ext cx="2286000" cy="841248"/>
          </a:xfrm>
          <a:prstGeom prst="rect">
            <a:avLst/>
          </a:prstGeom>
          <a:noFill/>
          <a:ln/>
        </p:spPr>
        <p:txBody>
          <a:bodyPr wrap="square" rtlCol="0" anchor="ctr"/>
          <a:lstStyle/>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AWS EC2 +</a:t>
            </a:r>
            <a:endParaRPr lang="en-US" sz="1200" dirty="0"/>
          </a:p>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Kubernetes</a:t>
            </a:r>
            <a:endParaRPr lang="en-US" sz="1200" dirty="0"/>
          </a:p>
        </p:txBody>
      </p:sp>
      <p:sp>
        <p:nvSpPr>
          <p:cNvPr id="61" name="Text 59"/>
          <p:cNvSpPr/>
          <p:nvPr/>
        </p:nvSpPr>
        <p:spPr>
          <a:xfrm>
            <a:off x="5925312" y="3694176"/>
            <a:ext cx="256032" cy="841248"/>
          </a:xfrm>
          <a:prstGeom prst="rect">
            <a:avLst/>
          </a:prstGeom>
          <a:noFill/>
          <a:ln/>
        </p:spPr>
        <p:txBody>
          <a:bodyPr wrap="square" rtlCol="0" anchor="ctr"/>
          <a:lstStyle/>
          <a:p>
            <a:pPr algn="ctr" indent="0" marL="0">
              <a:buNone/>
            </a:pPr>
            <a:r>
              <a:rPr lang="en-US" sz="1700" dirty="0">
                <a:solidFill>
                  <a:srgbClr val="5B6B7A"/>
                </a:solidFill>
                <a:latin typeface="Arial" pitchFamily="34" charset="0"/>
                <a:ea typeface="Arial" pitchFamily="34" charset="-122"/>
                <a:cs typeface="Arial" pitchFamily="34" charset="-120"/>
              </a:rPr>
              <a:t>→</a:t>
            </a:r>
            <a:endParaRPr lang="en-US" sz="1700" dirty="0"/>
          </a:p>
        </p:txBody>
      </p:sp>
      <p:sp>
        <p:nvSpPr>
          <p:cNvPr id="62" name="Shape 60"/>
          <p:cNvSpPr/>
          <p:nvPr/>
        </p:nvSpPr>
        <p:spPr>
          <a:xfrm>
            <a:off x="6181344" y="3694176"/>
            <a:ext cx="2514600" cy="841248"/>
          </a:xfrm>
          <a:prstGeom prst="roundRect">
            <a:avLst>
              <a:gd name="adj" fmla="val 7609"/>
            </a:avLst>
          </a:prstGeom>
          <a:solidFill>
            <a:srgbClr val="FFFFFF"/>
          </a:solidFill>
          <a:ln w="19050">
            <a:solidFill>
              <a:srgbClr val="17203A"/>
            </a:solidFill>
            <a:prstDash val="solid"/>
          </a:ln>
        </p:spPr>
      </p:sp>
      <p:sp>
        <p:nvSpPr>
          <p:cNvPr id="63" name="Shape 61"/>
          <p:cNvSpPr/>
          <p:nvPr/>
        </p:nvSpPr>
        <p:spPr>
          <a:xfrm>
            <a:off x="6181344" y="3694176"/>
            <a:ext cx="64008" cy="841248"/>
          </a:xfrm>
          <a:prstGeom prst="rect">
            <a:avLst/>
          </a:prstGeom>
          <a:solidFill>
            <a:srgbClr val="17203A"/>
          </a:solidFill>
          <a:ln/>
        </p:spPr>
      </p:sp>
      <p:sp>
        <p:nvSpPr>
          <p:cNvPr id="64" name="Shape 62"/>
          <p:cNvSpPr/>
          <p:nvPr/>
        </p:nvSpPr>
        <p:spPr>
          <a:xfrm>
            <a:off x="8403336" y="3593592"/>
            <a:ext cx="292608" cy="292608"/>
          </a:xfrm>
          <a:prstGeom prst="ellipse">
            <a:avLst/>
          </a:prstGeom>
          <a:solidFill>
            <a:srgbClr val="17203A"/>
          </a:solidFill>
          <a:ln/>
        </p:spPr>
      </p:sp>
      <p:sp>
        <p:nvSpPr>
          <p:cNvPr id="65" name="Text 63"/>
          <p:cNvSpPr/>
          <p:nvPr/>
        </p:nvSpPr>
        <p:spPr>
          <a:xfrm>
            <a:off x="8403336" y="3593592"/>
            <a:ext cx="292608" cy="29260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11</a:t>
            </a:r>
            <a:endParaRPr lang="en-US" sz="1050" dirty="0"/>
          </a:p>
        </p:txBody>
      </p:sp>
      <p:sp>
        <p:nvSpPr>
          <p:cNvPr id="66" name="Text 64"/>
          <p:cNvSpPr/>
          <p:nvPr/>
        </p:nvSpPr>
        <p:spPr>
          <a:xfrm>
            <a:off x="6318504" y="3694176"/>
            <a:ext cx="2286000" cy="841248"/>
          </a:xfrm>
          <a:prstGeom prst="rect">
            <a:avLst/>
          </a:prstGeom>
          <a:noFill/>
          <a:ln/>
        </p:spPr>
        <p:txBody>
          <a:bodyPr wrap="square" rtlCol="0" anchor="ctr"/>
          <a:lstStyle/>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DuckDNS +</a:t>
            </a:r>
            <a:endParaRPr lang="en-US" sz="1200" dirty="0"/>
          </a:p>
          <a:p>
            <a:pPr algn="l" indent="0" marL="0">
              <a:lnSpc>
                <a:spcPct val="105000"/>
              </a:lnSpc>
              <a:buNone/>
            </a:pPr>
            <a:r>
              <a:rPr lang="en-US" sz="1200" b="1" dirty="0">
                <a:solidFill>
                  <a:srgbClr val="16232E"/>
                </a:solidFill>
                <a:latin typeface="Calibri" pitchFamily="34" charset="0"/>
                <a:ea typeface="Calibri" pitchFamily="34" charset="-122"/>
                <a:cs typeface="Calibri" pitchFamily="34" charset="-120"/>
              </a:rPr>
              <a:t>Caddy (HTTPS)</a:t>
            </a:r>
            <a:endParaRPr lang="en-US" sz="1200" dirty="0"/>
          </a:p>
        </p:txBody>
      </p:sp>
      <p:sp>
        <p:nvSpPr>
          <p:cNvPr id="67" name="Text 65"/>
          <p:cNvSpPr/>
          <p:nvPr/>
        </p:nvSpPr>
        <p:spPr>
          <a:xfrm>
            <a:off x="640080" y="5623560"/>
            <a:ext cx="10789920" cy="365760"/>
          </a:xfrm>
          <a:prstGeom prst="rect">
            <a:avLst/>
          </a:prstGeom>
          <a:noFill/>
          <a:ln/>
        </p:spPr>
        <p:txBody>
          <a:bodyPr wrap="square" rtlCol="0" anchor="ctr"/>
          <a:lstStyle/>
          <a:p>
            <a:pPr indent="0" marL="0">
              <a:buNone/>
            </a:pPr>
            <a:r>
              <a:rPr lang="en-US" sz="1200" i="1" dirty="0">
                <a:solidFill>
                  <a:srgbClr val="5B6B7A"/>
                </a:solidFill>
                <a:latin typeface="Calibri" pitchFamily="34" charset="0"/>
                <a:ea typeface="Calibri" pitchFamily="34" charset="-122"/>
                <a:cs typeface="Calibri" pitchFamily="34" charset="-120"/>
              </a:rPr>
              <a:t>Follow the numbers 1–11 — every hop is a deliberate architectural decision covered in the following slides.</a:t>
            </a:r>
            <a:endParaRPr lang="en-US" sz="1200" dirty="0"/>
          </a:p>
        </p:txBody>
      </p:sp>
      <p:sp>
        <p:nvSpPr>
          <p:cNvPr id="68" name="Text 66"/>
          <p:cNvSpPr/>
          <p:nvPr/>
        </p:nvSpPr>
        <p:spPr>
          <a:xfrm>
            <a:off x="640080" y="6053328"/>
            <a:ext cx="1463040" cy="274320"/>
          </a:xfrm>
          <a:prstGeom prst="rect">
            <a:avLst/>
          </a:prstGeom>
          <a:noFill/>
          <a:ln/>
        </p:spPr>
        <p:txBody>
          <a:bodyPr wrap="square"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Request path:</a:t>
            </a:r>
            <a:endParaRPr lang="en-US" sz="1050" dirty="0"/>
          </a:p>
        </p:txBody>
      </p:sp>
      <p:sp>
        <p:nvSpPr>
          <p:cNvPr id="69" name="Text 67"/>
          <p:cNvSpPr/>
          <p:nvPr/>
        </p:nvSpPr>
        <p:spPr>
          <a:xfrm>
            <a:off x="2103120" y="6053328"/>
            <a:ext cx="8778240" cy="274320"/>
          </a:xfrm>
          <a:prstGeom prst="rect">
            <a:avLst/>
          </a:prstGeom>
          <a:noFill/>
          <a:ln/>
        </p:spPr>
        <p:txBody>
          <a:bodyPr wrap="square" rtlCol="0" anchor="ctr"/>
          <a:lstStyle/>
          <a:p>
            <a:pPr indent="0" marL="0">
              <a:buNone/>
            </a:pPr>
            <a:r>
              <a:rPr lang="en-US" sz="1000" dirty="0">
                <a:solidFill>
                  <a:srgbClr val="16232E"/>
                </a:solidFill>
                <a:latin typeface="Courier New" pitchFamily="34" charset="0"/>
                <a:ea typeface="Courier New" pitchFamily="34" charset="-122"/>
                <a:cs typeface="Courier New" pitchFamily="34" charset="-120"/>
              </a:rPr>
              <a:t>Browser → Caddy (443) → Node/Express → MongoDB / Judge0</a:t>
            </a:r>
            <a:endParaRPr lang="en-US" sz="1000" dirty="0"/>
          </a:p>
        </p:txBody>
      </p:sp>
      <p:sp>
        <p:nvSpPr>
          <p:cNvPr id="70" name="Text 68"/>
          <p:cNvSpPr/>
          <p:nvPr/>
        </p:nvSpPr>
        <p:spPr>
          <a:xfrm>
            <a:off x="640080" y="6327648"/>
            <a:ext cx="1463040" cy="274320"/>
          </a:xfrm>
          <a:prstGeom prst="rect">
            <a:avLst/>
          </a:prstGeom>
          <a:noFill/>
          <a:ln/>
        </p:spPr>
        <p:txBody>
          <a:bodyPr wrap="square"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Auth path:</a:t>
            </a:r>
            <a:endParaRPr lang="en-US" sz="1050" dirty="0"/>
          </a:p>
        </p:txBody>
      </p:sp>
      <p:sp>
        <p:nvSpPr>
          <p:cNvPr id="71" name="Text 69"/>
          <p:cNvSpPr/>
          <p:nvPr/>
        </p:nvSpPr>
        <p:spPr>
          <a:xfrm>
            <a:off x="2103120" y="6327648"/>
            <a:ext cx="8778240" cy="274320"/>
          </a:xfrm>
          <a:prstGeom prst="rect">
            <a:avLst/>
          </a:prstGeom>
          <a:noFill/>
          <a:ln/>
        </p:spPr>
        <p:txBody>
          <a:bodyPr wrap="square" rtlCol="0" anchor="ctr"/>
          <a:lstStyle/>
          <a:p>
            <a:pPr indent="0" marL="0">
              <a:buNone/>
            </a:pPr>
            <a:r>
              <a:rPr lang="en-US" sz="1000" dirty="0">
                <a:solidFill>
                  <a:srgbClr val="16232E"/>
                </a:solidFill>
                <a:latin typeface="Courier New" pitchFamily="34" charset="0"/>
                <a:ea typeface="Courier New" pitchFamily="34" charset="-122"/>
                <a:cs typeface="Courier New" pitchFamily="34" charset="-120"/>
              </a:rPr>
              <a:t>Browser → Google → Backend issues JWT → stored client-side, sent on every call</a:t>
            </a:r>
            <a:endParaRPr lang="en-US" sz="1000" dirty="0"/>
          </a:p>
        </p:txBody>
      </p:sp>
      <p:sp>
        <p:nvSpPr>
          <p:cNvPr id="72" name="Text 7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TECHNOLOGY STACK</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Every Tool, Grouped by Role</a:t>
            </a:r>
            <a:endParaRPr lang="en-US" sz="2800" dirty="0"/>
          </a:p>
        </p:txBody>
      </p:sp>
      <p:sp>
        <p:nvSpPr>
          <p:cNvPr id="4" name="Shape 2"/>
          <p:cNvSpPr/>
          <p:nvPr/>
        </p:nvSpPr>
        <p:spPr>
          <a:xfrm>
            <a:off x="548640" y="1417320"/>
            <a:ext cx="3611880" cy="4709160"/>
          </a:xfrm>
          <a:prstGeom prst="roundRect">
            <a:avLst>
              <a:gd name="adj" fmla="val 2532"/>
            </a:avLst>
          </a:prstGeom>
          <a:solidFill>
            <a:srgbClr val="F4F8FA"/>
          </a:solidFill>
          <a:ln w="12700">
            <a:solidFill>
              <a:srgbClr val="D9E3E8"/>
            </a:solidFill>
            <a:prstDash val="solid"/>
          </a:ln>
        </p:spPr>
      </p:sp>
      <p:sp>
        <p:nvSpPr>
          <p:cNvPr id="5" name="Shape 3"/>
          <p:cNvSpPr/>
          <p:nvPr/>
        </p:nvSpPr>
        <p:spPr>
          <a:xfrm>
            <a:off x="548640" y="1417320"/>
            <a:ext cx="3611880" cy="658368"/>
          </a:xfrm>
          <a:prstGeom prst="roundRect">
            <a:avLst>
              <a:gd name="adj" fmla="val 13889"/>
            </a:avLst>
          </a:prstGeom>
          <a:solidFill>
            <a:srgbClr val="065A82"/>
          </a:solidFill>
          <a:ln/>
        </p:spPr>
      </p:sp>
      <p:sp>
        <p:nvSpPr>
          <p:cNvPr id="6" name="Shape 4"/>
          <p:cNvSpPr/>
          <p:nvPr/>
        </p:nvSpPr>
        <p:spPr>
          <a:xfrm>
            <a:off x="548640" y="1764792"/>
            <a:ext cx="3611880" cy="310896"/>
          </a:xfrm>
          <a:prstGeom prst="rect">
            <a:avLst/>
          </a:prstGeom>
          <a:solidFill>
            <a:srgbClr val="065A82"/>
          </a:solidFill>
          <a:ln/>
        </p:spPr>
      </p:sp>
      <p:sp>
        <p:nvSpPr>
          <p:cNvPr id="7" name="Text 5"/>
          <p:cNvSpPr/>
          <p:nvPr/>
        </p:nvSpPr>
        <p:spPr>
          <a:xfrm>
            <a:off x="777240" y="1417320"/>
            <a:ext cx="3154680" cy="658368"/>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Web Development</a:t>
            </a:r>
            <a:endParaRPr lang="en-US" sz="1500" dirty="0"/>
          </a:p>
        </p:txBody>
      </p:sp>
      <p:sp>
        <p:nvSpPr>
          <p:cNvPr id="8" name="Shape 6"/>
          <p:cNvSpPr/>
          <p:nvPr/>
        </p:nvSpPr>
        <p:spPr>
          <a:xfrm>
            <a:off x="777240" y="2331720"/>
            <a:ext cx="182880" cy="182880"/>
          </a:xfrm>
          <a:prstGeom prst="ellipse">
            <a:avLst/>
          </a:prstGeom>
          <a:solidFill>
            <a:srgbClr val="065A82"/>
          </a:solidFill>
          <a:ln/>
        </p:spPr>
      </p:sp>
      <p:sp>
        <p:nvSpPr>
          <p:cNvPr id="9" name="Text 7"/>
          <p:cNvSpPr/>
          <p:nvPr/>
        </p:nvSpPr>
        <p:spPr>
          <a:xfrm>
            <a:off x="1097280" y="2231136"/>
            <a:ext cx="2834640" cy="41148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React 18 + Vite</a:t>
            </a:r>
            <a:endParaRPr lang="en-US" sz="1200" dirty="0"/>
          </a:p>
        </p:txBody>
      </p:sp>
      <p:sp>
        <p:nvSpPr>
          <p:cNvPr id="10" name="Shape 8"/>
          <p:cNvSpPr/>
          <p:nvPr/>
        </p:nvSpPr>
        <p:spPr>
          <a:xfrm>
            <a:off x="777240" y="2907792"/>
            <a:ext cx="182880" cy="182880"/>
          </a:xfrm>
          <a:prstGeom prst="ellipse">
            <a:avLst/>
          </a:prstGeom>
          <a:solidFill>
            <a:srgbClr val="065A82"/>
          </a:solidFill>
          <a:ln/>
        </p:spPr>
      </p:sp>
      <p:sp>
        <p:nvSpPr>
          <p:cNvPr id="11" name="Text 9"/>
          <p:cNvSpPr/>
          <p:nvPr/>
        </p:nvSpPr>
        <p:spPr>
          <a:xfrm>
            <a:off x="1097280" y="2807208"/>
            <a:ext cx="2834640" cy="41148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Tailwind CSS</a:t>
            </a:r>
            <a:endParaRPr lang="en-US" sz="1200" dirty="0"/>
          </a:p>
        </p:txBody>
      </p:sp>
      <p:sp>
        <p:nvSpPr>
          <p:cNvPr id="12" name="Shape 10"/>
          <p:cNvSpPr/>
          <p:nvPr/>
        </p:nvSpPr>
        <p:spPr>
          <a:xfrm>
            <a:off x="777240" y="3483864"/>
            <a:ext cx="182880" cy="182880"/>
          </a:xfrm>
          <a:prstGeom prst="ellipse">
            <a:avLst/>
          </a:prstGeom>
          <a:solidFill>
            <a:srgbClr val="065A82"/>
          </a:solidFill>
          <a:ln/>
        </p:spPr>
      </p:sp>
      <p:sp>
        <p:nvSpPr>
          <p:cNvPr id="13" name="Text 11"/>
          <p:cNvSpPr/>
          <p:nvPr/>
        </p:nvSpPr>
        <p:spPr>
          <a:xfrm>
            <a:off x="1097280" y="3383280"/>
            <a:ext cx="2834640" cy="41148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Zustand</a:t>
            </a:r>
            <a:endParaRPr lang="en-US" sz="1200" dirty="0"/>
          </a:p>
        </p:txBody>
      </p:sp>
      <p:sp>
        <p:nvSpPr>
          <p:cNvPr id="14" name="Shape 12"/>
          <p:cNvSpPr/>
          <p:nvPr/>
        </p:nvSpPr>
        <p:spPr>
          <a:xfrm>
            <a:off x="777240" y="4059936"/>
            <a:ext cx="182880" cy="182880"/>
          </a:xfrm>
          <a:prstGeom prst="ellipse">
            <a:avLst/>
          </a:prstGeom>
          <a:solidFill>
            <a:srgbClr val="065A82"/>
          </a:solidFill>
          <a:ln/>
        </p:spPr>
      </p:sp>
      <p:sp>
        <p:nvSpPr>
          <p:cNvPr id="15" name="Text 13"/>
          <p:cNvSpPr/>
          <p:nvPr/>
        </p:nvSpPr>
        <p:spPr>
          <a:xfrm>
            <a:off x="1097280" y="3959352"/>
            <a:ext cx="2834640" cy="41148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Monaco Editor</a:t>
            </a:r>
            <a:endParaRPr lang="en-US" sz="1200" dirty="0"/>
          </a:p>
        </p:txBody>
      </p:sp>
      <p:sp>
        <p:nvSpPr>
          <p:cNvPr id="16" name="Shape 14"/>
          <p:cNvSpPr/>
          <p:nvPr/>
        </p:nvSpPr>
        <p:spPr>
          <a:xfrm>
            <a:off x="777240" y="4636008"/>
            <a:ext cx="182880" cy="182880"/>
          </a:xfrm>
          <a:prstGeom prst="ellipse">
            <a:avLst/>
          </a:prstGeom>
          <a:solidFill>
            <a:srgbClr val="065A82"/>
          </a:solidFill>
          <a:ln/>
        </p:spPr>
      </p:sp>
      <p:sp>
        <p:nvSpPr>
          <p:cNvPr id="17" name="Text 15"/>
          <p:cNvSpPr/>
          <p:nvPr/>
        </p:nvSpPr>
        <p:spPr>
          <a:xfrm>
            <a:off x="1097280" y="4535424"/>
            <a:ext cx="2834640" cy="41148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Node.js + Express</a:t>
            </a:r>
            <a:endParaRPr lang="en-US" sz="1200" dirty="0"/>
          </a:p>
        </p:txBody>
      </p:sp>
      <p:sp>
        <p:nvSpPr>
          <p:cNvPr id="18" name="Shape 16"/>
          <p:cNvSpPr/>
          <p:nvPr/>
        </p:nvSpPr>
        <p:spPr>
          <a:xfrm>
            <a:off x="777240" y="5212080"/>
            <a:ext cx="182880" cy="182880"/>
          </a:xfrm>
          <a:prstGeom prst="ellipse">
            <a:avLst/>
          </a:prstGeom>
          <a:solidFill>
            <a:srgbClr val="065A82"/>
          </a:solidFill>
          <a:ln/>
        </p:spPr>
      </p:sp>
      <p:sp>
        <p:nvSpPr>
          <p:cNvPr id="19" name="Text 17"/>
          <p:cNvSpPr/>
          <p:nvPr/>
        </p:nvSpPr>
        <p:spPr>
          <a:xfrm>
            <a:off x="1097280" y="5111496"/>
            <a:ext cx="2834640" cy="41148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MongoDB + Mongoose</a:t>
            </a:r>
            <a:endParaRPr lang="en-US" sz="1200" dirty="0"/>
          </a:p>
        </p:txBody>
      </p:sp>
      <p:sp>
        <p:nvSpPr>
          <p:cNvPr id="20" name="Shape 18"/>
          <p:cNvSpPr/>
          <p:nvPr/>
        </p:nvSpPr>
        <p:spPr>
          <a:xfrm>
            <a:off x="4389120" y="1417320"/>
            <a:ext cx="3611880" cy="4709160"/>
          </a:xfrm>
          <a:prstGeom prst="roundRect">
            <a:avLst>
              <a:gd name="adj" fmla="val 2532"/>
            </a:avLst>
          </a:prstGeom>
          <a:solidFill>
            <a:srgbClr val="F4F8FA"/>
          </a:solidFill>
          <a:ln w="12700">
            <a:solidFill>
              <a:srgbClr val="D9E3E8"/>
            </a:solidFill>
            <a:prstDash val="solid"/>
          </a:ln>
        </p:spPr>
      </p:sp>
      <p:sp>
        <p:nvSpPr>
          <p:cNvPr id="21" name="Shape 19"/>
          <p:cNvSpPr/>
          <p:nvPr/>
        </p:nvSpPr>
        <p:spPr>
          <a:xfrm>
            <a:off x="4389120" y="1417320"/>
            <a:ext cx="3611880" cy="658368"/>
          </a:xfrm>
          <a:prstGeom prst="roundRect">
            <a:avLst>
              <a:gd name="adj" fmla="val 13889"/>
            </a:avLst>
          </a:prstGeom>
          <a:solidFill>
            <a:srgbClr val="1C7293"/>
          </a:solidFill>
          <a:ln/>
        </p:spPr>
      </p:sp>
      <p:sp>
        <p:nvSpPr>
          <p:cNvPr id="22" name="Shape 20"/>
          <p:cNvSpPr/>
          <p:nvPr/>
        </p:nvSpPr>
        <p:spPr>
          <a:xfrm>
            <a:off x="4389120" y="1764792"/>
            <a:ext cx="3611880" cy="310896"/>
          </a:xfrm>
          <a:prstGeom prst="rect">
            <a:avLst/>
          </a:prstGeom>
          <a:solidFill>
            <a:srgbClr val="1C7293"/>
          </a:solidFill>
          <a:ln/>
        </p:spPr>
      </p:sp>
      <p:sp>
        <p:nvSpPr>
          <p:cNvPr id="23" name="Text 21"/>
          <p:cNvSpPr/>
          <p:nvPr/>
        </p:nvSpPr>
        <p:spPr>
          <a:xfrm>
            <a:off x="4617720" y="1417320"/>
            <a:ext cx="3154680" cy="658368"/>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Auth &amp; Execution</a:t>
            </a:r>
            <a:endParaRPr lang="en-US" sz="1500" dirty="0"/>
          </a:p>
        </p:txBody>
      </p:sp>
      <p:sp>
        <p:nvSpPr>
          <p:cNvPr id="24" name="Shape 22"/>
          <p:cNvSpPr/>
          <p:nvPr/>
        </p:nvSpPr>
        <p:spPr>
          <a:xfrm>
            <a:off x="4617720" y="2331720"/>
            <a:ext cx="182880" cy="182880"/>
          </a:xfrm>
          <a:prstGeom prst="ellipse">
            <a:avLst/>
          </a:prstGeom>
          <a:solidFill>
            <a:srgbClr val="1C7293"/>
          </a:solidFill>
          <a:ln/>
        </p:spPr>
      </p:sp>
      <p:sp>
        <p:nvSpPr>
          <p:cNvPr id="25" name="Text 23"/>
          <p:cNvSpPr/>
          <p:nvPr/>
        </p:nvSpPr>
        <p:spPr>
          <a:xfrm>
            <a:off x="4937760" y="2231136"/>
            <a:ext cx="2834640" cy="41148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Passport.js</a:t>
            </a:r>
            <a:endParaRPr lang="en-US" sz="1200" dirty="0"/>
          </a:p>
        </p:txBody>
      </p:sp>
      <p:sp>
        <p:nvSpPr>
          <p:cNvPr id="26" name="Shape 24"/>
          <p:cNvSpPr/>
          <p:nvPr/>
        </p:nvSpPr>
        <p:spPr>
          <a:xfrm>
            <a:off x="4617720" y="2907792"/>
            <a:ext cx="182880" cy="182880"/>
          </a:xfrm>
          <a:prstGeom prst="ellipse">
            <a:avLst/>
          </a:prstGeom>
          <a:solidFill>
            <a:srgbClr val="1C7293"/>
          </a:solidFill>
          <a:ln/>
        </p:spPr>
      </p:sp>
      <p:sp>
        <p:nvSpPr>
          <p:cNvPr id="27" name="Text 25"/>
          <p:cNvSpPr/>
          <p:nvPr/>
        </p:nvSpPr>
        <p:spPr>
          <a:xfrm>
            <a:off x="4937760" y="2807208"/>
            <a:ext cx="2834640" cy="41148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Google OAuth 2.0</a:t>
            </a:r>
            <a:endParaRPr lang="en-US" sz="1200" dirty="0"/>
          </a:p>
        </p:txBody>
      </p:sp>
      <p:sp>
        <p:nvSpPr>
          <p:cNvPr id="28" name="Shape 26"/>
          <p:cNvSpPr/>
          <p:nvPr/>
        </p:nvSpPr>
        <p:spPr>
          <a:xfrm>
            <a:off x="4617720" y="3483864"/>
            <a:ext cx="182880" cy="182880"/>
          </a:xfrm>
          <a:prstGeom prst="ellipse">
            <a:avLst/>
          </a:prstGeom>
          <a:solidFill>
            <a:srgbClr val="1C7293"/>
          </a:solidFill>
          <a:ln/>
        </p:spPr>
      </p:sp>
      <p:sp>
        <p:nvSpPr>
          <p:cNvPr id="29" name="Text 27"/>
          <p:cNvSpPr/>
          <p:nvPr/>
        </p:nvSpPr>
        <p:spPr>
          <a:xfrm>
            <a:off x="4937760" y="3383280"/>
            <a:ext cx="2834640" cy="41148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JWT (jsonwebtoken)</a:t>
            </a:r>
            <a:endParaRPr lang="en-US" sz="1200" dirty="0"/>
          </a:p>
        </p:txBody>
      </p:sp>
      <p:sp>
        <p:nvSpPr>
          <p:cNvPr id="30" name="Shape 28"/>
          <p:cNvSpPr/>
          <p:nvPr/>
        </p:nvSpPr>
        <p:spPr>
          <a:xfrm>
            <a:off x="4617720" y="4059936"/>
            <a:ext cx="182880" cy="182880"/>
          </a:xfrm>
          <a:prstGeom prst="ellipse">
            <a:avLst/>
          </a:prstGeom>
          <a:solidFill>
            <a:srgbClr val="1C7293"/>
          </a:solidFill>
          <a:ln/>
        </p:spPr>
      </p:sp>
      <p:sp>
        <p:nvSpPr>
          <p:cNvPr id="31" name="Text 29"/>
          <p:cNvSpPr/>
          <p:nvPr/>
        </p:nvSpPr>
        <p:spPr>
          <a:xfrm>
            <a:off x="4937760" y="3959352"/>
            <a:ext cx="2834640" cy="41148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Judge0 (60+ languages)</a:t>
            </a:r>
            <a:endParaRPr lang="en-US" sz="1200" dirty="0"/>
          </a:p>
        </p:txBody>
      </p:sp>
      <p:sp>
        <p:nvSpPr>
          <p:cNvPr id="32" name="Shape 30"/>
          <p:cNvSpPr/>
          <p:nvPr/>
        </p:nvSpPr>
        <p:spPr>
          <a:xfrm>
            <a:off x="8229600" y="1417320"/>
            <a:ext cx="3611880" cy="4709160"/>
          </a:xfrm>
          <a:prstGeom prst="roundRect">
            <a:avLst>
              <a:gd name="adj" fmla="val 2532"/>
            </a:avLst>
          </a:prstGeom>
          <a:solidFill>
            <a:srgbClr val="F4F8FA"/>
          </a:solidFill>
          <a:ln w="12700">
            <a:solidFill>
              <a:srgbClr val="D9E3E8"/>
            </a:solidFill>
            <a:prstDash val="solid"/>
          </a:ln>
        </p:spPr>
      </p:sp>
      <p:sp>
        <p:nvSpPr>
          <p:cNvPr id="33" name="Shape 31"/>
          <p:cNvSpPr/>
          <p:nvPr/>
        </p:nvSpPr>
        <p:spPr>
          <a:xfrm>
            <a:off x="8229600" y="1417320"/>
            <a:ext cx="3611880" cy="658368"/>
          </a:xfrm>
          <a:prstGeom prst="roundRect">
            <a:avLst>
              <a:gd name="adj" fmla="val 13889"/>
            </a:avLst>
          </a:prstGeom>
          <a:solidFill>
            <a:srgbClr val="17203A"/>
          </a:solidFill>
          <a:ln/>
        </p:spPr>
      </p:sp>
      <p:sp>
        <p:nvSpPr>
          <p:cNvPr id="34" name="Shape 32"/>
          <p:cNvSpPr/>
          <p:nvPr/>
        </p:nvSpPr>
        <p:spPr>
          <a:xfrm>
            <a:off x="8229600" y="1764792"/>
            <a:ext cx="3611880" cy="310896"/>
          </a:xfrm>
          <a:prstGeom prst="rect">
            <a:avLst/>
          </a:prstGeom>
          <a:solidFill>
            <a:srgbClr val="17203A"/>
          </a:solidFill>
          <a:ln/>
        </p:spPr>
      </p:sp>
      <p:sp>
        <p:nvSpPr>
          <p:cNvPr id="35" name="Text 33"/>
          <p:cNvSpPr/>
          <p:nvPr/>
        </p:nvSpPr>
        <p:spPr>
          <a:xfrm>
            <a:off x="8458200" y="1417320"/>
            <a:ext cx="3154680" cy="658368"/>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DevOps &amp; Cloud</a:t>
            </a:r>
            <a:endParaRPr lang="en-US" sz="1500" dirty="0"/>
          </a:p>
        </p:txBody>
      </p:sp>
      <p:sp>
        <p:nvSpPr>
          <p:cNvPr id="36" name="Shape 34"/>
          <p:cNvSpPr/>
          <p:nvPr/>
        </p:nvSpPr>
        <p:spPr>
          <a:xfrm>
            <a:off x="8458200" y="2331720"/>
            <a:ext cx="182880" cy="182880"/>
          </a:xfrm>
          <a:prstGeom prst="ellipse">
            <a:avLst/>
          </a:prstGeom>
          <a:solidFill>
            <a:srgbClr val="17203A"/>
          </a:solidFill>
          <a:ln/>
        </p:spPr>
      </p:sp>
      <p:sp>
        <p:nvSpPr>
          <p:cNvPr id="37" name="Text 35"/>
          <p:cNvSpPr/>
          <p:nvPr/>
        </p:nvSpPr>
        <p:spPr>
          <a:xfrm>
            <a:off x="8778240" y="2231136"/>
            <a:ext cx="2834640" cy="41148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Docker + Compose</a:t>
            </a:r>
            <a:endParaRPr lang="en-US" sz="1200" dirty="0"/>
          </a:p>
        </p:txBody>
      </p:sp>
      <p:sp>
        <p:nvSpPr>
          <p:cNvPr id="38" name="Shape 36"/>
          <p:cNvSpPr/>
          <p:nvPr/>
        </p:nvSpPr>
        <p:spPr>
          <a:xfrm>
            <a:off x="8458200" y="2907792"/>
            <a:ext cx="182880" cy="182880"/>
          </a:xfrm>
          <a:prstGeom prst="ellipse">
            <a:avLst/>
          </a:prstGeom>
          <a:solidFill>
            <a:srgbClr val="17203A"/>
          </a:solidFill>
          <a:ln/>
        </p:spPr>
      </p:sp>
      <p:sp>
        <p:nvSpPr>
          <p:cNvPr id="39" name="Text 37"/>
          <p:cNvSpPr/>
          <p:nvPr/>
        </p:nvSpPr>
        <p:spPr>
          <a:xfrm>
            <a:off x="8778240" y="2807208"/>
            <a:ext cx="2834640" cy="41148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GitHub Actions</a:t>
            </a:r>
            <a:endParaRPr lang="en-US" sz="1200" dirty="0"/>
          </a:p>
        </p:txBody>
      </p:sp>
      <p:sp>
        <p:nvSpPr>
          <p:cNvPr id="40" name="Shape 38"/>
          <p:cNvSpPr/>
          <p:nvPr/>
        </p:nvSpPr>
        <p:spPr>
          <a:xfrm>
            <a:off x="8458200" y="3483864"/>
            <a:ext cx="182880" cy="182880"/>
          </a:xfrm>
          <a:prstGeom prst="ellipse">
            <a:avLst/>
          </a:prstGeom>
          <a:solidFill>
            <a:srgbClr val="17203A"/>
          </a:solidFill>
          <a:ln/>
        </p:spPr>
      </p:sp>
      <p:sp>
        <p:nvSpPr>
          <p:cNvPr id="41" name="Text 39"/>
          <p:cNvSpPr/>
          <p:nvPr/>
        </p:nvSpPr>
        <p:spPr>
          <a:xfrm>
            <a:off x="8778240" y="3383280"/>
            <a:ext cx="2834640" cy="41148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DockerHub Registry</a:t>
            </a:r>
            <a:endParaRPr lang="en-US" sz="1200" dirty="0"/>
          </a:p>
        </p:txBody>
      </p:sp>
      <p:sp>
        <p:nvSpPr>
          <p:cNvPr id="42" name="Shape 40"/>
          <p:cNvSpPr/>
          <p:nvPr/>
        </p:nvSpPr>
        <p:spPr>
          <a:xfrm>
            <a:off x="8458200" y="4059936"/>
            <a:ext cx="182880" cy="182880"/>
          </a:xfrm>
          <a:prstGeom prst="ellipse">
            <a:avLst/>
          </a:prstGeom>
          <a:solidFill>
            <a:srgbClr val="17203A"/>
          </a:solidFill>
          <a:ln/>
        </p:spPr>
      </p:sp>
      <p:sp>
        <p:nvSpPr>
          <p:cNvPr id="43" name="Text 41"/>
          <p:cNvSpPr/>
          <p:nvPr/>
        </p:nvSpPr>
        <p:spPr>
          <a:xfrm>
            <a:off x="8778240" y="3959352"/>
            <a:ext cx="2834640" cy="41148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AWS EC2</a:t>
            </a:r>
            <a:endParaRPr lang="en-US" sz="1200" dirty="0"/>
          </a:p>
        </p:txBody>
      </p:sp>
      <p:sp>
        <p:nvSpPr>
          <p:cNvPr id="44" name="Shape 42"/>
          <p:cNvSpPr/>
          <p:nvPr/>
        </p:nvSpPr>
        <p:spPr>
          <a:xfrm>
            <a:off x="8458200" y="4636008"/>
            <a:ext cx="182880" cy="182880"/>
          </a:xfrm>
          <a:prstGeom prst="ellipse">
            <a:avLst/>
          </a:prstGeom>
          <a:solidFill>
            <a:srgbClr val="17203A"/>
          </a:solidFill>
          <a:ln/>
        </p:spPr>
      </p:sp>
      <p:sp>
        <p:nvSpPr>
          <p:cNvPr id="45" name="Text 43"/>
          <p:cNvSpPr/>
          <p:nvPr/>
        </p:nvSpPr>
        <p:spPr>
          <a:xfrm>
            <a:off x="8778240" y="4535424"/>
            <a:ext cx="2834640" cy="41148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Kubernetes</a:t>
            </a:r>
            <a:endParaRPr lang="en-US" sz="1200" dirty="0"/>
          </a:p>
        </p:txBody>
      </p:sp>
      <p:sp>
        <p:nvSpPr>
          <p:cNvPr id="46" name="Shape 44"/>
          <p:cNvSpPr/>
          <p:nvPr/>
        </p:nvSpPr>
        <p:spPr>
          <a:xfrm>
            <a:off x="8458200" y="5212080"/>
            <a:ext cx="182880" cy="182880"/>
          </a:xfrm>
          <a:prstGeom prst="ellipse">
            <a:avLst/>
          </a:prstGeom>
          <a:solidFill>
            <a:srgbClr val="17203A"/>
          </a:solidFill>
          <a:ln/>
        </p:spPr>
      </p:sp>
      <p:sp>
        <p:nvSpPr>
          <p:cNvPr id="47" name="Text 45"/>
          <p:cNvSpPr/>
          <p:nvPr/>
        </p:nvSpPr>
        <p:spPr>
          <a:xfrm>
            <a:off x="8778240" y="5111496"/>
            <a:ext cx="2834640" cy="41148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DuckDNS + Caddy</a:t>
            </a:r>
            <a:endParaRPr lang="en-US" sz="1200" dirty="0"/>
          </a:p>
        </p:txBody>
      </p:sp>
      <p:sp>
        <p:nvSpPr>
          <p:cNvPr id="48" name="Text 46"/>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065A82"/>
                </a:solidFill>
                <a:latin typeface="Calibri" pitchFamily="34" charset="0"/>
                <a:ea typeface="Calibri" pitchFamily="34" charset="-122"/>
                <a:cs typeface="Calibri" pitchFamily="34" charset="-120"/>
              </a:rPr>
              <a:t>WEB DEVELOPMENT · FRONTEND (1/2)</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React, Vite &amp; Tailwind CSS</a:t>
            </a:r>
            <a:endParaRPr lang="en-US" sz="2800" dirty="0"/>
          </a:p>
        </p:txBody>
      </p:sp>
      <p:sp>
        <p:nvSpPr>
          <p:cNvPr id="4" name="Shape 2"/>
          <p:cNvSpPr/>
          <p:nvPr/>
        </p:nvSpPr>
        <p:spPr>
          <a:xfrm>
            <a:off x="548640" y="1417320"/>
            <a:ext cx="3520440" cy="4709160"/>
          </a:xfrm>
          <a:prstGeom prst="roundRect">
            <a:avLst>
              <a:gd name="adj" fmla="val 2338"/>
            </a:avLst>
          </a:prstGeom>
          <a:solidFill>
            <a:srgbClr val="FFFFFF"/>
          </a:solidFill>
          <a:ln w="12700">
            <a:solidFill>
              <a:srgbClr val="D9E3E8"/>
            </a:solidFill>
            <a:prstDash val="solid"/>
          </a:ln>
        </p:spPr>
      </p:sp>
      <p:sp>
        <p:nvSpPr>
          <p:cNvPr id="5" name="Shape 3"/>
          <p:cNvSpPr/>
          <p:nvPr/>
        </p:nvSpPr>
        <p:spPr>
          <a:xfrm>
            <a:off x="548640" y="1417320"/>
            <a:ext cx="3520440" cy="502920"/>
          </a:xfrm>
          <a:prstGeom prst="roundRect">
            <a:avLst>
              <a:gd name="adj" fmla="val 16364"/>
            </a:avLst>
          </a:prstGeom>
          <a:solidFill>
            <a:srgbClr val="065A82"/>
          </a:solidFill>
          <a:ln/>
        </p:spPr>
      </p:sp>
      <p:sp>
        <p:nvSpPr>
          <p:cNvPr id="6" name="Shape 4"/>
          <p:cNvSpPr/>
          <p:nvPr/>
        </p:nvSpPr>
        <p:spPr>
          <a:xfrm>
            <a:off x="548640" y="1673352"/>
            <a:ext cx="3520440" cy="246888"/>
          </a:xfrm>
          <a:prstGeom prst="rect">
            <a:avLst/>
          </a:prstGeom>
          <a:solidFill>
            <a:srgbClr val="065A82"/>
          </a:solidFill>
          <a:ln/>
        </p:spPr>
      </p:sp>
      <p:sp>
        <p:nvSpPr>
          <p:cNvPr id="7" name="Text 5"/>
          <p:cNvSpPr/>
          <p:nvPr/>
        </p:nvSpPr>
        <p:spPr>
          <a:xfrm>
            <a:off x="731520" y="1417320"/>
            <a:ext cx="3154680" cy="50292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React 18</a:t>
            </a:r>
            <a:endParaRPr lang="en-US" sz="1500" dirty="0"/>
          </a:p>
        </p:txBody>
      </p:sp>
      <p:sp>
        <p:nvSpPr>
          <p:cNvPr id="8" name="Text 6"/>
          <p:cNvSpPr/>
          <p:nvPr/>
        </p:nvSpPr>
        <p:spPr>
          <a:xfrm>
            <a:off x="731520" y="2057400"/>
            <a:ext cx="3154680" cy="548640"/>
          </a:xfrm>
          <a:prstGeom prst="rect">
            <a:avLst/>
          </a:prstGeom>
          <a:noFill/>
          <a:ln/>
        </p:spPr>
        <p:txBody>
          <a:bodyPr wrap="square" rtlCol="0" anchor="ctr"/>
          <a:lstStyle/>
          <a:p>
            <a:pPr indent="0" marL="0">
              <a:lnSpc>
                <a:spcPct val="120000"/>
              </a:lnSpc>
              <a:buNone/>
            </a:pPr>
            <a:r>
              <a:rPr lang="en-US" sz="1100" i="1" dirty="0">
                <a:solidFill>
                  <a:srgbClr val="5B6B7A"/>
                </a:solidFill>
                <a:latin typeface="Calibri" pitchFamily="34" charset="0"/>
                <a:ea typeface="Calibri" pitchFamily="34" charset="-122"/>
                <a:cs typeface="Calibri" pitchFamily="34" charset="-120"/>
              </a:rPr>
              <a:t>Component-based UI library built around a virtual DOM.</a:t>
            </a:r>
            <a:endParaRPr lang="en-US" sz="1100" dirty="0"/>
          </a:p>
        </p:txBody>
      </p:sp>
      <p:sp>
        <p:nvSpPr>
          <p:cNvPr id="9" name="Text 7"/>
          <p:cNvSpPr/>
          <p:nvPr/>
        </p:nvSpPr>
        <p:spPr>
          <a:xfrm>
            <a:off x="731520" y="2697480"/>
            <a:ext cx="3154680" cy="256032"/>
          </a:xfrm>
          <a:prstGeom prst="rect">
            <a:avLst/>
          </a:prstGeom>
          <a:noFill/>
          <a:ln/>
        </p:spPr>
        <p:txBody>
          <a:bodyPr wrap="square" rtlCol="0" anchor="ctr"/>
          <a:lstStyle/>
          <a:p>
            <a:pPr indent="0" marL="0">
              <a:buNone/>
            </a:pPr>
            <a:r>
              <a:rPr lang="en-US" sz="1000" b="1" spc="100" kern="0" dirty="0">
                <a:solidFill>
                  <a:srgbClr val="065A82"/>
                </a:solidFill>
                <a:latin typeface="Calibri" pitchFamily="34" charset="0"/>
                <a:ea typeface="Calibri" pitchFamily="34" charset="-122"/>
                <a:cs typeface="Calibri" pitchFamily="34" charset="-120"/>
              </a:rPr>
              <a:t>WHY USED</a:t>
            </a:r>
            <a:endParaRPr lang="en-US" sz="1000" dirty="0"/>
          </a:p>
        </p:txBody>
      </p:sp>
      <p:sp>
        <p:nvSpPr>
          <p:cNvPr id="10" name="Text 8"/>
          <p:cNvSpPr/>
          <p:nvPr/>
        </p:nvSpPr>
        <p:spPr>
          <a:xfrm>
            <a:off x="731520" y="2953512"/>
            <a:ext cx="3154680" cy="1371600"/>
          </a:xfrm>
          <a:prstGeom prst="rect">
            <a:avLst/>
          </a:prstGeom>
          <a:noFill/>
          <a:ln/>
        </p:spPr>
        <p:txBody>
          <a:bodyPr wrap="square" rtlCol="0" anchor="ctr"/>
          <a:lstStyle/>
          <a:p>
            <a:pPr indent="0" marL="0">
              <a:lnSpc>
                <a:spcPct val="122000"/>
              </a:lnSpc>
              <a:buNone/>
            </a:pPr>
            <a:r>
              <a:rPr lang="en-US" sz="1150" dirty="0">
                <a:solidFill>
                  <a:srgbClr val="16232E"/>
                </a:solidFill>
                <a:latin typeface="Calibri" pitchFamily="34" charset="0"/>
                <a:ea typeface="Calibri" pitchFamily="34" charset="-122"/>
                <a:cs typeface="Calibri" pitchFamily="34" charset="-120"/>
              </a:rPr>
              <a:t>Reusable components for editor panes, problem lists, and dashboards; huge ecosystem and hooks-based state for an editor-heavy interface.</a:t>
            </a:r>
            <a:endParaRPr lang="en-US" sz="1150" dirty="0"/>
          </a:p>
        </p:txBody>
      </p:sp>
      <p:sp>
        <p:nvSpPr>
          <p:cNvPr id="11" name="Text 9"/>
          <p:cNvSpPr/>
          <p:nvPr/>
        </p:nvSpPr>
        <p:spPr>
          <a:xfrm>
            <a:off x="731520" y="4480560"/>
            <a:ext cx="3154680" cy="256032"/>
          </a:xfrm>
          <a:prstGeom prst="rect">
            <a:avLst/>
          </a:prstGeom>
          <a:noFill/>
          <a:ln/>
        </p:spPr>
        <p:txBody>
          <a:bodyPr wrap="square" rtlCol="0" anchor="ctr"/>
          <a:lstStyle/>
          <a:p>
            <a:pPr indent="0" marL="0">
              <a:buNone/>
            </a:pPr>
            <a:r>
              <a:rPr lang="en-US" sz="1000" b="1" spc="100" kern="0" dirty="0">
                <a:solidFill>
                  <a:srgbClr val="065A82"/>
                </a:solidFill>
                <a:latin typeface="Calibri" pitchFamily="34" charset="0"/>
                <a:ea typeface="Calibri" pitchFamily="34" charset="-122"/>
                <a:cs typeface="Calibri" pitchFamily="34" charset="-120"/>
              </a:rPr>
              <a:t>ALTERNATIVES CONSIDERED</a:t>
            </a:r>
            <a:endParaRPr lang="en-US" sz="1000" dirty="0"/>
          </a:p>
        </p:txBody>
      </p:sp>
      <p:sp>
        <p:nvSpPr>
          <p:cNvPr id="12" name="Text 10"/>
          <p:cNvSpPr/>
          <p:nvPr/>
        </p:nvSpPr>
        <p:spPr>
          <a:xfrm>
            <a:off x="731520" y="4736592"/>
            <a:ext cx="3154680" cy="1234440"/>
          </a:xfrm>
          <a:prstGeom prst="rect">
            <a:avLst/>
          </a:prstGeom>
          <a:noFill/>
          <a:ln/>
        </p:spPr>
        <p:txBody>
          <a:bodyPr wrap="square" rtlCol="0" anchor="ctr"/>
          <a:lstStyle/>
          <a:p>
            <a:pPr indent="0" marL="0">
              <a:lnSpc>
                <a:spcPct val="120000"/>
              </a:lnSpc>
              <a:buNone/>
            </a:pPr>
            <a:r>
              <a:rPr lang="en-US" sz="1100" dirty="0">
                <a:solidFill>
                  <a:srgbClr val="5B6B7A"/>
                </a:solidFill>
                <a:latin typeface="Calibri" pitchFamily="34" charset="0"/>
                <a:ea typeface="Calibri" pitchFamily="34" charset="-122"/>
                <a:cs typeface="Calibri" pitchFamily="34" charset="-120"/>
              </a:rPr>
              <a:t>Considered vs. Vue and Angular — React won on ecosystem size, hiring familiarity, and first-class Monaco integration examples.</a:t>
            </a:r>
            <a:endParaRPr lang="en-US" sz="1100" dirty="0"/>
          </a:p>
        </p:txBody>
      </p:sp>
      <p:sp>
        <p:nvSpPr>
          <p:cNvPr id="13" name="Shape 11"/>
          <p:cNvSpPr/>
          <p:nvPr/>
        </p:nvSpPr>
        <p:spPr>
          <a:xfrm>
            <a:off x="4270248" y="1417320"/>
            <a:ext cx="3520440" cy="4709160"/>
          </a:xfrm>
          <a:prstGeom prst="roundRect">
            <a:avLst>
              <a:gd name="adj" fmla="val 2338"/>
            </a:avLst>
          </a:prstGeom>
          <a:solidFill>
            <a:srgbClr val="FFFFFF"/>
          </a:solidFill>
          <a:ln w="12700">
            <a:solidFill>
              <a:srgbClr val="D9E3E8"/>
            </a:solidFill>
            <a:prstDash val="solid"/>
          </a:ln>
        </p:spPr>
      </p:sp>
      <p:sp>
        <p:nvSpPr>
          <p:cNvPr id="14" name="Shape 12"/>
          <p:cNvSpPr/>
          <p:nvPr/>
        </p:nvSpPr>
        <p:spPr>
          <a:xfrm>
            <a:off x="4270248" y="1417320"/>
            <a:ext cx="3520440" cy="502920"/>
          </a:xfrm>
          <a:prstGeom prst="roundRect">
            <a:avLst>
              <a:gd name="adj" fmla="val 16364"/>
            </a:avLst>
          </a:prstGeom>
          <a:solidFill>
            <a:srgbClr val="1C7293"/>
          </a:solidFill>
          <a:ln/>
        </p:spPr>
      </p:sp>
      <p:sp>
        <p:nvSpPr>
          <p:cNvPr id="15" name="Shape 13"/>
          <p:cNvSpPr/>
          <p:nvPr/>
        </p:nvSpPr>
        <p:spPr>
          <a:xfrm>
            <a:off x="4270248" y="1673352"/>
            <a:ext cx="3520440" cy="246888"/>
          </a:xfrm>
          <a:prstGeom prst="rect">
            <a:avLst/>
          </a:prstGeom>
          <a:solidFill>
            <a:srgbClr val="1C7293"/>
          </a:solidFill>
          <a:ln/>
        </p:spPr>
      </p:sp>
      <p:sp>
        <p:nvSpPr>
          <p:cNvPr id="16" name="Text 14"/>
          <p:cNvSpPr/>
          <p:nvPr/>
        </p:nvSpPr>
        <p:spPr>
          <a:xfrm>
            <a:off x="4453128" y="1417320"/>
            <a:ext cx="3154680" cy="50292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Vite</a:t>
            </a:r>
            <a:endParaRPr lang="en-US" sz="1500" dirty="0"/>
          </a:p>
        </p:txBody>
      </p:sp>
      <p:sp>
        <p:nvSpPr>
          <p:cNvPr id="17" name="Text 15"/>
          <p:cNvSpPr/>
          <p:nvPr/>
        </p:nvSpPr>
        <p:spPr>
          <a:xfrm>
            <a:off x="4453128" y="2057400"/>
            <a:ext cx="3154680" cy="548640"/>
          </a:xfrm>
          <a:prstGeom prst="rect">
            <a:avLst/>
          </a:prstGeom>
          <a:noFill/>
          <a:ln/>
        </p:spPr>
        <p:txBody>
          <a:bodyPr wrap="square" rtlCol="0" anchor="ctr"/>
          <a:lstStyle/>
          <a:p>
            <a:pPr indent="0" marL="0">
              <a:lnSpc>
                <a:spcPct val="120000"/>
              </a:lnSpc>
              <a:buNone/>
            </a:pPr>
            <a:r>
              <a:rPr lang="en-US" sz="1100" i="1" dirty="0">
                <a:solidFill>
                  <a:srgbClr val="5B6B7A"/>
                </a:solidFill>
                <a:latin typeface="Calibri" pitchFamily="34" charset="0"/>
                <a:ea typeface="Calibri" pitchFamily="34" charset="-122"/>
                <a:cs typeface="Calibri" pitchFamily="34" charset="-120"/>
              </a:rPr>
              <a:t>Next-gen frontend build tool using native ES modules.</a:t>
            </a:r>
            <a:endParaRPr lang="en-US" sz="1100" dirty="0"/>
          </a:p>
        </p:txBody>
      </p:sp>
      <p:sp>
        <p:nvSpPr>
          <p:cNvPr id="18" name="Text 16"/>
          <p:cNvSpPr/>
          <p:nvPr/>
        </p:nvSpPr>
        <p:spPr>
          <a:xfrm>
            <a:off x="4453128" y="2697480"/>
            <a:ext cx="3154680" cy="256032"/>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WHY USED</a:t>
            </a:r>
            <a:endParaRPr lang="en-US" sz="1000" dirty="0"/>
          </a:p>
        </p:txBody>
      </p:sp>
      <p:sp>
        <p:nvSpPr>
          <p:cNvPr id="19" name="Text 17"/>
          <p:cNvSpPr/>
          <p:nvPr/>
        </p:nvSpPr>
        <p:spPr>
          <a:xfrm>
            <a:off x="4453128" y="2953512"/>
            <a:ext cx="3154680" cy="1371600"/>
          </a:xfrm>
          <a:prstGeom prst="rect">
            <a:avLst/>
          </a:prstGeom>
          <a:noFill/>
          <a:ln/>
        </p:spPr>
        <p:txBody>
          <a:bodyPr wrap="square" rtlCol="0" anchor="ctr"/>
          <a:lstStyle/>
          <a:p>
            <a:pPr indent="0" marL="0">
              <a:lnSpc>
                <a:spcPct val="122000"/>
              </a:lnSpc>
              <a:buNone/>
            </a:pPr>
            <a:r>
              <a:rPr lang="en-US" sz="1150" dirty="0">
                <a:solidFill>
                  <a:srgbClr val="16232E"/>
                </a:solidFill>
                <a:latin typeface="Calibri" pitchFamily="34" charset="0"/>
                <a:ea typeface="Calibri" pitchFamily="34" charset="-122"/>
                <a:cs typeface="Calibri" pitchFamily="34" charset="-120"/>
              </a:rPr>
              <a:t>Near-instant dev server cold start and hot-module-reload, replacing the slower Webpack-based CRA workflow during active development.</a:t>
            </a:r>
            <a:endParaRPr lang="en-US" sz="1150" dirty="0"/>
          </a:p>
        </p:txBody>
      </p:sp>
      <p:sp>
        <p:nvSpPr>
          <p:cNvPr id="20" name="Text 18"/>
          <p:cNvSpPr/>
          <p:nvPr/>
        </p:nvSpPr>
        <p:spPr>
          <a:xfrm>
            <a:off x="4453128" y="4480560"/>
            <a:ext cx="3154680" cy="256032"/>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ALTERNATIVES CONSIDERED</a:t>
            </a:r>
            <a:endParaRPr lang="en-US" sz="1000" dirty="0"/>
          </a:p>
        </p:txBody>
      </p:sp>
      <p:sp>
        <p:nvSpPr>
          <p:cNvPr id="21" name="Text 19"/>
          <p:cNvSpPr/>
          <p:nvPr/>
        </p:nvSpPr>
        <p:spPr>
          <a:xfrm>
            <a:off x="4453128" y="4736592"/>
            <a:ext cx="3154680" cy="1234440"/>
          </a:xfrm>
          <a:prstGeom prst="rect">
            <a:avLst/>
          </a:prstGeom>
          <a:noFill/>
          <a:ln/>
        </p:spPr>
        <p:txBody>
          <a:bodyPr wrap="square" rtlCol="0" anchor="ctr"/>
          <a:lstStyle/>
          <a:p>
            <a:pPr indent="0" marL="0">
              <a:lnSpc>
                <a:spcPct val="120000"/>
              </a:lnSpc>
              <a:buNone/>
            </a:pPr>
            <a:r>
              <a:rPr lang="en-US" sz="1100" dirty="0">
                <a:solidFill>
                  <a:srgbClr val="5B6B7A"/>
                </a:solidFill>
                <a:latin typeface="Calibri" pitchFamily="34" charset="0"/>
                <a:ea typeface="Calibri" pitchFamily="34" charset="-122"/>
                <a:cs typeface="Calibri" pitchFamily="34" charset="-120"/>
              </a:rPr>
              <a:t>Considered vs. Create React App — Vite chosen for 10–20x faster local iteration and simpler config.</a:t>
            </a:r>
            <a:endParaRPr lang="en-US" sz="1100" dirty="0"/>
          </a:p>
        </p:txBody>
      </p:sp>
      <p:sp>
        <p:nvSpPr>
          <p:cNvPr id="22" name="Shape 20"/>
          <p:cNvSpPr/>
          <p:nvPr/>
        </p:nvSpPr>
        <p:spPr>
          <a:xfrm>
            <a:off x="7991856" y="1417320"/>
            <a:ext cx="3520440" cy="4709160"/>
          </a:xfrm>
          <a:prstGeom prst="roundRect">
            <a:avLst>
              <a:gd name="adj" fmla="val 2338"/>
            </a:avLst>
          </a:prstGeom>
          <a:solidFill>
            <a:srgbClr val="FFFFFF"/>
          </a:solidFill>
          <a:ln w="12700">
            <a:solidFill>
              <a:srgbClr val="D9E3E8"/>
            </a:solidFill>
            <a:prstDash val="solid"/>
          </a:ln>
        </p:spPr>
      </p:sp>
      <p:sp>
        <p:nvSpPr>
          <p:cNvPr id="23" name="Shape 21"/>
          <p:cNvSpPr/>
          <p:nvPr/>
        </p:nvSpPr>
        <p:spPr>
          <a:xfrm>
            <a:off x="7991856" y="1417320"/>
            <a:ext cx="3520440" cy="502920"/>
          </a:xfrm>
          <a:prstGeom prst="roundRect">
            <a:avLst>
              <a:gd name="adj" fmla="val 16364"/>
            </a:avLst>
          </a:prstGeom>
          <a:solidFill>
            <a:srgbClr val="17203A"/>
          </a:solidFill>
          <a:ln/>
        </p:spPr>
      </p:sp>
      <p:sp>
        <p:nvSpPr>
          <p:cNvPr id="24" name="Shape 22"/>
          <p:cNvSpPr/>
          <p:nvPr/>
        </p:nvSpPr>
        <p:spPr>
          <a:xfrm>
            <a:off x="7991856" y="1673352"/>
            <a:ext cx="3520440" cy="246888"/>
          </a:xfrm>
          <a:prstGeom prst="rect">
            <a:avLst/>
          </a:prstGeom>
          <a:solidFill>
            <a:srgbClr val="17203A"/>
          </a:solidFill>
          <a:ln/>
        </p:spPr>
      </p:sp>
      <p:sp>
        <p:nvSpPr>
          <p:cNvPr id="25" name="Text 23"/>
          <p:cNvSpPr/>
          <p:nvPr/>
        </p:nvSpPr>
        <p:spPr>
          <a:xfrm>
            <a:off x="8174736" y="1417320"/>
            <a:ext cx="3154680" cy="50292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Tailwind CSS</a:t>
            </a:r>
            <a:endParaRPr lang="en-US" sz="1500" dirty="0"/>
          </a:p>
        </p:txBody>
      </p:sp>
      <p:sp>
        <p:nvSpPr>
          <p:cNvPr id="26" name="Text 24"/>
          <p:cNvSpPr/>
          <p:nvPr/>
        </p:nvSpPr>
        <p:spPr>
          <a:xfrm>
            <a:off x="8174736" y="2057400"/>
            <a:ext cx="3154680" cy="548640"/>
          </a:xfrm>
          <a:prstGeom prst="rect">
            <a:avLst/>
          </a:prstGeom>
          <a:noFill/>
          <a:ln/>
        </p:spPr>
        <p:txBody>
          <a:bodyPr wrap="square" rtlCol="0" anchor="ctr"/>
          <a:lstStyle/>
          <a:p>
            <a:pPr indent="0" marL="0">
              <a:lnSpc>
                <a:spcPct val="120000"/>
              </a:lnSpc>
              <a:buNone/>
            </a:pPr>
            <a:r>
              <a:rPr lang="en-US" sz="1100" i="1" dirty="0">
                <a:solidFill>
                  <a:srgbClr val="5B6B7A"/>
                </a:solidFill>
                <a:latin typeface="Calibri" pitchFamily="34" charset="0"/>
                <a:ea typeface="Calibri" pitchFamily="34" charset="-122"/>
                <a:cs typeface="Calibri" pitchFamily="34" charset="-120"/>
              </a:rPr>
              <a:t>Utility-first CSS framework, no separate stylesheet files.</a:t>
            </a:r>
            <a:endParaRPr lang="en-US" sz="1100" dirty="0"/>
          </a:p>
        </p:txBody>
      </p:sp>
      <p:sp>
        <p:nvSpPr>
          <p:cNvPr id="27" name="Text 25"/>
          <p:cNvSpPr/>
          <p:nvPr/>
        </p:nvSpPr>
        <p:spPr>
          <a:xfrm>
            <a:off x="8174736" y="2697480"/>
            <a:ext cx="3154680" cy="256032"/>
          </a:xfrm>
          <a:prstGeom prst="rect">
            <a:avLst/>
          </a:prstGeom>
          <a:noFill/>
          <a:ln/>
        </p:spPr>
        <p:txBody>
          <a:bodyPr wrap="square" rtlCol="0" anchor="ctr"/>
          <a:lstStyle/>
          <a:p>
            <a:pPr indent="0" marL="0">
              <a:buNone/>
            </a:pPr>
            <a:r>
              <a:rPr lang="en-US" sz="1000" b="1" spc="100" kern="0" dirty="0">
                <a:solidFill>
                  <a:srgbClr val="17203A"/>
                </a:solidFill>
                <a:latin typeface="Calibri" pitchFamily="34" charset="0"/>
                <a:ea typeface="Calibri" pitchFamily="34" charset="-122"/>
                <a:cs typeface="Calibri" pitchFamily="34" charset="-120"/>
              </a:rPr>
              <a:t>WHY USED</a:t>
            </a:r>
            <a:endParaRPr lang="en-US" sz="1000" dirty="0"/>
          </a:p>
        </p:txBody>
      </p:sp>
      <p:sp>
        <p:nvSpPr>
          <p:cNvPr id="28" name="Text 26"/>
          <p:cNvSpPr/>
          <p:nvPr/>
        </p:nvSpPr>
        <p:spPr>
          <a:xfrm>
            <a:off x="8174736" y="2953512"/>
            <a:ext cx="3154680" cy="1371600"/>
          </a:xfrm>
          <a:prstGeom prst="rect">
            <a:avLst/>
          </a:prstGeom>
          <a:noFill/>
          <a:ln/>
        </p:spPr>
        <p:txBody>
          <a:bodyPr wrap="square" rtlCol="0" anchor="ctr"/>
          <a:lstStyle/>
          <a:p>
            <a:pPr indent="0" marL="0">
              <a:lnSpc>
                <a:spcPct val="122000"/>
              </a:lnSpc>
              <a:buNone/>
            </a:pPr>
            <a:r>
              <a:rPr lang="en-US" sz="1150" dirty="0">
                <a:solidFill>
                  <a:srgbClr val="16232E"/>
                </a:solidFill>
                <a:latin typeface="Calibri" pitchFamily="34" charset="0"/>
                <a:ea typeface="Calibri" pitchFamily="34" charset="-122"/>
                <a:cs typeface="Calibri" pitchFamily="34" charset="-120"/>
              </a:rPr>
              <a:t>Rapid, consistent, responsive UI styling directly in JSX — critical for quickly iterating on the editor layout across breakpoints.</a:t>
            </a:r>
            <a:endParaRPr lang="en-US" sz="1150" dirty="0"/>
          </a:p>
        </p:txBody>
      </p:sp>
      <p:sp>
        <p:nvSpPr>
          <p:cNvPr id="29" name="Text 27"/>
          <p:cNvSpPr/>
          <p:nvPr/>
        </p:nvSpPr>
        <p:spPr>
          <a:xfrm>
            <a:off x="8174736" y="4480560"/>
            <a:ext cx="3154680" cy="256032"/>
          </a:xfrm>
          <a:prstGeom prst="rect">
            <a:avLst/>
          </a:prstGeom>
          <a:noFill/>
          <a:ln/>
        </p:spPr>
        <p:txBody>
          <a:bodyPr wrap="square" rtlCol="0" anchor="ctr"/>
          <a:lstStyle/>
          <a:p>
            <a:pPr indent="0" marL="0">
              <a:buNone/>
            </a:pPr>
            <a:r>
              <a:rPr lang="en-US" sz="1000" b="1" spc="100" kern="0" dirty="0">
                <a:solidFill>
                  <a:srgbClr val="17203A"/>
                </a:solidFill>
                <a:latin typeface="Calibri" pitchFamily="34" charset="0"/>
                <a:ea typeface="Calibri" pitchFamily="34" charset="-122"/>
                <a:cs typeface="Calibri" pitchFamily="34" charset="-120"/>
              </a:rPr>
              <a:t>ALTERNATIVES CONSIDERED</a:t>
            </a:r>
            <a:endParaRPr lang="en-US" sz="1000" dirty="0"/>
          </a:p>
        </p:txBody>
      </p:sp>
      <p:sp>
        <p:nvSpPr>
          <p:cNvPr id="30" name="Text 28"/>
          <p:cNvSpPr/>
          <p:nvPr/>
        </p:nvSpPr>
        <p:spPr>
          <a:xfrm>
            <a:off x="8174736" y="4736592"/>
            <a:ext cx="3154680" cy="1234440"/>
          </a:xfrm>
          <a:prstGeom prst="rect">
            <a:avLst/>
          </a:prstGeom>
          <a:noFill/>
          <a:ln/>
        </p:spPr>
        <p:txBody>
          <a:bodyPr wrap="square" rtlCol="0" anchor="ctr"/>
          <a:lstStyle/>
          <a:p>
            <a:pPr indent="0" marL="0">
              <a:lnSpc>
                <a:spcPct val="120000"/>
              </a:lnSpc>
              <a:buNone/>
            </a:pPr>
            <a:r>
              <a:rPr lang="en-US" sz="1100" dirty="0">
                <a:solidFill>
                  <a:srgbClr val="5B6B7A"/>
                </a:solidFill>
                <a:latin typeface="Calibri" pitchFamily="34" charset="0"/>
                <a:ea typeface="Calibri" pitchFamily="34" charset="-122"/>
                <a:cs typeface="Calibri" pitchFamily="34" charset="-120"/>
              </a:rPr>
              <a:t>Considered vs. plain CSS/SASS and Bootstrap — Tailwind chosen for design consistency without fighting component overrides.</a:t>
            </a:r>
            <a:endParaRPr lang="en-US" sz="1100" dirty="0"/>
          </a:p>
        </p:txBody>
      </p:sp>
      <p:sp>
        <p:nvSpPr>
          <p:cNvPr id="31" name="Text 29"/>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065A82"/>
                </a:solidFill>
                <a:latin typeface="Calibri" pitchFamily="34" charset="0"/>
                <a:ea typeface="Calibri" pitchFamily="34" charset="-122"/>
                <a:cs typeface="Calibri" pitchFamily="34" charset="-120"/>
              </a:rPr>
              <a:t>WEB DEVELOPMENT · FRONTEND (2/2)</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State Management &amp; Code Editor</a:t>
            </a:r>
            <a:endParaRPr lang="en-US" sz="2800" dirty="0"/>
          </a:p>
        </p:txBody>
      </p:sp>
      <p:sp>
        <p:nvSpPr>
          <p:cNvPr id="4" name="Shape 2"/>
          <p:cNvSpPr/>
          <p:nvPr/>
        </p:nvSpPr>
        <p:spPr>
          <a:xfrm>
            <a:off x="548640" y="1417320"/>
            <a:ext cx="5349240" cy="4526280"/>
          </a:xfrm>
          <a:prstGeom prst="roundRect">
            <a:avLst>
              <a:gd name="adj" fmla="val 2020"/>
            </a:avLst>
          </a:prstGeom>
          <a:solidFill>
            <a:srgbClr val="F4F8FA"/>
          </a:solidFill>
          <a:ln w="12700">
            <a:solidFill>
              <a:srgbClr val="D9E3E8"/>
            </a:solidFill>
            <a:prstDash val="solid"/>
          </a:ln>
        </p:spPr>
      </p:sp>
      <p:sp>
        <p:nvSpPr>
          <p:cNvPr id="5" name="Text 3"/>
          <p:cNvSpPr/>
          <p:nvPr/>
        </p:nvSpPr>
        <p:spPr>
          <a:xfrm>
            <a:off x="822960" y="1645920"/>
            <a:ext cx="3657600" cy="365760"/>
          </a:xfrm>
          <a:prstGeom prst="rect">
            <a:avLst/>
          </a:prstGeom>
          <a:noFill/>
          <a:ln/>
        </p:spPr>
        <p:txBody>
          <a:bodyPr wrap="square" rtlCol="0" anchor="ctr"/>
          <a:lstStyle/>
          <a:p>
            <a:pPr indent="0" marL="0">
              <a:buNone/>
            </a:pPr>
            <a:r>
              <a:rPr lang="en-US" sz="1700" b="1" dirty="0">
                <a:solidFill>
                  <a:srgbClr val="065A82"/>
                </a:solidFill>
                <a:latin typeface="Arial" pitchFamily="34" charset="0"/>
                <a:ea typeface="Arial" pitchFamily="34" charset="-122"/>
                <a:cs typeface="Arial" pitchFamily="34" charset="-120"/>
              </a:rPr>
              <a:t>ZUSTAND</a:t>
            </a:r>
            <a:endParaRPr lang="en-US" sz="1700" dirty="0"/>
          </a:p>
        </p:txBody>
      </p:sp>
      <p:sp>
        <p:nvSpPr>
          <p:cNvPr id="6" name="Text 4"/>
          <p:cNvSpPr/>
          <p:nvPr/>
        </p:nvSpPr>
        <p:spPr>
          <a:xfrm>
            <a:off x="822960" y="2057400"/>
            <a:ext cx="4754880" cy="777240"/>
          </a:xfrm>
          <a:prstGeom prst="rect">
            <a:avLst/>
          </a:prstGeom>
          <a:noFill/>
          <a:ln/>
        </p:spPr>
        <p:txBody>
          <a:bodyPr wrap="square" rtlCol="0" anchor="ctr"/>
          <a:lstStyle/>
          <a:p>
            <a:pPr indent="0" marL="0">
              <a:lnSpc>
                <a:spcPct val="120000"/>
              </a:lnSpc>
              <a:buNone/>
            </a:pPr>
            <a:r>
              <a:rPr lang="en-US" sz="1200" dirty="0">
                <a:solidFill>
                  <a:srgbClr val="5B6B7A"/>
                </a:solidFill>
                <a:latin typeface="Calibri" pitchFamily="34" charset="0"/>
                <a:ea typeface="Calibri" pitchFamily="34" charset="-122"/>
                <a:cs typeface="Calibri" pitchFamily="34" charset="-120"/>
              </a:rPr>
              <a:t>A tiny (~1KB) global state manager built on hooks, used for auth state, active file/tab state, and editor settings (theme, font size, language).</a:t>
            </a:r>
            <a:endParaRPr lang="en-US" sz="1200" dirty="0"/>
          </a:p>
        </p:txBody>
      </p:sp>
      <p:sp>
        <p:nvSpPr>
          <p:cNvPr id="7" name="Text 5"/>
          <p:cNvSpPr/>
          <p:nvPr/>
        </p:nvSpPr>
        <p:spPr>
          <a:xfrm>
            <a:off x="822960" y="2880360"/>
            <a:ext cx="4114800" cy="274320"/>
          </a:xfrm>
          <a:prstGeom prst="rect">
            <a:avLst/>
          </a:prstGeom>
          <a:noFill/>
          <a:ln/>
        </p:spPr>
        <p:txBody>
          <a:bodyPr wrap="square"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VS. REDUX / CONTEXT API</a:t>
            </a:r>
            <a:endParaRPr lang="en-US" sz="1050" dirty="0"/>
          </a:p>
        </p:txBody>
      </p:sp>
      <p:sp>
        <p:nvSpPr>
          <p:cNvPr id="8" name="Text 6"/>
          <p:cNvSpPr/>
          <p:nvPr/>
        </p:nvSpPr>
        <p:spPr>
          <a:xfrm>
            <a:off x="822960" y="3200400"/>
            <a:ext cx="914400" cy="274320"/>
          </a:xfrm>
          <a:prstGeom prst="rect">
            <a:avLst/>
          </a:prstGeom>
          <a:noFill/>
          <a:ln/>
        </p:spPr>
        <p:txBody>
          <a:bodyPr wrap="square" rtlCol="0" anchor="ctr"/>
          <a:lstStyle/>
          <a:p>
            <a:pPr indent="0" marL="0">
              <a:buNone/>
            </a:pPr>
            <a:endParaRPr lang="en-US" dirty="0"/>
          </a:p>
        </p:txBody>
      </p:sp>
      <p:sp>
        <p:nvSpPr>
          <p:cNvPr id="9" name="Text 7"/>
          <p:cNvSpPr/>
          <p:nvPr/>
        </p:nvSpPr>
        <p:spPr>
          <a:xfrm>
            <a:off x="822960" y="3200400"/>
            <a:ext cx="1737360" cy="384048"/>
          </a:xfrm>
          <a:prstGeom prst="rect">
            <a:avLst/>
          </a:prstGeom>
          <a:noFill/>
          <a:ln/>
        </p:spPr>
        <p:txBody>
          <a:bodyPr wrap="square" rtlCol="0" anchor="ctr"/>
          <a:lstStyle/>
          <a:p>
            <a:pPr indent="0" marL="0">
              <a:buNone/>
            </a:pPr>
            <a:r>
              <a:rPr lang="en-US" sz="1100" b="1" dirty="0">
                <a:solidFill>
                  <a:srgbClr val="16232E"/>
                </a:solidFill>
                <a:latin typeface="Calibri" pitchFamily="34" charset="0"/>
                <a:ea typeface="Calibri" pitchFamily="34" charset="-122"/>
                <a:cs typeface="Calibri" pitchFamily="34" charset="-120"/>
              </a:rPr>
              <a:t>Boilerplate</a:t>
            </a:r>
            <a:endParaRPr lang="en-US" sz="1100" dirty="0"/>
          </a:p>
        </p:txBody>
      </p:sp>
      <p:sp>
        <p:nvSpPr>
          <p:cNvPr id="10" name="Text 8"/>
          <p:cNvSpPr/>
          <p:nvPr/>
        </p:nvSpPr>
        <p:spPr>
          <a:xfrm>
            <a:off x="2606040" y="3200400"/>
            <a:ext cx="1463040" cy="384048"/>
          </a:xfrm>
          <a:prstGeom prst="rect">
            <a:avLst/>
          </a:prstGeom>
          <a:noFill/>
          <a:ln/>
        </p:spPr>
        <p:txBody>
          <a:bodyPr wrap="square" rtlCol="0" anchor="ctr"/>
          <a:lstStyle/>
          <a:p>
            <a:pPr indent="0" marL="0">
              <a:buNone/>
            </a:pPr>
            <a:r>
              <a:rPr lang="en-US" sz="1100" dirty="0">
                <a:solidFill>
                  <a:srgbClr val="065A82"/>
                </a:solidFill>
                <a:latin typeface="Calibri" pitchFamily="34" charset="0"/>
                <a:ea typeface="Calibri" pitchFamily="34" charset="-122"/>
                <a:cs typeface="Calibri" pitchFamily="34" charset="-120"/>
              </a:rPr>
              <a:t>Minimal</a:t>
            </a:r>
            <a:endParaRPr lang="en-US" sz="1100" dirty="0"/>
          </a:p>
        </p:txBody>
      </p:sp>
      <p:sp>
        <p:nvSpPr>
          <p:cNvPr id="11" name="Text 9"/>
          <p:cNvSpPr/>
          <p:nvPr/>
        </p:nvSpPr>
        <p:spPr>
          <a:xfrm>
            <a:off x="4114800" y="3200400"/>
            <a:ext cx="1600200" cy="384048"/>
          </a:xfrm>
          <a:prstGeom prst="rect">
            <a:avLst/>
          </a:prstGeom>
          <a:noFill/>
          <a:ln/>
        </p:spPr>
        <p:txBody>
          <a:bodyPr wrap="square" rtlCol="0" anchor="ctr"/>
          <a:lstStyle/>
          <a:p>
            <a:pPr indent="0" marL="0">
              <a:buNone/>
            </a:pPr>
            <a:r>
              <a:rPr lang="en-US" sz="1050" dirty="0">
                <a:solidFill>
                  <a:srgbClr val="5B6B7A"/>
                </a:solidFill>
                <a:latin typeface="Calibri" pitchFamily="34" charset="0"/>
                <a:ea typeface="Calibri" pitchFamily="34" charset="-122"/>
                <a:cs typeface="Calibri" pitchFamily="34" charset="-120"/>
              </a:rPr>
              <a:t>Heavy (Redux)</a:t>
            </a:r>
            <a:endParaRPr lang="en-US" sz="1050" dirty="0"/>
          </a:p>
        </p:txBody>
      </p:sp>
      <p:sp>
        <p:nvSpPr>
          <p:cNvPr id="12" name="Text 10"/>
          <p:cNvSpPr/>
          <p:nvPr/>
        </p:nvSpPr>
        <p:spPr>
          <a:xfrm>
            <a:off x="822960" y="3621024"/>
            <a:ext cx="1737360" cy="384048"/>
          </a:xfrm>
          <a:prstGeom prst="rect">
            <a:avLst/>
          </a:prstGeom>
          <a:noFill/>
          <a:ln/>
        </p:spPr>
        <p:txBody>
          <a:bodyPr wrap="square" rtlCol="0" anchor="ctr"/>
          <a:lstStyle/>
          <a:p>
            <a:pPr indent="0" marL="0">
              <a:buNone/>
            </a:pPr>
            <a:r>
              <a:rPr lang="en-US" sz="1100" b="1" dirty="0">
                <a:solidFill>
                  <a:srgbClr val="16232E"/>
                </a:solidFill>
                <a:latin typeface="Calibri" pitchFamily="34" charset="0"/>
                <a:ea typeface="Calibri" pitchFamily="34" charset="-122"/>
                <a:cs typeface="Calibri" pitchFamily="34" charset="-120"/>
              </a:rPr>
              <a:t>Re-renders</a:t>
            </a:r>
            <a:endParaRPr lang="en-US" sz="1100" dirty="0"/>
          </a:p>
        </p:txBody>
      </p:sp>
      <p:sp>
        <p:nvSpPr>
          <p:cNvPr id="13" name="Text 11"/>
          <p:cNvSpPr/>
          <p:nvPr/>
        </p:nvSpPr>
        <p:spPr>
          <a:xfrm>
            <a:off x="2606040" y="3621024"/>
            <a:ext cx="1463040" cy="384048"/>
          </a:xfrm>
          <a:prstGeom prst="rect">
            <a:avLst/>
          </a:prstGeom>
          <a:noFill/>
          <a:ln/>
        </p:spPr>
        <p:txBody>
          <a:bodyPr wrap="square" rtlCol="0" anchor="ctr"/>
          <a:lstStyle/>
          <a:p>
            <a:pPr indent="0" marL="0">
              <a:buNone/>
            </a:pPr>
            <a:r>
              <a:rPr lang="en-US" sz="1100" dirty="0">
                <a:solidFill>
                  <a:srgbClr val="065A82"/>
                </a:solidFill>
                <a:latin typeface="Calibri" pitchFamily="34" charset="0"/>
                <a:ea typeface="Calibri" pitchFamily="34" charset="-122"/>
                <a:cs typeface="Calibri" pitchFamily="34" charset="-120"/>
              </a:rPr>
              <a:t>Selective</a:t>
            </a:r>
            <a:endParaRPr lang="en-US" sz="1100" dirty="0"/>
          </a:p>
        </p:txBody>
      </p:sp>
      <p:sp>
        <p:nvSpPr>
          <p:cNvPr id="14" name="Text 12"/>
          <p:cNvSpPr/>
          <p:nvPr/>
        </p:nvSpPr>
        <p:spPr>
          <a:xfrm>
            <a:off x="4114800" y="3621024"/>
            <a:ext cx="1600200" cy="384048"/>
          </a:xfrm>
          <a:prstGeom prst="rect">
            <a:avLst/>
          </a:prstGeom>
          <a:noFill/>
          <a:ln/>
        </p:spPr>
        <p:txBody>
          <a:bodyPr wrap="square" rtlCol="0" anchor="ctr"/>
          <a:lstStyle/>
          <a:p>
            <a:pPr indent="0" marL="0">
              <a:buNone/>
            </a:pPr>
            <a:r>
              <a:rPr lang="en-US" sz="1050" dirty="0">
                <a:solidFill>
                  <a:srgbClr val="5B6B7A"/>
                </a:solidFill>
                <a:latin typeface="Calibri" pitchFamily="34" charset="0"/>
                <a:ea typeface="Calibri" pitchFamily="34" charset="-122"/>
                <a:cs typeface="Calibri" pitchFamily="34" charset="-120"/>
              </a:rPr>
              <a:t>Whole tree (Context)</a:t>
            </a:r>
            <a:endParaRPr lang="en-US" sz="1050" dirty="0"/>
          </a:p>
        </p:txBody>
      </p:sp>
      <p:sp>
        <p:nvSpPr>
          <p:cNvPr id="15" name="Text 13"/>
          <p:cNvSpPr/>
          <p:nvPr/>
        </p:nvSpPr>
        <p:spPr>
          <a:xfrm>
            <a:off x="822960" y="4041648"/>
            <a:ext cx="1737360" cy="384048"/>
          </a:xfrm>
          <a:prstGeom prst="rect">
            <a:avLst/>
          </a:prstGeom>
          <a:noFill/>
          <a:ln/>
        </p:spPr>
        <p:txBody>
          <a:bodyPr wrap="square" rtlCol="0" anchor="ctr"/>
          <a:lstStyle/>
          <a:p>
            <a:pPr indent="0" marL="0">
              <a:buNone/>
            </a:pPr>
            <a:r>
              <a:rPr lang="en-US" sz="1100" b="1" dirty="0">
                <a:solidFill>
                  <a:srgbClr val="16232E"/>
                </a:solidFill>
                <a:latin typeface="Calibri" pitchFamily="34" charset="0"/>
                <a:ea typeface="Calibri" pitchFamily="34" charset="-122"/>
                <a:cs typeface="Calibri" pitchFamily="34" charset="-120"/>
              </a:rPr>
              <a:t>Learning curve</a:t>
            </a:r>
            <a:endParaRPr lang="en-US" sz="1100" dirty="0"/>
          </a:p>
        </p:txBody>
      </p:sp>
      <p:sp>
        <p:nvSpPr>
          <p:cNvPr id="16" name="Text 14"/>
          <p:cNvSpPr/>
          <p:nvPr/>
        </p:nvSpPr>
        <p:spPr>
          <a:xfrm>
            <a:off x="2606040" y="4041648"/>
            <a:ext cx="1463040" cy="384048"/>
          </a:xfrm>
          <a:prstGeom prst="rect">
            <a:avLst/>
          </a:prstGeom>
          <a:noFill/>
          <a:ln/>
        </p:spPr>
        <p:txBody>
          <a:bodyPr wrap="square" rtlCol="0" anchor="ctr"/>
          <a:lstStyle/>
          <a:p>
            <a:pPr indent="0" marL="0">
              <a:buNone/>
            </a:pPr>
            <a:r>
              <a:rPr lang="en-US" sz="1100" dirty="0">
                <a:solidFill>
                  <a:srgbClr val="065A82"/>
                </a:solidFill>
                <a:latin typeface="Calibri" pitchFamily="34" charset="0"/>
                <a:ea typeface="Calibri" pitchFamily="34" charset="-122"/>
                <a:cs typeface="Calibri" pitchFamily="34" charset="-120"/>
              </a:rPr>
              <a:t>Very low</a:t>
            </a:r>
            <a:endParaRPr lang="en-US" sz="1100" dirty="0"/>
          </a:p>
        </p:txBody>
      </p:sp>
      <p:sp>
        <p:nvSpPr>
          <p:cNvPr id="17" name="Text 15"/>
          <p:cNvSpPr/>
          <p:nvPr/>
        </p:nvSpPr>
        <p:spPr>
          <a:xfrm>
            <a:off x="4114800" y="4041648"/>
            <a:ext cx="1600200" cy="384048"/>
          </a:xfrm>
          <a:prstGeom prst="rect">
            <a:avLst/>
          </a:prstGeom>
          <a:noFill/>
          <a:ln/>
        </p:spPr>
        <p:txBody>
          <a:bodyPr wrap="square" rtlCol="0" anchor="ctr"/>
          <a:lstStyle/>
          <a:p>
            <a:pPr indent="0" marL="0">
              <a:buNone/>
            </a:pPr>
            <a:r>
              <a:rPr lang="en-US" sz="1050" dirty="0">
                <a:solidFill>
                  <a:srgbClr val="5B6B7A"/>
                </a:solidFill>
                <a:latin typeface="Calibri" pitchFamily="34" charset="0"/>
                <a:ea typeface="Calibri" pitchFamily="34" charset="-122"/>
                <a:cs typeface="Calibri" pitchFamily="34" charset="-120"/>
              </a:rPr>
              <a:t>Moderate–high</a:t>
            </a:r>
            <a:endParaRPr lang="en-US" sz="1050" dirty="0"/>
          </a:p>
        </p:txBody>
      </p:sp>
      <p:sp>
        <p:nvSpPr>
          <p:cNvPr id="18" name="Shape 16"/>
          <p:cNvSpPr/>
          <p:nvPr/>
        </p:nvSpPr>
        <p:spPr>
          <a:xfrm>
            <a:off x="822960" y="4617720"/>
            <a:ext cx="4754880" cy="0"/>
          </a:xfrm>
          <a:prstGeom prst="line">
            <a:avLst/>
          </a:prstGeom>
          <a:noFill/>
          <a:ln w="12700">
            <a:solidFill>
              <a:srgbClr val="D9E3E8"/>
            </a:solidFill>
            <a:prstDash val="solid"/>
          </a:ln>
        </p:spPr>
      </p:sp>
      <p:sp>
        <p:nvSpPr>
          <p:cNvPr id="19" name="Text 17"/>
          <p:cNvSpPr/>
          <p:nvPr/>
        </p:nvSpPr>
        <p:spPr>
          <a:xfrm>
            <a:off x="822960" y="4754880"/>
            <a:ext cx="4754880" cy="594360"/>
          </a:xfrm>
          <a:prstGeom prst="rect">
            <a:avLst/>
          </a:prstGeom>
          <a:noFill/>
          <a:ln/>
        </p:spPr>
        <p:txBody>
          <a:bodyPr wrap="square" rtlCol="0" anchor="ctr"/>
          <a:lstStyle/>
          <a:p>
            <a:pPr indent="0" marL="0">
              <a:lnSpc>
                <a:spcPct val="120000"/>
              </a:lnSpc>
              <a:buNone/>
            </a:pPr>
            <a:r>
              <a:rPr lang="en-US" sz="1100" i="1" dirty="0">
                <a:solidFill>
                  <a:srgbClr val="5B6B7A"/>
                </a:solidFill>
                <a:latin typeface="Calibri" pitchFamily="34" charset="0"/>
                <a:ea typeface="Calibri" pitchFamily="34" charset="-122"/>
                <a:cs typeface="Calibri" pitchFamily="34" charset="-120"/>
              </a:rPr>
              <a:t>Chosen because the app's shared state (auth + editor session) is small and doesn't justify Redux's action/reducer ceremony.</a:t>
            </a:r>
            <a:endParaRPr lang="en-US" sz="1100" dirty="0"/>
          </a:p>
        </p:txBody>
      </p:sp>
      <p:sp>
        <p:nvSpPr>
          <p:cNvPr id="20" name="Shape 18"/>
          <p:cNvSpPr/>
          <p:nvPr/>
        </p:nvSpPr>
        <p:spPr>
          <a:xfrm>
            <a:off x="6263640" y="1417320"/>
            <a:ext cx="5349240" cy="4526280"/>
          </a:xfrm>
          <a:prstGeom prst="roundRect">
            <a:avLst>
              <a:gd name="adj" fmla="val 2020"/>
            </a:avLst>
          </a:prstGeom>
          <a:solidFill>
            <a:srgbClr val="17203A"/>
          </a:solidFill>
          <a:ln/>
        </p:spPr>
      </p:sp>
      <p:sp>
        <p:nvSpPr>
          <p:cNvPr id="21" name="Text 19"/>
          <p:cNvSpPr/>
          <p:nvPr/>
        </p:nvSpPr>
        <p:spPr>
          <a:xfrm>
            <a:off x="6537960" y="1645920"/>
            <a:ext cx="3657600" cy="365760"/>
          </a:xfrm>
          <a:prstGeom prst="rect">
            <a:avLst/>
          </a:prstGeom>
          <a:noFill/>
          <a:ln/>
        </p:spPr>
        <p:txBody>
          <a:bodyPr wrap="square" rtlCol="0" anchor="ctr"/>
          <a:lstStyle/>
          <a:p>
            <a:pPr indent="0" marL="0">
              <a:buNone/>
            </a:pPr>
            <a:r>
              <a:rPr lang="en-US" sz="1700" b="1" dirty="0">
                <a:solidFill>
                  <a:srgbClr val="FFB100"/>
                </a:solidFill>
                <a:latin typeface="Arial" pitchFamily="34" charset="0"/>
                <a:ea typeface="Arial" pitchFamily="34" charset="-122"/>
                <a:cs typeface="Arial" pitchFamily="34" charset="-120"/>
              </a:rPr>
              <a:t>MONACO EDITOR</a:t>
            </a:r>
            <a:endParaRPr lang="en-US" sz="1700" dirty="0"/>
          </a:p>
        </p:txBody>
      </p:sp>
      <p:sp>
        <p:nvSpPr>
          <p:cNvPr id="22" name="Text 20"/>
          <p:cNvSpPr/>
          <p:nvPr/>
        </p:nvSpPr>
        <p:spPr>
          <a:xfrm>
            <a:off x="6537960" y="2057400"/>
            <a:ext cx="4754880" cy="640080"/>
          </a:xfrm>
          <a:prstGeom prst="rect">
            <a:avLst/>
          </a:prstGeom>
          <a:noFill/>
          <a:ln/>
        </p:spPr>
        <p:txBody>
          <a:bodyPr wrap="square" rtlCol="0" anchor="ctr"/>
          <a:lstStyle/>
          <a:p>
            <a:pPr indent="0" marL="0">
              <a:lnSpc>
                <a:spcPct val="120000"/>
              </a:lnSpc>
              <a:buNone/>
            </a:pPr>
            <a:r>
              <a:rPr lang="en-US" sz="1200" dirty="0">
                <a:solidFill>
                  <a:srgbClr val="D9E3E8"/>
                </a:solidFill>
                <a:latin typeface="Calibri" pitchFamily="34" charset="0"/>
                <a:ea typeface="Calibri" pitchFamily="34" charset="-122"/>
                <a:cs typeface="Calibri" pitchFamily="34" charset="-120"/>
              </a:rPr>
              <a:t>The same editor engine that powers VS Code, embedded directly in the browser via @monaco-editor/react.</a:t>
            </a:r>
            <a:endParaRPr lang="en-US" sz="1200" dirty="0"/>
          </a:p>
        </p:txBody>
      </p:sp>
      <p:sp>
        <p:nvSpPr>
          <p:cNvPr id="23" name="Shape 21"/>
          <p:cNvSpPr/>
          <p:nvPr/>
        </p:nvSpPr>
        <p:spPr>
          <a:xfrm>
            <a:off x="6537960" y="2834640"/>
            <a:ext cx="164592" cy="164592"/>
          </a:xfrm>
          <a:prstGeom prst="ellipse">
            <a:avLst/>
          </a:prstGeom>
          <a:solidFill>
            <a:srgbClr val="FFB100"/>
          </a:solidFill>
          <a:ln/>
        </p:spPr>
      </p:sp>
      <p:sp>
        <p:nvSpPr>
          <p:cNvPr id="24" name="Text 22"/>
          <p:cNvSpPr/>
          <p:nvPr/>
        </p:nvSpPr>
        <p:spPr>
          <a:xfrm>
            <a:off x="6858000" y="2743200"/>
            <a:ext cx="4480560" cy="365760"/>
          </a:xfrm>
          <a:prstGeom prst="rect">
            <a:avLst/>
          </a:prstGeom>
          <a:noFill/>
          <a:ln/>
        </p:spPr>
        <p:txBody>
          <a:bodyPr wrap="square" rtlCol="0" anchor="ctr"/>
          <a:lstStyle/>
          <a:p>
            <a:pPr indent="0" marL="0">
              <a:buNone/>
            </a:pPr>
            <a:r>
              <a:rPr lang="en-US" sz="1150" dirty="0">
                <a:solidFill>
                  <a:srgbClr val="E8EEF2"/>
                </a:solidFill>
                <a:latin typeface="Calibri" pitchFamily="34" charset="0"/>
                <a:ea typeface="Calibri" pitchFamily="34" charset="-122"/>
                <a:cs typeface="Calibri" pitchFamily="34" charset="-120"/>
              </a:rPr>
              <a:t>Syntax highlighting for 60+ languages</a:t>
            </a:r>
            <a:endParaRPr lang="en-US" sz="1150" dirty="0"/>
          </a:p>
        </p:txBody>
      </p:sp>
      <p:sp>
        <p:nvSpPr>
          <p:cNvPr id="25" name="Shape 23"/>
          <p:cNvSpPr/>
          <p:nvPr/>
        </p:nvSpPr>
        <p:spPr>
          <a:xfrm>
            <a:off x="6537960" y="3273552"/>
            <a:ext cx="164592" cy="164592"/>
          </a:xfrm>
          <a:prstGeom prst="ellipse">
            <a:avLst/>
          </a:prstGeom>
          <a:solidFill>
            <a:srgbClr val="FFB100"/>
          </a:solidFill>
          <a:ln/>
        </p:spPr>
      </p:sp>
      <p:sp>
        <p:nvSpPr>
          <p:cNvPr id="26" name="Text 24"/>
          <p:cNvSpPr/>
          <p:nvPr/>
        </p:nvSpPr>
        <p:spPr>
          <a:xfrm>
            <a:off x="6858000" y="3182112"/>
            <a:ext cx="4480560" cy="365760"/>
          </a:xfrm>
          <a:prstGeom prst="rect">
            <a:avLst/>
          </a:prstGeom>
          <a:noFill/>
          <a:ln/>
        </p:spPr>
        <p:txBody>
          <a:bodyPr wrap="square" rtlCol="0" anchor="ctr"/>
          <a:lstStyle/>
          <a:p>
            <a:pPr indent="0" marL="0">
              <a:buNone/>
            </a:pPr>
            <a:r>
              <a:rPr lang="en-US" sz="1150" dirty="0">
                <a:solidFill>
                  <a:srgbClr val="E8EEF2"/>
                </a:solidFill>
                <a:latin typeface="Calibri" pitchFamily="34" charset="0"/>
                <a:ea typeface="Calibri" pitchFamily="34" charset="-122"/>
                <a:cs typeface="Calibri" pitchFamily="34" charset="-120"/>
              </a:rPr>
              <a:t>IntelliSense-style auto-completion</a:t>
            </a:r>
            <a:endParaRPr lang="en-US" sz="1150" dirty="0"/>
          </a:p>
        </p:txBody>
      </p:sp>
      <p:sp>
        <p:nvSpPr>
          <p:cNvPr id="27" name="Shape 25"/>
          <p:cNvSpPr/>
          <p:nvPr/>
        </p:nvSpPr>
        <p:spPr>
          <a:xfrm>
            <a:off x="6537960" y="3712464"/>
            <a:ext cx="164592" cy="164592"/>
          </a:xfrm>
          <a:prstGeom prst="ellipse">
            <a:avLst/>
          </a:prstGeom>
          <a:solidFill>
            <a:srgbClr val="FFB100"/>
          </a:solidFill>
          <a:ln/>
        </p:spPr>
      </p:sp>
      <p:sp>
        <p:nvSpPr>
          <p:cNvPr id="28" name="Text 26"/>
          <p:cNvSpPr/>
          <p:nvPr/>
        </p:nvSpPr>
        <p:spPr>
          <a:xfrm>
            <a:off x="6858000" y="3621024"/>
            <a:ext cx="4480560" cy="365760"/>
          </a:xfrm>
          <a:prstGeom prst="rect">
            <a:avLst/>
          </a:prstGeom>
          <a:noFill/>
          <a:ln/>
        </p:spPr>
        <p:txBody>
          <a:bodyPr wrap="square" rtlCol="0" anchor="ctr"/>
          <a:lstStyle/>
          <a:p>
            <a:pPr indent="0" marL="0">
              <a:buNone/>
            </a:pPr>
            <a:r>
              <a:rPr lang="en-US" sz="1150" dirty="0">
                <a:solidFill>
                  <a:srgbClr val="E8EEF2"/>
                </a:solidFill>
                <a:latin typeface="Calibri" pitchFamily="34" charset="0"/>
                <a:ea typeface="Calibri" pitchFamily="34" charset="-122"/>
                <a:cs typeface="Calibri" pitchFamily="34" charset="-120"/>
              </a:rPr>
              <a:t>Multi-cursor editing &amp; code folding</a:t>
            </a:r>
            <a:endParaRPr lang="en-US" sz="1150" dirty="0"/>
          </a:p>
        </p:txBody>
      </p:sp>
      <p:sp>
        <p:nvSpPr>
          <p:cNvPr id="29" name="Shape 27"/>
          <p:cNvSpPr/>
          <p:nvPr/>
        </p:nvSpPr>
        <p:spPr>
          <a:xfrm>
            <a:off x="6537960" y="4151376"/>
            <a:ext cx="164592" cy="164592"/>
          </a:xfrm>
          <a:prstGeom prst="ellipse">
            <a:avLst/>
          </a:prstGeom>
          <a:solidFill>
            <a:srgbClr val="FFB100"/>
          </a:solidFill>
          <a:ln/>
        </p:spPr>
      </p:sp>
      <p:sp>
        <p:nvSpPr>
          <p:cNvPr id="30" name="Text 28"/>
          <p:cNvSpPr/>
          <p:nvPr/>
        </p:nvSpPr>
        <p:spPr>
          <a:xfrm>
            <a:off x="6858000" y="4059936"/>
            <a:ext cx="4480560" cy="365760"/>
          </a:xfrm>
          <a:prstGeom prst="rect">
            <a:avLst/>
          </a:prstGeom>
          <a:noFill/>
          <a:ln/>
        </p:spPr>
        <p:txBody>
          <a:bodyPr wrap="square" rtlCol="0" anchor="ctr"/>
          <a:lstStyle/>
          <a:p>
            <a:pPr indent="0" marL="0">
              <a:buNone/>
            </a:pPr>
            <a:r>
              <a:rPr lang="en-US" sz="1150" dirty="0">
                <a:solidFill>
                  <a:srgbClr val="E8EEF2"/>
                </a:solidFill>
                <a:latin typeface="Calibri" pitchFamily="34" charset="0"/>
                <a:ea typeface="Calibri" pitchFamily="34" charset="-122"/>
                <a:cs typeface="Calibri" pitchFamily="34" charset="-120"/>
              </a:rPr>
              <a:t>Configurable themes (matches app dark mode)</a:t>
            </a:r>
            <a:endParaRPr lang="en-US" sz="1150" dirty="0"/>
          </a:p>
        </p:txBody>
      </p:sp>
      <p:sp>
        <p:nvSpPr>
          <p:cNvPr id="31" name="Shape 29"/>
          <p:cNvSpPr/>
          <p:nvPr/>
        </p:nvSpPr>
        <p:spPr>
          <a:xfrm>
            <a:off x="6537960" y="4590288"/>
            <a:ext cx="164592" cy="164592"/>
          </a:xfrm>
          <a:prstGeom prst="ellipse">
            <a:avLst/>
          </a:prstGeom>
          <a:solidFill>
            <a:srgbClr val="FFB100"/>
          </a:solidFill>
          <a:ln/>
        </p:spPr>
      </p:sp>
      <p:sp>
        <p:nvSpPr>
          <p:cNvPr id="32" name="Text 30"/>
          <p:cNvSpPr/>
          <p:nvPr/>
        </p:nvSpPr>
        <p:spPr>
          <a:xfrm>
            <a:off x="6858000" y="4498848"/>
            <a:ext cx="4480560" cy="365760"/>
          </a:xfrm>
          <a:prstGeom prst="rect">
            <a:avLst/>
          </a:prstGeom>
          <a:noFill/>
          <a:ln/>
        </p:spPr>
        <p:txBody>
          <a:bodyPr wrap="square" rtlCol="0" anchor="ctr"/>
          <a:lstStyle/>
          <a:p>
            <a:pPr indent="0" marL="0">
              <a:buNone/>
            </a:pPr>
            <a:r>
              <a:rPr lang="en-US" sz="1150" dirty="0">
                <a:solidFill>
                  <a:srgbClr val="E8EEF2"/>
                </a:solidFill>
                <a:latin typeface="Calibri" pitchFamily="34" charset="0"/>
                <a:ea typeface="Calibri" pitchFamily="34" charset="-122"/>
                <a:cs typeface="Calibri" pitchFamily="34" charset="-120"/>
              </a:rPr>
              <a:t>Diff view for comparing submissions</a:t>
            </a:r>
            <a:endParaRPr lang="en-US" sz="1150" dirty="0"/>
          </a:p>
        </p:txBody>
      </p:sp>
      <p:sp>
        <p:nvSpPr>
          <p:cNvPr id="33" name="Shape 31"/>
          <p:cNvSpPr/>
          <p:nvPr/>
        </p:nvSpPr>
        <p:spPr>
          <a:xfrm>
            <a:off x="6537960" y="5120640"/>
            <a:ext cx="4709160" cy="0"/>
          </a:xfrm>
          <a:prstGeom prst="line">
            <a:avLst/>
          </a:prstGeom>
          <a:noFill/>
          <a:ln w="12700">
            <a:solidFill>
              <a:srgbClr val="35456E"/>
            </a:solidFill>
            <a:prstDash val="solid"/>
          </a:ln>
        </p:spPr>
      </p:sp>
      <p:sp>
        <p:nvSpPr>
          <p:cNvPr id="34" name="Text 32"/>
          <p:cNvSpPr/>
          <p:nvPr/>
        </p:nvSpPr>
        <p:spPr>
          <a:xfrm>
            <a:off x="6537960" y="5285232"/>
            <a:ext cx="4754880" cy="822960"/>
          </a:xfrm>
          <a:prstGeom prst="rect">
            <a:avLst/>
          </a:prstGeom>
          <a:noFill/>
          <a:ln/>
        </p:spPr>
        <p:txBody>
          <a:bodyPr wrap="square" rtlCol="0" anchor="ctr"/>
          <a:lstStyle/>
          <a:p>
            <a:pPr indent="0" marL="0">
              <a:lnSpc>
                <a:spcPct val="120000"/>
              </a:lnSpc>
              <a:buNone/>
            </a:pPr>
            <a:r>
              <a:rPr lang="en-US" sz="1100" i="1" dirty="0">
                <a:solidFill>
                  <a:srgbClr val="B9C6D0"/>
                </a:solidFill>
                <a:latin typeface="Calibri" pitchFamily="34" charset="0"/>
                <a:ea typeface="Calibri" pitchFamily="34" charset="-122"/>
                <a:cs typeface="Calibri" pitchFamily="34" charset="-120"/>
              </a:rPr>
              <a:t>Why not a plain &lt;textarea&gt; or CodeMirror? Monaco gives VS Code-grade UX out of the box — the single biggest driver of perceived product quality.</a:t>
            </a:r>
            <a:endParaRPr lang="en-US" sz="1100" dirty="0"/>
          </a:p>
        </p:txBody>
      </p:sp>
      <p:sp>
        <p:nvSpPr>
          <p:cNvPr id="35" name="Text 33"/>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065A82"/>
                </a:solidFill>
                <a:latin typeface="Calibri" pitchFamily="34" charset="0"/>
                <a:ea typeface="Calibri" pitchFamily="34" charset="-122"/>
                <a:cs typeface="Calibri" pitchFamily="34" charset="-120"/>
              </a:rPr>
              <a:t>WEB DEVELOPMENT · BACKEND</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Node.js, Express, MongoDB &amp; Mongoose</a:t>
            </a:r>
            <a:endParaRPr lang="en-US" sz="2800" dirty="0"/>
          </a:p>
        </p:txBody>
      </p:sp>
      <p:sp>
        <p:nvSpPr>
          <p:cNvPr id="4" name="Shape 2"/>
          <p:cNvSpPr/>
          <p:nvPr/>
        </p:nvSpPr>
        <p:spPr>
          <a:xfrm>
            <a:off x="548640" y="1417320"/>
            <a:ext cx="7040880" cy="1005840"/>
          </a:xfrm>
          <a:prstGeom prst="roundRect">
            <a:avLst>
              <a:gd name="adj" fmla="val 7273"/>
            </a:avLst>
          </a:prstGeom>
          <a:solidFill>
            <a:srgbClr val="FFFFFF"/>
          </a:solidFill>
          <a:ln w="12700">
            <a:solidFill>
              <a:srgbClr val="D9E3E8"/>
            </a:solidFill>
            <a:prstDash val="solid"/>
          </a:ln>
        </p:spPr>
      </p:sp>
      <p:sp>
        <p:nvSpPr>
          <p:cNvPr id="5" name="Shape 3"/>
          <p:cNvSpPr/>
          <p:nvPr/>
        </p:nvSpPr>
        <p:spPr>
          <a:xfrm>
            <a:off x="548640" y="1417320"/>
            <a:ext cx="73152" cy="1005840"/>
          </a:xfrm>
          <a:prstGeom prst="rect">
            <a:avLst/>
          </a:prstGeom>
          <a:solidFill>
            <a:srgbClr val="065A82"/>
          </a:solidFill>
          <a:ln/>
        </p:spPr>
      </p:sp>
      <p:sp>
        <p:nvSpPr>
          <p:cNvPr id="6" name="Text 4"/>
          <p:cNvSpPr/>
          <p:nvPr/>
        </p:nvSpPr>
        <p:spPr>
          <a:xfrm>
            <a:off x="868680" y="1508760"/>
            <a:ext cx="2743200" cy="320040"/>
          </a:xfrm>
          <a:prstGeom prst="rect">
            <a:avLst/>
          </a:prstGeom>
          <a:noFill/>
          <a:ln/>
        </p:spPr>
        <p:txBody>
          <a:bodyPr wrap="square" rtlCol="0" anchor="ctr"/>
          <a:lstStyle/>
          <a:p>
            <a:pPr indent="0" marL="0">
              <a:buNone/>
            </a:pPr>
            <a:r>
              <a:rPr lang="en-US" sz="1400" b="1" dirty="0">
                <a:solidFill>
                  <a:srgbClr val="065A82"/>
                </a:solidFill>
                <a:latin typeface="Arial" pitchFamily="34" charset="0"/>
                <a:ea typeface="Arial" pitchFamily="34" charset="-122"/>
                <a:cs typeface="Arial" pitchFamily="34" charset="-120"/>
              </a:rPr>
              <a:t>Node.js</a:t>
            </a:r>
            <a:endParaRPr lang="en-US" sz="1400" dirty="0"/>
          </a:p>
        </p:txBody>
      </p:sp>
      <p:sp>
        <p:nvSpPr>
          <p:cNvPr id="7" name="Text 5"/>
          <p:cNvSpPr/>
          <p:nvPr/>
        </p:nvSpPr>
        <p:spPr>
          <a:xfrm>
            <a:off x="868680" y="1819656"/>
            <a:ext cx="6537960" cy="548640"/>
          </a:xfrm>
          <a:prstGeom prst="rect">
            <a:avLst/>
          </a:prstGeom>
          <a:noFill/>
          <a:ln/>
        </p:spPr>
        <p:txBody>
          <a:bodyPr wrap="square" rtlCol="0" anchor="ctr"/>
          <a:lstStyle/>
          <a:p>
            <a:pPr indent="0" marL="0">
              <a:lnSpc>
                <a:spcPct val="115000"/>
              </a:lnSpc>
              <a:buNone/>
            </a:pPr>
            <a:r>
              <a:rPr lang="en-US" sz="1100" dirty="0">
                <a:solidFill>
                  <a:srgbClr val="16232E"/>
                </a:solidFill>
                <a:latin typeface="Calibri" pitchFamily="34" charset="0"/>
                <a:ea typeface="Calibri" pitchFamily="34" charset="-122"/>
                <a:cs typeface="Calibri" pitchFamily="34" charset="-120"/>
              </a:rPr>
              <a:t>Non-blocking, event-driven runtime built on V8. Ideal for I/O-heavy work like proxying execution requests to Judge0 and streaming responses without blocking other requests.</a:t>
            </a:r>
            <a:endParaRPr lang="en-US" sz="1100" dirty="0"/>
          </a:p>
        </p:txBody>
      </p:sp>
      <p:sp>
        <p:nvSpPr>
          <p:cNvPr id="8" name="Shape 6"/>
          <p:cNvSpPr/>
          <p:nvPr/>
        </p:nvSpPr>
        <p:spPr>
          <a:xfrm>
            <a:off x="548640" y="2551176"/>
            <a:ext cx="7040880" cy="1005840"/>
          </a:xfrm>
          <a:prstGeom prst="roundRect">
            <a:avLst>
              <a:gd name="adj" fmla="val 7273"/>
            </a:avLst>
          </a:prstGeom>
          <a:solidFill>
            <a:srgbClr val="FFFFFF"/>
          </a:solidFill>
          <a:ln w="12700">
            <a:solidFill>
              <a:srgbClr val="D9E3E8"/>
            </a:solidFill>
            <a:prstDash val="solid"/>
          </a:ln>
        </p:spPr>
      </p:sp>
      <p:sp>
        <p:nvSpPr>
          <p:cNvPr id="9" name="Shape 7"/>
          <p:cNvSpPr/>
          <p:nvPr/>
        </p:nvSpPr>
        <p:spPr>
          <a:xfrm>
            <a:off x="548640" y="2551176"/>
            <a:ext cx="73152" cy="1005840"/>
          </a:xfrm>
          <a:prstGeom prst="rect">
            <a:avLst/>
          </a:prstGeom>
          <a:solidFill>
            <a:srgbClr val="1C7293"/>
          </a:solidFill>
          <a:ln/>
        </p:spPr>
      </p:sp>
      <p:sp>
        <p:nvSpPr>
          <p:cNvPr id="10" name="Text 8"/>
          <p:cNvSpPr/>
          <p:nvPr/>
        </p:nvSpPr>
        <p:spPr>
          <a:xfrm>
            <a:off x="868680" y="2642616"/>
            <a:ext cx="2743200" cy="320040"/>
          </a:xfrm>
          <a:prstGeom prst="rect">
            <a:avLst/>
          </a:prstGeom>
          <a:noFill/>
          <a:ln/>
        </p:spPr>
        <p:txBody>
          <a:bodyPr wrap="square" rtlCol="0" anchor="ctr"/>
          <a:lstStyle/>
          <a:p>
            <a:pPr indent="0" marL="0">
              <a:buNone/>
            </a:pPr>
            <a:r>
              <a:rPr lang="en-US" sz="1400" b="1" dirty="0">
                <a:solidFill>
                  <a:srgbClr val="1C7293"/>
                </a:solidFill>
                <a:latin typeface="Arial" pitchFamily="34" charset="0"/>
                <a:ea typeface="Arial" pitchFamily="34" charset="-122"/>
                <a:cs typeface="Arial" pitchFamily="34" charset="-120"/>
              </a:rPr>
              <a:t>Express.js</a:t>
            </a:r>
            <a:endParaRPr lang="en-US" sz="1400" dirty="0"/>
          </a:p>
        </p:txBody>
      </p:sp>
      <p:sp>
        <p:nvSpPr>
          <p:cNvPr id="11" name="Text 9"/>
          <p:cNvSpPr/>
          <p:nvPr/>
        </p:nvSpPr>
        <p:spPr>
          <a:xfrm>
            <a:off x="868680" y="2953512"/>
            <a:ext cx="6537960" cy="548640"/>
          </a:xfrm>
          <a:prstGeom prst="rect">
            <a:avLst/>
          </a:prstGeom>
          <a:noFill/>
          <a:ln/>
        </p:spPr>
        <p:txBody>
          <a:bodyPr wrap="square" rtlCol="0" anchor="ctr"/>
          <a:lstStyle/>
          <a:p>
            <a:pPr indent="0" marL="0">
              <a:lnSpc>
                <a:spcPct val="115000"/>
              </a:lnSpc>
              <a:buNone/>
            </a:pPr>
            <a:r>
              <a:rPr lang="en-US" sz="1100" dirty="0">
                <a:solidFill>
                  <a:srgbClr val="16232E"/>
                </a:solidFill>
                <a:latin typeface="Calibri" pitchFamily="34" charset="0"/>
                <a:ea typeface="Calibri" pitchFamily="34" charset="-122"/>
                <a:cs typeface="Calibri" pitchFamily="34" charset="-120"/>
              </a:rPr>
              <a:t>Minimal, unopinionated framework powering 40+ REST endpoints (auth, problems, submissions, users). Middleware chain handles logging, auth checks, validation, and error handling in order.</a:t>
            </a:r>
            <a:endParaRPr lang="en-US" sz="1100" dirty="0"/>
          </a:p>
        </p:txBody>
      </p:sp>
      <p:sp>
        <p:nvSpPr>
          <p:cNvPr id="12" name="Shape 10"/>
          <p:cNvSpPr/>
          <p:nvPr/>
        </p:nvSpPr>
        <p:spPr>
          <a:xfrm>
            <a:off x="548640" y="3685032"/>
            <a:ext cx="7040880" cy="1005840"/>
          </a:xfrm>
          <a:prstGeom prst="roundRect">
            <a:avLst>
              <a:gd name="adj" fmla="val 7273"/>
            </a:avLst>
          </a:prstGeom>
          <a:solidFill>
            <a:srgbClr val="FFFFFF"/>
          </a:solidFill>
          <a:ln w="12700">
            <a:solidFill>
              <a:srgbClr val="D9E3E8"/>
            </a:solidFill>
            <a:prstDash val="solid"/>
          </a:ln>
        </p:spPr>
      </p:sp>
      <p:sp>
        <p:nvSpPr>
          <p:cNvPr id="13" name="Shape 11"/>
          <p:cNvSpPr/>
          <p:nvPr/>
        </p:nvSpPr>
        <p:spPr>
          <a:xfrm>
            <a:off x="548640" y="3685032"/>
            <a:ext cx="73152" cy="1005840"/>
          </a:xfrm>
          <a:prstGeom prst="rect">
            <a:avLst/>
          </a:prstGeom>
          <a:solidFill>
            <a:srgbClr val="17203A"/>
          </a:solidFill>
          <a:ln/>
        </p:spPr>
      </p:sp>
      <p:sp>
        <p:nvSpPr>
          <p:cNvPr id="14" name="Text 12"/>
          <p:cNvSpPr/>
          <p:nvPr/>
        </p:nvSpPr>
        <p:spPr>
          <a:xfrm>
            <a:off x="868680" y="3776472"/>
            <a:ext cx="2743200" cy="320040"/>
          </a:xfrm>
          <a:prstGeom prst="rect">
            <a:avLst/>
          </a:prstGeom>
          <a:noFill/>
          <a:ln/>
        </p:spPr>
        <p:txBody>
          <a:bodyPr wrap="square" rtlCol="0" anchor="ctr"/>
          <a:lstStyle/>
          <a:p>
            <a:pPr indent="0" marL="0">
              <a:buNone/>
            </a:pPr>
            <a:r>
              <a:rPr lang="en-US" sz="1400" b="1" dirty="0">
                <a:solidFill>
                  <a:srgbClr val="17203A"/>
                </a:solidFill>
                <a:latin typeface="Arial" pitchFamily="34" charset="0"/>
                <a:ea typeface="Arial" pitchFamily="34" charset="-122"/>
                <a:cs typeface="Arial" pitchFamily="34" charset="-120"/>
              </a:rPr>
              <a:t>MongoDB + Mongoose</a:t>
            </a:r>
            <a:endParaRPr lang="en-US" sz="1400" dirty="0"/>
          </a:p>
        </p:txBody>
      </p:sp>
      <p:sp>
        <p:nvSpPr>
          <p:cNvPr id="15" name="Text 13"/>
          <p:cNvSpPr/>
          <p:nvPr/>
        </p:nvSpPr>
        <p:spPr>
          <a:xfrm>
            <a:off x="868680" y="4087368"/>
            <a:ext cx="6537960" cy="548640"/>
          </a:xfrm>
          <a:prstGeom prst="rect">
            <a:avLst/>
          </a:prstGeom>
          <a:noFill/>
          <a:ln/>
        </p:spPr>
        <p:txBody>
          <a:bodyPr wrap="square" rtlCol="0" anchor="ctr"/>
          <a:lstStyle/>
          <a:p>
            <a:pPr indent="0" marL="0">
              <a:lnSpc>
                <a:spcPct val="115000"/>
              </a:lnSpc>
              <a:buNone/>
            </a:pPr>
            <a:r>
              <a:rPr lang="en-US" sz="1100" dirty="0">
                <a:solidFill>
                  <a:srgbClr val="16232E"/>
                </a:solidFill>
                <a:latin typeface="Calibri" pitchFamily="34" charset="0"/>
                <a:ea typeface="Calibri" pitchFamily="34" charset="-122"/>
                <a:cs typeface="Calibri" pitchFamily="34" charset="-120"/>
              </a:rPr>
              <a:t>Flexible NoSQL schema for user profiles, problems, and submission history. Mongoose adds schema validation, default values, and pre-save hooks (e.g. hashing timestamps) on top of raw MongoDB.</a:t>
            </a:r>
            <a:endParaRPr lang="en-US" sz="1100" dirty="0"/>
          </a:p>
        </p:txBody>
      </p:sp>
      <p:sp>
        <p:nvSpPr>
          <p:cNvPr id="16" name="Shape 14"/>
          <p:cNvSpPr/>
          <p:nvPr/>
        </p:nvSpPr>
        <p:spPr>
          <a:xfrm>
            <a:off x="7818120" y="1417320"/>
            <a:ext cx="3794760" cy="4663440"/>
          </a:xfrm>
          <a:prstGeom prst="roundRect">
            <a:avLst>
              <a:gd name="adj" fmla="val 2410"/>
            </a:avLst>
          </a:prstGeom>
          <a:solidFill>
            <a:srgbClr val="17203A"/>
          </a:solidFill>
          <a:ln/>
        </p:spPr>
      </p:sp>
      <p:sp>
        <p:nvSpPr>
          <p:cNvPr id="17" name="Text 15"/>
          <p:cNvSpPr/>
          <p:nvPr/>
        </p:nvSpPr>
        <p:spPr>
          <a:xfrm>
            <a:off x="8046720" y="1600200"/>
            <a:ext cx="3383280" cy="274320"/>
          </a:xfrm>
          <a:prstGeom prst="rect">
            <a:avLst/>
          </a:prstGeom>
          <a:noFill/>
          <a:ln/>
        </p:spPr>
        <p:txBody>
          <a:bodyPr wrap="square" rtlCol="0" anchor="ctr"/>
          <a:lstStyle/>
          <a:p>
            <a:pPr indent="0" marL="0">
              <a:buNone/>
            </a:pPr>
            <a:r>
              <a:rPr lang="en-US" sz="1050" b="1" spc="50" kern="0" dirty="0">
                <a:solidFill>
                  <a:srgbClr val="FFB100"/>
                </a:solidFill>
                <a:latin typeface="Calibri" pitchFamily="34" charset="0"/>
                <a:ea typeface="Calibri" pitchFamily="34" charset="-122"/>
                <a:cs typeface="Calibri" pitchFamily="34" charset="-120"/>
              </a:rPr>
              <a:t>EXAMPLE SUBMISSION SCHEMA</a:t>
            </a:r>
            <a:endParaRPr lang="en-US" sz="1050" dirty="0"/>
          </a:p>
        </p:txBody>
      </p:sp>
      <p:sp>
        <p:nvSpPr>
          <p:cNvPr id="18" name="Shape 16"/>
          <p:cNvSpPr/>
          <p:nvPr/>
        </p:nvSpPr>
        <p:spPr>
          <a:xfrm>
            <a:off x="8046720" y="1920240"/>
            <a:ext cx="3337560" cy="2286000"/>
          </a:xfrm>
          <a:prstGeom prst="roundRect">
            <a:avLst>
              <a:gd name="adj" fmla="val 2400"/>
            </a:avLst>
          </a:prstGeom>
          <a:solidFill>
            <a:srgbClr val="17203A"/>
          </a:solidFill>
          <a:ln/>
        </p:spPr>
      </p:sp>
      <p:sp>
        <p:nvSpPr>
          <p:cNvPr id="19" name="Text 17"/>
          <p:cNvSpPr/>
          <p:nvPr/>
        </p:nvSpPr>
        <p:spPr>
          <a:xfrm>
            <a:off x="8229600" y="1993392"/>
            <a:ext cx="2971800" cy="2139696"/>
          </a:xfrm>
          <a:prstGeom prst="rect">
            <a:avLst/>
          </a:prstGeom>
          <a:noFill/>
          <a:ln/>
        </p:spPr>
        <p:txBody>
          <a:bodyPr wrap="square" rtlCol="0" anchor="ctr"/>
          <a:lstStyle/>
          <a:p>
            <a:pPr indent="0" marL="0">
              <a:lnSpc>
                <a:spcPct val="125000"/>
              </a:lnSpc>
              <a:buNone/>
            </a:pPr>
            <a:r>
              <a:rPr lang="en-US" sz="950" dirty="0">
                <a:solidFill>
                  <a:srgbClr val="9FE6C8"/>
                </a:solidFill>
                <a:latin typeface="Courier New" pitchFamily="34" charset="0"/>
                <a:ea typeface="Courier New" pitchFamily="34" charset="-122"/>
                <a:cs typeface="Courier New" pitchFamily="34" charset="-120"/>
              </a:rPr>
              <a:t>const submissionSchema = new</a:t>
            </a:r>
            <a:endParaRPr lang="en-US" sz="950" dirty="0"/>
          </a:p>
          <a:p>
            <a:pPr indent="0" marL="0">
              <a:lnSpc>
                <a:spcPct val="125000"/>
              </a:lnSpc>
              <a:buNone/>
            </a:pPr>
            <a:r>
              <a:rPr lang="en-US" sz="950" dirty="0">
                <a:solidFill>
                  <a:srgbClr val="9FE6C8"/>
                </a:solidFill>
                <a:latin typeface="Courier New" pitchFamily="34" charset="0"/>
                <a:ea typeface="Courier New" pitchFamily="34" charset="-122"/>
                <a:cs typeface="Courier New" pitchFamily="34" charset="-120"/>
              </a:rPr>
              <a:t>  Schema({</a:t>
            </a:r>
            <a:endParaRPr lang="en-US" sz="950" dirty="0"/>
          </a:p>
          <a:p>
            <a:pPr indent="0" marL="0">
              <a:lnSpc>
                <a:spcPct val="125000"/>
              </a:lnSpc>
              <a:buNone/>
            </a:pPr>
            <a:r>
              <a:rPr lang="en-US" sz="950" dirty="0">
                <a:solidFill>
                  <a:srgbClr val="9FE6C8"/>
                </a:solidFill>
                <a:latin typeface="Courier New" pitchFamily="34" charset="0"/>
                <a:ea typeface="Courier New" pitchFamily="34" charset="-122"/>
                <a:cs typeface="Courier New" pitchFamily="34" charset="-120"/>
              </a:rPr>
              <a:t>  user: ObjectId, ref: 'User',</a:t>
            </a:r>
            <a:endParaRPr lang="en-US" sz="950" dirty="0"/>
          </a:p>
          <a:p>
            <a:pPr indent="0" marL="0">
              <a:lnSpc>
                <a:spcPct val="125000"/>
              </a:lnSpc>
              <a:buNone/>
            </a:pPr>
            <a:r>
              <a:rPr lang="en-US" sz="950" dirty="0">
                <a:solidFill>
                  <a:srgbClr val="9FE6C8"/>
                </a:solidFill>
                <a:latin typeface="Courier New" pitchFamily="34" charset="0"/>
                <a:ea typeface="Courier New" pitchFamily="34" charset="-122"/>
                <a:cs typeface="Courier New" pitchFamily="34" charset="-120"/>
              </a:rPr>
              <a:t>  problemId: ObjectId,</a:t>
            </a:r>
            <a:endParaRPr lang="en-US" sz="950" dirty="0"/>
          </a:p>
          <a:p>
            <a:pPr indent="0" marL="0">
              <a:lnSpc>
                <a:spcPct val="125000"/>
              </a:lnSpc>
              <a:buNone/>
            </a:pPr>
            <a:r>
              <a:rPr lang="en-US" sz="950" dirty="0">
                <a:solidFill>
                  <a:srgbClr val="9FE6C8"/>
                </a:solidFill>
                <a:latin typeface="Courier New" pitchFamily="34" charset="0"/>
                <a:ea typeface="Courier New" pitchFamily="34" charset="-122"/>
                <a:cs typeface="Courier New" pitchFamily="34" charset="-120"/>
              </a:rPr>
              <a:t>  language: String,</a:t>
            </a:r>
            <a:endParaRPr lang="en-US" sz="950" dirty="0"/>
          </a:p>
          <a:p>
            <a:pPr indent="0" marL="0">
              <a:lnSpc>
                <a:spcPct val="125000"/>
              </a:lnSpc>
              <a:buNone/>
            </a:pPr>
            <a:r>
              <a:rPr lang="en-US" sz="950" dirty="0">
                <a:solidFill>
                  <a:srgbClr val="9FE6C8"/>
                </a:solidFill>
                <a:latin typeface="Courier New" pitchFamily="34" charset="0"/>
                <a:ea typeface="Courier New" pitchFamily="34" charset="-122"/>
                <a:cs typeface="Courier New" pitchFamily="34" charset="-120"/>
              </a:rPr>
              <a:t>  sourceCode: String,</a:t>
            </a:r>
            <a:endParaRPr lang="en-US" sz="950" dirty="0"/>
          </a:p>
          <a:p>
            <a:pPr indent="0" marL="0">
              <a:lnSpc>
                <a:spcPct val="125000"/>
              </a:lnSpc>
              <a:buNone/>
            </a:pPr>
            <a:r>
              <a:rPr lang="en-US" sz="950" dirty="0">
                <a:solidFill>
                  <a:srgbClr val="9FE6C8"/>
                </a:solidFill>
                <a:latin typeface="Courier New" pitchFamily="34" charset="0"/>
                <a:ea typeface="Courier New" pitchFamily="34" charset="-122"/>
                <a:cs typeface="Courier New" pitchFamily="34" charset="-120"/>
              </a:rPr>
              <a:t>  verdict: String,</a:t>
            </a:r>
            <a:endParaRPr lang="en-US" sz="950" dirty="0"/>
          </a:p>
          <a:p>
            <a:pPr indent="0" marL="0">
              <a:lnSpc>
                <a:spcPct val="125000"/>
              </a:lnSpc>
              <a:buNone/>
            </a:pPr>
            <a:r>
              <a:rPr lang="en-US" sz="950" dirty="0">
                <a:solidFill>
                  <a:srgbClr val="9FE6C8"/>
                </a:solidFill>
                <a:latin typeface="Courier New" pitchFamily="34" charset="0"/>
                <a:ea typeface="Courier New" pitchFamily="34" charset="-122"/>
                <a:cs typeface="Courier New" pitchFamily="34" charset="-120"/>
              </a:rPr>
              <a:t>  runtimeMs: Number,</a:t>
            </a:r>
            <a:endParaRPr lang="en-US" sz="950" dirty="0"/>
          </a:p>
          <a:p>
            <a:pPr indent="0" marL="0">
              <a:lnSpc>
                <a:spcPct val="125000"/>
              </a:lnSpc>
              <a:buNone/>
            </a:pPr>
            <a:r>
              <a:rPr lang="en-US" sz="950" dirty="0">
                <a:solidFill>
                  <a:srgbClr val="9FE6C8"/>
                </a:solidFill>
                <a:latin typeface="Courier New" pitchFamily="34" charset="0"/>
                <a:ea typeface="Courier New" pitchFamily="34" charset="-122"/>
                <a:cs typeface="Courier New" pitchFamily="34" charset="-120"/>
              </a:rPr>
              <a:t>  createdAt: { type: Date,</a:t>
            </a:r>
            <a:endParaRPr lang="en-US" sz="950" dirty="0"/>
          </a:p>
          <a:p>
            <a:pPr indent="0" marL="0">
              <a:lnSpc>
                <a:spcPct val="125000"/>
              </a:lnSpc>
              <a:buNone/>
            </a:pPr>
            <a:r>
              <a:rPr lang="en-US" sz="950" dirty="0">
                <a:solidFill>
                  <a:srgbClr val="9FE6C8"/>
                </a:solidFill>
                <a:latin typeface="Courier New" pitchFamily="34" charset="0"/>
                <a:ea typeface="Courier New" pitchFamily="34" charset="-122"/>
                <a:cs typeface="Courier New" pitchFamily="34" charset="-120"/>
              </a:rPr>
              <a:t>    default: Date.now }</a:t>
            </a:r>
            <a:endParaRPr lang="en-US" sz="950" dirty="0"/>
          </a:p>
          <a:p>
            <a:pPr indent="0" marL="0">
              <a:lnSpc>
                <a:spcPct val="125000"/>
              </a:lnSpc>
              <a:buNone/>
            </a:pPr>
            <a:r>
              <a:rPr lang="en-US" sz="950" dirty="0">
                <a:solidFill>
                  <a:srgbClr val="9FE6C8"/>
                </a:solidFill>
                <a:latin typeface="Courier New" pitchFamily="34" charset="0"/>
                <a:ea typeface="Courier New" pitchFamily="34" charset="-122"/>
                <a:cs typeface="Courier New" pitchFamily="34" charset="-120"/>
              </a:rPr>
              <a:t>});</a:t>
            </a:r>
            <a:endParaRPr lang="en-US" sz="950" dirty="0"/>
          </a:p>
        </p:txBody>
      </p:sp>
      <p:sp>
        <p:nvSpPr>
          <p:cNvPr id="20" name="Text 18"/>
          <p:cNvSpPr/>
          <p:nvPr/>
        </p:nvSpPr>
        <p:spPr>
          <a:xfrm>
            <a:off x="8046720" y="4434840"/>
            <a:ext cx="3383280" cy="274320"/>
          </a:xfrm>
          <a:prstGeom prst="rect">
            <a:avLst/>
          </a:prstGeom>
          <a:noFill/>
          <a:ln/>
        </p:spPr>
        <p:txBody>
          <a:bodyPr wrap="square" rtlCol="0" anchor="ctr"/>
          <a:lstStyle/>
          <a:p>
            <a:pPr indent="0" marL="0">
              <a:buNone/>
            </a:pPr>
            <a:r>
              <a:rPr lang="en-US" sz="1050" b="1" dirty="0">
                <a:solidFill>
                  <a:srgbClr val="FFB100"/>
                </a:solidFill>
                <a:latin typeface="Calibri" pitchFamily="34" charset="0"/>
                <a:ea typeface="Calibri" pitchFamily="34" charset="-122"/>
                <a:cs typeface="Calibri" pitchFamily="34" charset="-120"/>
              </a:rPr>
              <a:t>REST ENDPOINT EXAMPLES</a:t>
            </a:r>
            <a:endParaRPr lang="en-US" sz="1050" dirty="0"/>
          </a:p>
        </p:txBody>
      </p:sp>
      <p:sp>
        <p:nvSpPr>
          <p:cNvPr id="21" name="Text 19"/>
          <p:cNvSpPr/>
          <p:nvPr/>
        </p:nvSpPr>
        <p:spPr>
          <a:xfrm>
            <a:off x="8046720" y="4754880"/>
            <a:ext cx="3291840" cy="292608"/>
          </a:xfrm>
          <a:prstGeom prst="rect">
            <a:avLst/>
          </a:prstGeom>
          <a:noFill/>
          <a:ln/>
        </p:spPr>
        <p:txBody>
          <a:bodyPr wrap="square" rtlCol="0" anchor="ctr"/>
          <a:lstStyle/>
          <a:p>
            <a:pPr indent="0" marL="0">
              <a:buNone/>
            </a:pPr>
            <a:r>
              <a:rPr lang="en-US" sz="1000" dirty="0">
                <a:solidFill>
                  <a:srgbClr val="9FE6C8"/>
                </a:solidFill>
                <a:latin typeface="Courier New" pitchFamily="34" charset="0"/>
                <a:ea typeface="Courier New" pitchFamily="34" charset="-122"/>
                <a:cs typeface="Courier New" pitchFamily="34" charset="-120"/>
              </a:rPr>
              <a:t>POST /api/submit</a:t>
            </a:r>
            <a:endParaRPr lang="en-US" sz="1000" dirty="0"/>
          </a:p>
        </p:txBody>
      </p:sp>
      <p:sp>
        <p:nvSpPr>
          <p:cNvPr id="22" name="Text 20"/>
          <p:cNvSpPr/>
          <p:nvPr/>
        </p:nvSpPr>
        <p:spPr>
          <a:xfrm>
            <a:off x="8046720" y="5065776"/>
            <a:ext cx="3291840" cy="292608"/>
          </a:xfrm>
          <a:prstGeom prst="rect">
            <a:avLst/>
          </a:prstGeom>
          <a:noFill/>
          <a:ln/>
        </p:spPr>
        <p:txBody>
          <a:bodyPr wrap="square" rtlCol="0" anchor="ctr"/>
          <a:lstStyle/>
          <a:p>
            <a:pPr indent="0" marL="0">
              <a:buNone/>
            </a:pPr>
            <a:r>
              <a:rPr lang="en-US" sz="1000" dirty="0">
                <a:solidFill>
                  <a:srgbClr val="9FE6C8"/>
                </a:solidFill>
                <a:latin typeface="Courier New" pitchFamily="34" charset="0"/>
                <a:ea typeface="Courier New" pitchFamily="34" charset="-122"/>
                <a:cs typeface="Courier New" pitchFamily="34" charset="-120"/>
              </a:rPr>
              <a:t>GET /api/submissions/:id</a:t>
            </a:r>
            <a:endParaRPr lang="en-US" sz="1000" dirty="0"/>
          </a:p>
        </p:txBody>
      </p:sp>
      <p:sp>
        <p:nvSpPr>
          <p:cNvPr id="23" name="Text 21"/>
          <p:cNvSpPr/>
          <p:nvPr/>
        </p:nvSpPr>
        <p:spPr>
          <a:xfrm>
            <a:off x="8046720" y="5376672"/>
            <a:ext cx="3291840" cy="292608"/>
          </a:xfrm>
          <a:prstGeom prst="rect">
            <a:avLst/>
          </a:prstGeom>
          <a:noFill/>
          <a:ln/>
        </p:spPr>
        <p:txBody>
          <a:bodyPr wrap="square" rtlCol="0" anchor="ctr"/>
          <a:lstStyle/>
          <a:p>
            <a:pPr indent="0" marL="0">
              <a:buNone/>
            </a:pPr>
            <a:r>
              <a:rPr lang="en-US" sz="1000" dirty="0">
                <a:solidFill>
                  <a:srgbClr val="9FE6C8"/>
                </a:solidFill>
                <a:latin typeface="Courier New" pitchFamily="34" charset="0"/>
                <a:ea typeface="Courier New" pitchFamily="34" charset="-122"/>
                <a:cs typeface="Courier New" pitchFamily="34" charset="-120"/>
              </a:rPr>
              <a:t>GET /api/problems</a:t>
            </a:r>
            <a:endParaRPr lang="en-US" sz="1000" dirty="0"/>
          </a:p>
        </p:txBody>
      </p:sp>
      <p:sp>
        <p:nvSpPr>
          <p:cNvPr id="24" name="Text 22"/>
          <p:cNvSpPr/>
          <p:nvPr/>
        </p:nvSpPr>
        <p:spPr>
          <a:xfrm>
            <a:off x="8046720" y="5687568"/>
            <a:ext cx="3291840" cy="292608"/>
          </a:xfrm>
          <a:prstGeom prst="rect">
            <a:avLst/>
          </a:prstGeom>
          <a:noFill/>
          <a:ln/>
        </p:spPr>
        <p:txBody>
          <a:bodyPr wrap="square" rtlCol="0" anchor="ctr"/>
          <a:lstStyle/>
          <a:p>
            <a:pPr indent="0" marL="0">
              <a:buNone/>
            </a:pPr>
            <a:r>
              <a:rPr lang="en-US" sz="1000" dirty="0">
                <a:solidFill>
                  <a:srgbClr val="9FE6C8"/>
                </a:solidFill>
                <a:latin typeface="Courier New" pitchFamily="34" charset="0"/>
                <a:ea typeface="Courier New" pitchFamily="34" charset="-122"/>
                <a:cs typeface="Courier New" pitchFamily="34" charset="-120"/>
              </a:rPr>
              <a:t>POST /api/auth/google</a:t>
            </a:r>
            <a:endParaRPr lang="en-US" sz="1000" dirty="0"/>
          </a:p>
        </p:txBody>
      </p:sp>
      <p:sp>
        <p:nvSpPr>
          <p:cNvPr id="25" name="Text 23"/>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203A"/>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FFB100"/>
                </a:solidFill>
                <a:latin typeface="Calibri" pitchFamily="34" charset="0"/>
                <a:ea typeface="Calibri" pitchFamily="34" charset="-122"/>
                <a:cs typeface="Calibri" pitchFamily="34" charset="-120"/>
              </a:rPr>
              <a:t>WEB DEVELOPMENT · SECURITY</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Authentication &amp; Security Deep Dive</a:t>
            </a:r>
            <a:endParaRPr lang="en-US" sz="2800" dirty="0"/>
          </a:p>
        </p:txBody>
      </p:sp>
      <p:sp>
        <p:nvSpPr>
          <p:cNvPr id="4" name="Text 2"/>
          <p:cNvSpPr/>
          <p:nvPr/>
        </p:nvSpPr>
        <p:spPr>
          <a:xfrm>
            <a:off x="548640" y="1371600"/>
            <a:ext cx="5486400" cy="274320"/>
          </a:xfrm>
          <a:prstGeom prst="rect">
            <a:avLst/>
          </a:prstGeom>
          <a:noFill/>
          <a:ln/>
        </p:spPr>
        <p:txBody>
          <a:bodyPr wrap="square" rtlCol="0" anchor="ctr"/>
          <a:lstStyle/>
          <a:p>
            <a:pPr indent="0" marL="0">
              <a:buNone/>
            </a:pPr>
            <a:r>
              <a:rPr lang="en-US" sz="1200" b="1" spc="100" kern="0" dirty="0">
                <a:solidFill>
                  <a:srgbClr val="FFB100"/>
                </a:solidFill>
                <a:latin typeface="Calibri" pitchFamily="34" charset="0"/>
                <a:ea typeface="Calibri" pitchFamily="34" charset="-122"/>
                <a:cs typeface="Calibri" pitchFamily="34" charset="-120"/>
              </a:rPr>
              <a:t>GOOGLE OAUTH 2.0 FLOW</a:t>
            </a:r>
            <a:endParaRPr lang="en-US" sz="1200" dirty="0"/>
          </a:p>
        </p:txBody>
      </p:sp>
      <p:sp>
        <p:nvSpPr>
          <p:cNvPr id="5" name="Shape 3"/>
          <p:cNvSpPr/>
          <p:nvPr/>
        </p:nvSpPr>
        <p:spPr>
          <a:xfrm>
            <a:off x="548640" y="1737360"/>
            <a:ext cx="2011680" cy="960120"/>
          </a:xfrm>
          <a:prstGeom prst="roundRect">
            <a:avLst>
              <a:gd name="adj" fmla="val 7619"/>
            </a:avLst>
          </a:prstGeom>
          <a:solidFill>
            <a:srgbClr val="1F2C4D"/>
          </a:solidFill>
          <a:ln w="13970">
            <a:solidFill>
              <a:srgbClr val="FFB100"/>
            </a:solidFill>
            <a:prstDash val="solid"/>
          </a:ln>
        </p:spPr>
      </p:sp>
      <p:sp>
        <p:nvSpPr>
          <p:cNvPr id="6" name="Text 4"/>
          <p:cNvSpPr/>
          <p:nvPr/>
        </p:nvSpPr>
        <p:spPr>
          <a:xfrm>
            <a:off x="548640" y="1737360"/>
            <a:ext cx="2011680" cy="960120"/>
          </a:xfrm>
          <a:prstGeom prst="rect">
            <a:avLst/>
          </a:prstGeom>
          <a:noFill/>
          <a:ln/>
        </p:spPr>
        <p:txBody>
          <a:bodyPr wrap="square" rtlCol="0" anchor="ctr"/>
          <a:lstStyle/>
          <a:p>
            <a:pPr algn="ctr" indent="0" marL="0">
              <a:lnSpc>
                <a:spcPct val="110000"/>
              </a:lnSpc>
              <a:buNone/>
            </a:pPr>
            <a:r>
              <a:rPr lang="en-US" sz="1080" b="1" dirty="0">
                <a:solidFill>
                  <a:srgbClr val="FFFFFF"/>
                </a:solidFill>
                <a:latin typeface="Calibri" pitchFamily="34" charset="0"/>
                <a:ea typeface="Calibri" pitchFamily="34" charset="-122"/>
                <a:cs typeface="Calibri" pitchFamily="34" charset="-120"/>
              </a:rPr>
              <a:t>User clicks</a:t>
            </a:r>
            <a:endParaRPr lang="en-US" sz="1080" dirty="0"/>
          </a:p>
          <a:p>
            <a:pPr algn="ctr" indent="0" marL="0">
              <a:lnSpc>
                <a:spcPct val="110000"/>
              </a:lnSpc>
              <a:buNone/>
            </a:pPr>
            <a:r>
              <a:rPr lang="en-US" sz="1080" b="1" dirty="0">
                <a:solidFill>
                  <a:srgbClr val="FFFFFF"/>
                </a:solidFill>
                <a:latin typeface="Calibri" pitchFamily="34" charset="0"/>
                <a:ea typeface="Calibri" pitchFamily="34" charset="-122"/>
                <a:cs typeface="Calibri" pitchFamily="34" charset="-120"/>
              </a:rPr>
              <a:t>Sign in with Google</a:t>
            </a:r>
            <a:endParaRPr lang="en-US" sz="1080" dirty="0"/>
          </a:p>
        </p:txBody>
      </p:sp>
      <p:sp>
        <p:nvSpPr>
          <p:cNvPr id="7" name="Text 5"/>
          <p:cNvSpPr/>
          <p:nvPr/>
        </p:nvSpPr>
        <p:spPr>
          <a:xfrm>
            <a:off x="2560320" y="1737360"/>
            <a:ext cx="219456" cy="960120"/>
          </a:xfrm>
          <a:prstGeom prst="rect">
            <a:avLst/>
          </a:prstGeom>
          <a:noFill/>
          <a:ln/>
        </p:spPr>
        <p:txBody>
          <a:bodyPr wrap="square" rtlCol="0" anchor="ctr"/>
          <a:lstStyle/>
          <a:p>
            <a:pPr algn="ctr" indent="0" marL="0">
              <a:buNone/>
            </a:pPr>
            <a:r>
              <a:rPr lang="en-US" sz="1500" dirty="0">
                <a:solidFill>
                  <a:srgbClr val="FFB100"/>
                </a:solidFill>
                <a:latin typeface="Arial" pitchFamily="34" charset="0"/>
                <a:ea typeface="Arial" pitchFamily="34" charset="-122"/>
                <a:cs typeface="Arial" pitchFamily="34" charset="-120"/>
              </a:rPr>
              <a:t>→</a:t>
            </a:r>
            <a:endParaRPr lang="en-US" sz="1500" dirty="0"/>
          </a:p>
        </p:txBody>
      </p:sp>
      <p:sp>
        <p:nvSpPr>
          <p:cNvPr id="8" name="Shape 6"/>
          <p:cNvSpPr/>
          <p:nvPr/>
        </p:nvSpPr>
        <p:spPr>
          <a:xfrm>
            <a:off x="2779776" y="1737360"/>
            <a:ext cx="2011680" cy="960120"/>
          </a:xfrm>
          <a:prstGeom prst="roundRect">
            <a:avLst>
              <a:gd name="adj" fmla="val 7619"/>
            </a:avLst>
          </a:prstGeom>
          <a:solidFill>
            <a:srgbClr val="1F2C4D"/>
          </a:solidFill>
          <a:ln w="13970">
            <a:solidFill>
              <a:srgbClr val="FFB100"/>
            </a:solidFill>
            <a:prstDash val="solid"/>
          </a:ln>
        </p:spPr>
      </p:sp>
      <p:sp>
        <p:nvSpPr>
          <p:cNvPr id="9" name="Text 7"/>
          <p:cNvSpPr/>
          <p:nvPr/>
        </p:nvSpPr>
        <p:spPr>
          <a:xfrm>
            <a:off x="2779776" y="1737360"/>
            <a:ext cx="2011680" cy="960120"/>
          </a:xfrm>
          <a:prstGeom prst="rect">
            <a:avLst/>
          </a:prstGeom>
          <a:noFill/>
          <a:ln/>
        </p:spPr>
        <p:txBody>
          <a:bodyPr wrap="square" rtlCol="0" anchor="ctr"/>
          <a:lstStyle/>
          <a:p>
            <a:pPr algn="ctr" indent="0" marL="0">
              <a:lnSpc>
                <a:spcPct val="110000"/>
              </a:lnSpc>
              <a:buNone/>
            </a:pPr>
            <a:r>
              <a:rPr lang="en-US" sz="1080" b="1" dirty="0">
                <a:solidFill>
                  <a:srgbClr val="FFFFFF"/>
                </a:solidFill>
                <a:latin typeface="Calibri" pitchFamily="34" charset="0"/>
                <a:ea typeface="Calibri" pitchFamily="34" charset="-122"/>
                <a:cs typeface="Calibri" pitchFamily="34" charset="-120"/>
              </a:rPr>
              <a:t>Redirected to</a:t>
            </a:r>
            <a:endParaRPr lang="en-US" sz="1080" dirty="0"/>
          </a:p>
          <a:p>
            <a:pPr algn="ctr" indent="0" marL="0">
              <a:lnSpc>
                <a:spcPct val="110000"/>
              </a:lnSpc>
              <a:buNone/>
            </a:pPr>
            <a:r>
              <a:rPr lang="en-US" sz="1080" b="1" dirty="0">
                <a:solidFill>
                  <a:srgbClr val="FFFFFF"/>
                </a:solidFill>
                <a:latin typeface="Calibri" pitchFamily="34" charset="0"/>
                <a:ea typeface="Calibri" pitchFamily="34" charset="-122"/>
                <a:cs typeface="Calibri" pitchFamily="34" charset="-120"/>
              </a:rPr>
              <a:t>Google consent screen</a:t>
            </a:r>
            <a:endParaRPr lang="en-US" sz="1080" dirty="0"/>
          </a:p>
        </p:txBody>
      </p:sp>
      <p:sp>
        <p:nvSpPr>
          <p:cNvPr id="10" name="Text 8"/>
          <p:cNvSpPr/>
          <p:nvPr/>
        </p:nvSpPr>
        <p:spPr>
          <a:xfrm>
            <a:off x="4791456" y="1737360"/>
            <a:ext cx="219456" cy="960120"/>
          </a:xfrm>
          <a:prstGeom prst="rect">
            <a:avLst/>
          </a:prstGeom>
          <a:noFill/>
          <a:ln/>
        </p:spPr>
        <p:txBody>
          <a:bodyPr wrap="square" rtlCol="0" anchor="ctr"/>
          <a:lstStyle/>
          <a:p>
            <a:pPr algn="ctr" indent="0" marL="0">
              <a:buNone/>
            </a:pPr>
            <a:r>
              <a:rPr lang="en-US" sz="1500" dirty="0">
                <a:solidFill>
                  <a:srgbClr val="FFB100"/>
                </a:solidFill>
                <a:latin typeface="Arial" pitchFamily="34" charset="0"/>
                <a:ea typeface="Arial" pitchFamily="34" charset="-122"/>
                <a:cs typeface="Arial" pitchFamily="34" charset="-120"/>
              </a:rPr>
              <a:t>→</a:t>
            </a:r>
            <a:endParaRPr lang="en-US" sz="1500" dirty="0"/>
          </a:p>
        </p:txBody>
      </p:sp>
      <p:sp>
        <p:nvSpPr>
          <p:cNvPr id="11" name="Shape 9"/>
          <p:cNvSpPr/>
          <p:nvPr/>
        </p:nvSpPr>
        <p:spPr>
          <a:xfrm>
            <a:off x="5010912" y="1737360"/>
            <a:ext cx="2011680" cy="960120"/>
          </a:xfrm>
          <a:prstGeom prst="roundRect">
            <a:avLst>
              <a:gd name="adj" fmla="val 7619"/>
            </a:avLst>
          </a:prstGeom>
          <a:solidFill>
            <a:srgbClr val="1F2C4D"/>
          </a:solidFill>
          <a:ln w="13970">
            <a:solidFill>
              <a:srgbClr val="FFB100"/>
            </a:solidFill>
            <a:prstDash val="solid"/>
          </a:ln>
        </p:spPr>
      </p:sp>
      <p:sp>
        <p:nvSpPr>
          <p:cNvPr id="12" name="Text 10"/>
          <p:cNvSpPr/>
          <p:nvPr/>
        </p:nvSpPr>
        <p:spPr>
          <a:xfrm>
            <a:off x="5010912" y="1737360"/>
            <a:ext cx="2011680" cy="960120"/>
          </a:xfrm>
          <a:prstGeom prst="rect">
            <a:avLst/>
          </a:prstGeom>
          <a:noFill/>
          <a:ln/>
        </p:spPr>
        <p:txBody>
          <a:bodyPr wrap="square" rtlCol="0" anchor="ctr"/>
          <a:lstStyle/>
          <a:p>
            <a:pPr algn="ctr" indent="0" marL="0">
              <a:lnSpc>
                <a:spcPct val="110000"/>
              </a:lnSpc>
              <a:buNone/>
            </a:pPr>
            <a:r>
              <a:rPr lang="en-US" sz="1080" b="1" dirty="0">
                <a:solidFill>
                  <a:srgbClr val="FFFFFF"/>
                </a:solidFill>
                <a:latin typeface="Calibri" pitchFamily="34" charset="0"/>
                <a:ea typeface="Calibri" pitchFamily="34" charset="-122"/>
                <a:cs typeface="Calibri" pitchFamily="34" charset="-120"/>
              </a:rPr>
              <a:t>Google returns</a:t>
            </a:r>
            <a:endParaRPr lang="en-US" sz="1080" dirty="0"/>
          </a:p>
          <a:p>
            <a:pPr algn="ctr" indent="0" marL="0">
              <a:lnSpc>
                <a:spcPct val="110000"/>
              </a:lnSpc>
              <a:buNone/>
            </a:pPr>
            <a:r>
              <a:rPr lang="en-US" sz="1080" b="1" dirty="0">
                <a:solidFill>
                  <a:srgbClr val="FFFFFF"/>
                </a:solidFill>
                <a:latin typeface="Calibri" pitchFamily="34" charset="0"/>
                <a:ea typeface="Calibri" pitchFamily="34" charset="-122"/>
                <a:cs typeface="Calibri" pitchFamily="34" charset="-120"/>
              </a:rPr>
              <a:t>auth code</a:t>
            </a:r>
            <a:endParaRPr lang="en-US" sz="1080" dirty="0"/>
          </a:p>
        </p:txBody>
      </p:sp>
      <p:sp>
        <p:nvSpPr>
          <p:cNvPr id="13" name="Text 11"/>
          <p:cNvSpPr/>
          <p:nvPr/>
        </p:nvSpPr>
        <p:spPr>
          <a:xfrm>
            <a:off x="7022592" y="1737360"/>
            <a:ext cx="219456" cy="960120"/>
          </a:xfrm>
          <a:prstGeom prst="rect">
            <a:avLst/>
          </a:prstGeom>
          <a:noFill/>
          <a:ln/>
        </p:spPr>
        <p:txBody>
          <a:bodyPr wrap="square" rtlCol="0" anchor="ctr"/>
          <a:lstStyle/>
          <a:p>
            <a:pPr algn="ctr" indent="0" marL="0">
              <a:buNone/>
            </a:pPr>
            <a:r>
              <a:rPr lang="en-US" sz="1500" dirty="0">
                <a:solidFill>
                  <a:srgbClr val="FFB100"/>
                </a:solidFill>
                <a:latin typeface="Arial" pitchFamily="34" charset="0"/>
                <a:ea typeface="Arial" pitchFamily="34" charset="-122"/>
                <a:cs typeface="Arial" pitchFamily="34" charset="-120"/>
              </a:rPr>
              <a:t>→</a:t>
            </a:r>
            <a:endParaRPr lang="en-US" sz="1500" dirty="0"/>
          </a:p>
        </p:txBody>
      </p:sp>
      <p:sp>
        <p:nvSpPr>
          <p:cNvPr id="14" name="Shape 12"/>
          <p:cNvSpPr/>
          <p:nvPr/>
        </p:nvSpPr>
        <p:spPr>
          <a:xfrm>
            <a:off x="7242048" y="1737360"/>
            <a:ext cx="2011680" cy="960120"/>
          </a:xfrm>
          <a:prstGeom prst="roundRect">
            <a:avLst>
              <a:gd name="adj" fmla="val 7619"/>
            </a:avLst>
          </a:prstGeom>
          <a:solidFill>
            <a:srgbClr val="1F2C4D"/>
          </a:solidFill>
          <a:ln w="13970">
            <a:solidFill>
              <a:srgbClr val="FFB100"/>
            </a:solidFill>
            <a:prstDash val="solid"/>
          </a:ln>
        </p:spPr>
      </p:sp>
      <p:sp>
        <p:nvSpPr>
          <p:cNvPr id="15" name="Text 13"/>
          <p:cNvSpPr/>
          <p:nvPr/>
        </p:nvSpPr>
        <p:spPr>
          <a:xfrm>
            <a:off x="7242048" y="1737360"/>
            <a:ext cx="2011680" cy="960120"/>
          </a:xfrm>
          <a:prstGeom prst="rect">
            <a:avLst/>
          </a:prstGeom>
          <a:noFill/>
          <a:ln/>
        </p:spPr>
        <p:txBody>
          <a:bodyPr wrap="square" rtlCol="0" anchor="ctr"/>
          <a:lstStyle/>
          <a:p>
            <a:pPr algn="ctr" indent="0" marL="0">
              <a:lnSpc>
                <a:spcPct val="110000"/>
              </a:lnSpc>
              <a:buNone/>
            </a:pPr>
            <a:r>
              <a:rPr lang="en-US" sz="1080" b="1" dirty="0">
                <a:solidFill>
                  <a:srgbClr val="FFFFFF"/>
                </a:solidFill>
                <a:latin typeface="Calibri" pitchFamily="34" charset="0"/>
                <a:ea typeface="Calibri" pitchFamily="34" charset="-122"/>
                <a:cs typeface="Calibri" pitchFamily="34" charset="-120"/>
              </a:rPr>
              <a:t>Passport.js exchanges</a:t>
            </a:r>
            <a:endParaRPr lang="en-US" sz="1080" dirty="0"/>
          </a:p>
          <a:p>
            <a:pPr algn="ctr" indent="0" marL="0">
              <a:lnSpc>
                <a:spcPct val="110000"/>
              </a:lnSpc>
              <a:buNone/>
            </a:pPr>
            <a:r>
              <a:rPr lang="en-US" sz="1080" b="1" dirty="0">
                <a:solidFill>
                  <a:srgbClr val="FFFFFF"/>
                </a:solidFill>
                <a:latin typeface="Calibri" pitchFamily="34" charset="0"/>
                <a:ea typeface="Calibri" pitchFamily="34" charset="-122"/>
                <a:cs typeface="Calibri" pitchFamily="34" charset="-120"/>
              </a:rPr>
              <a:t>code for profile</a:t>
            </a:r>
            <a:endParaRPr lang="en-US" sz="1080" dirty="0"/>
          </a:p>
        </p:txBody>
      </p:sp>
      <p:sp>
        <p:nvSpPr>
          <p:cNvPr id="16" name="Text 14"/>
          <p:cNvSpPr/>
          <p:nvPr/>
        </p:nvSpPr>
        <p:spPr>
          <a:xfrm>
            <a:off x="9253728" y="1737360"/>
            <a:ext cx="219456" cy="960120"/>
          </a:xfrm>
          <a:prstGeom prst="rect">
            <a:avLst/>
          </a:prstGeom>
          <a:noFill/>
          <a:ln/>
        </p:spPr>
        <p:txBody>
          <a:bodyPr wrap="square" rtlCol="0" anchor="ctr"/>
          <a:lstStyle/>
          <a:p>
            <a:pPr algn="ctr" indent="0" marL="0">
              <a:buNone/>
            </a:pPr>
            <a:r>
              <a:rPr lang="en-US" sz="1500" dirty="0">
                <a:solidFill>
                  <a:srgbClr val="FFB100"/>
                </a:solidFill>
                <a:latin typeface="Arial" pitchFamily="34" charset="0"/>
                <a:ea typeface="Arial" pitchFamily="34" charset="-122"/>
                <a:cs typeface="Arial" pitchFamily="34" charset="-120"/>
              </a:rPr>
              <a:t>→</a:t>
            </a:r>
            <a:endParaRPr lang="en-US" sz="1500" dirty="0"/>
          </a:p>
        </p:txBody>
      </p:sp>
      <p:sp>
        <p:nvSpPr>
          <p:cNvPr id="17" name="Shape 15"/>
          <p:cNvSpPr/>
          <p:nvPr/>
        </p:nvSpPr>
        <p:spPr>
          <a:xfrm>
            <a:off x="9473184" y="1737360"/>
            <a:ext cx="2011680" cy="960120"/>
          </a:xfrm>
          <a:prstGeom prst="roundRect">
            <a:avLst>
              <a:gd name="adj" fmla="val 7619"/>
            </a:avLst>
          </a:prstGeom>
          <a:solidFill>
            <a:srgbClr val="1F2C4D"/>
          </a:solidFill>
          <a:ln w="13970">
            <a:solidFill>
              <a:srgbClr val="FFB100"/>
            </a:solidFill>
            <a:prstDash val="solid"/>
          </a:ln>
        </p:spPr>
      </p:sp>
      <p:sp>
        <p:nvSpPr>
          <p:cNvPr id="18" name="Text 16"/>
          <p:cNvSpPr/>
          <p:nvPr/>
        </p:nvSpPr>
        <p:spPr>
          <a:xfrm>
            <a:off x="9473184" y="1737360"/>
            <a:ext cx="2011680" cy="960120"/>
          </a:xfrm>
          <a:prstGeom prst="rect">
            <a:avLst/>
          </a:prstGeom>
          <a:noFill/>
          <a:ln/>
        </p:spPr>
        <p:txBody>
          <a:bodyPr wrap="square" rtlCol="0" anchor="ctr"/>
          <a:lstStyle/>
          <a:p>
            <a:pPr algn="ctr" indent="0" marL="0">
              <a:lnSpc>
                <a:spcPct val="110000"/>
              </a:lnSpc>
              <a:buNone/>
            </a:pPr>
            <a:r>
              <a:rPr lang="en-US" sz="1080" b="1" dirty="0">
                <a:solidFill>
                  <a:srgbClr val="FFFFFF"/>
                </a:solidFill>
                <a:latin typeface="Calibri" pitchFamily="34" charset="0"/>
                <a:ea typeface="Calibri" pitchFamily="34" charset="-122"/>
                <a:cs typeface="Calibri" pitchFamily="34" charset="-120"/>
              </a:rPr>
              <a:t>Backend issues</a:t>
            </a:r>
            <a:endParaRPr lang="en-US" sz="1080" dirty="0"/>
          </a:p>
          <a:p>
            <a:pPr algn="ctr" indent="0" marL="0">
              <a:lnSpc>
                <a:spcPct val="110000"/>
              </a:lnSpc>
              <a:buNone/>
            </a:pPr>
            <a:r>
              <a:rPr lang="en-US" sz="1080" b="1" dirty="0">
                <a:solidFill>
                  <a:srgbClr val="FFFFFF"/>
                </a:solidFill>
                <a:latin typeface="Calibri" pitchFamily="34" charset="0"/>
                <a:ea typeface="Calibri" pitchFamily="34" charset="-122"/>
                <a:cs typeface="Calibri" pitchFamily="34" charset="-120"/>
              </a:rPr>
              <a:t>signed JWT</a:t>
            </a:r>
            <a:endParaRPr lang="en-US" sz="1080" dirty="0"/>
          </a:p>
        </p:txBody>
      </p:sp>
      <p:sp>
        <p:nvSpPr>
          <p:cNvPr id="19" name="Text 17"/>
          <p:cNvSpPr/>
          <p:nvPr/>
        </p:nvSpPr>
        <p:spPr>
          <a:xfrm>
            <a:off x="548640" y="3063240"/>
            <a:ext cx="5486400" cy="274320"/>
          </a:xfrm>
          <a:prstGeom prst="rect">
            <a:avLst/>
          </a:prstGeom>
          <a:noFill/>
          <a:ln/>
        </p:spPr>
        <p:txBody>
          <a:bodyPr wrap="square" rtlCol="0" anchor="ctr"/>
          <a:lstStyle/>
          <a:p>
            <a:pPr indent="0" marL="0">
              <a:buNone/>
            </a:pPr>
            <a:r>
              <a:rPr lang="en-US" sz="1200" b="1" spc="100" kern="0" dirty="0">
                <a:solidFill>
                  <a:srgbClr val="FFB100"/>
                </a:solidFill>
                <a:latin typeface="Calibri" pitchFamily="34" charset="0"/>
                <a:ea typeface="Calibri" pitchFamily="34" charset="-122"/>
                <a:cs typeface="Calibri" pitchFamily="34" charset="-120"/>
              </a:rPr>
              <a:t>JWT ANATOMY</a:t>
            </a:r>
            <a:endParaRPr lang="en-US" sz="1200" dirty="0"/>
          </a:p>
        </p:txBody>
      </p:sp>
      <p:sp>
        <p:nvSpPr>
          <p:cNvPr id="20" name="Shape 18"/>
          <p:cNvSpPr/>
          <p:nvPr/>
        </p:nvSpPr>
        <p:spPr>
          <a:xfrm>
            <a:off x="548640" y="3383280"/>
            <a:ext cx="5532120" cy="868680"/>
          </a:xfrm>
          <a:prstGeom prst="roundRect">
            <a:avLst>
              <a:gd name="adj" fmla="val 6316"/>
            </a:avLst>
          </a:prstGeom>
          <a:solidFill>
            <a:srgbClr val="17203A"/>
          </a:solidFill>
          <a:ln/>
        </p:spPr>
      </p:sp>
      <p:sp>
        <p:nvSpPr>
          <p:cNvPr id="21" name="Text 19"/>
          <p:cNvSpPr/>
          <p:nvPr/>
        </p:nvSpPr>
        <p:spPr>
          <a:xfrm>
            <a:off x="731520" y="3456432"/>
            <a:ext cx="5166360" cy="722376"/>
          </a:xfrm>
          <a:prstGeom prst="rect">
            <a:avLst/>
          </a:prstGeom>
          <a:noFill/>
          <a:ln/>
        </p:spPr>
        <p:txBody>
          <a:bodyPr wrap="square" rtlCol="0" anchor="ctr"/>
          <a:lstStyle/>
          <a:p>
            <a:pPr indent="0" marL="0">
              <a:lnSpc>
                <a:spcPct val="125000"/>
              </a:lnSpc>
              <a:buNone/>
            </a:pPr>
            <a:r>
              <a:rPr lang="en-US" sz="1100" dirty="0">
                <a:solidFill>
                  <a:srgbClr val="9FE6C8"/>
                </a:solidFill>
                <a:latin typeface="Courier New" pitchFamily="34" charset="0"/>
                <a:ea typeface="Courier New" pitchFamily="34" charset="-122"/>
                <a:cs typeface="Courier New" pitchFamily="34" charset="-120"/>
              </a:rPr>
              <a:t>xxxxx.yyyyy.zzzzz</a:t>
            </a:r>
            <a:endParaRPr lang="en-US" sz="1100" dirty="0"/>
          </a:p>
          <a:p>
            <a:pPr indent="0" marL="0">
              <a:lnSpc>
                <a:spcPct val="125000"/>
              </a:lnSpc>
              <a:buNone/>
            </a:pPr>
            <a:r>
              <a:rPr lang="en-US" sz="1100" dirty="0">
                <a:solidFill>
                  <a:srgbClr val="9FE6C8"/>
                </a:solidFill>
                <a:latin typeface="Courier New" pitchFamily="34" charset="0"/>
                <a:ea typeface="Courier New" pitchFamily="34" charset="-122"/>
                <a:cs typeface="Courier New" pitchFamily="34" charset="-120"/>
              </a:rPr>
              <a:t>HEADER (alg,typ)  .  PAYLOAD (userId, exp)  .  SIGNATURE</a:t>
            </a:r>
            <a:endParaRPr lang="en-US" sz="1100" dirty="0"/>
          </a:p>
        </p:txBody>
      </p:sp>
      <p:sp>
        <p:nvSpPr>
          <p:cNvPr id="22" name="Shape 20"/>
          <p:cNvSpPr/>
          <p:nvPr/>
        </p:nvSpPr>
        <p:spPr>
          <a:xfrm>
            <a:off x="548640" y="4434840"/>
            <a:ext cx="146304" cy="146304"/>
          </a:xfrm>
          <a:prstGeom prst="ellipse">
            <a:avLst/>
          </a:prstGeom>
          <a:solidFill>
            <a:srgbClr val="FFB100"/>
          </a:solidFill>
          <a:ln/>
        </p:spPr>
      </p:sp>
      <p:sp>
        <p:nvSpPr>
          <p:cNvPr id="23" name="Text 21"/>
          <p:cNvSpPr/>
          <p:nvPr/>
        </p:nvSpPr>
        <p:spPr>
          <a:xfrm>
            <a:off x="868680" y="4334256"/>
            <a:ext cx="5212080" cy="365760"/>
          </a:xfrm>
          <a:prstGeom prst="rect">
            <a:avLst/>
          </a:prstGeom>
          <a:noFill/>
          <a:ln/>
        </p:spPr>
        <p:txBody>
          <a:bodyPr wrap="square" rtlCol="0" anchor="ctr"/>
          <a:lstStyle/>
          <a:p>
            <a:pPr indent="0" marL="0">
              <a:buNone/>
            </a:pPr>
            <a:r>
              <a:rPr lang="en-US" sz="1100" dirty="0">
                <a:solidFill>
                  <a:srgbClr val="D9E3E8"/>
                </a:solidFill>
                <a:latin typeface="Calibri" pitchFamily="34" charset="0"/>
                <a:ea typeface="Calibri" pitchFamily="34" charset="-122"/>
                <a:cs typeface="Calibri" pitchFamily="34" charset="-120"/>
              </a:rPr>
              <a:t>Header: token type + signing algorithm (HS256)</a:t>
            </a:r>
            <a:endParaRPr lang="en-US" sz="1100" dirty="0"/>
          </a:p>
        </p:txBody>
      </p:sp>
      <p:sp>
        <p:nvSpPr>
          <p:cNvPr id="24" name="Shape 22"/>
          <p:cNvSpPr/>
          <p:nvPr/>
        </p:nvSpPr>
        <p:spPr>
          <a:xfrm>
            <a:off x="548640" y="4800600"/>
            <a:ext cx="146304" cy="146304"/>
          </a:xfrm>
          <a:prstGeom prst="ellipse">
            <a:avLst/>
          </a:prstGeom>
          <a:solidFill>
            <a:srgbClr val="FFB100"/>
          </a:solidFill>
          <a:ln/>
        </p:spPr>
      </p:sp>
      <p:sp>
        <p:nvSpPr>
          <p:cNvPr id="25" name="Text 23"/>
          <p:cNvSpPr/>
          <p:nvPr/>
        </p:nvSpPr>
        <p:spPr>
          <a:xfrm>
            <a:off x="868680" y="4700016"/>
            <a:ext cx="5212080" cy="365760"/>
          </a:xfrm>
          <a:prstGeom prst="rect">
            <a:avLst/>
          </a:prstGeom>
          <a:noFill/>
          <a:ln/>
        </p:spPr>
        <p:txBody>
          <a:bodyPr wrap="square" rtlCol="0" anchor="ctr"/>
          <a:lstStyle/>
          <a:p>
            <a:pPr indent="0" marL="0">
              <a:buNone/>
            </a:pPr>
            <a:r>
              <a:rPr lang="en-US" sz="1100" dirty="0">
                <a:solidFill>
                  <a:srgbClr val="D9E3E8"/>
                </a:solidFill>
                <a:latin typeface="Calibri" pitchFamily="34" charset="0"/>
                <a:ea typeface="Calibri" pitchFamily="34" charset="-122"/>
                <a:cs typeface="Calibri" pitchFamily="34" charset="-120"/>
              </a:rPr>
              <a:t>Payload: user ID, email, issued-at &amp; expiry claims</a:t>
            </a:r>
            <a:endParaRPr lang="en-US" sz="1100" dirty="0"/>
          </a:p>
        </p:txBody>
      </p:sp>
      <p:sp>
        <p:nvSpPr>
          <p:cNvPr id="26" name="Shape 24"/>
          <p:cNvSpPr/>
          <p:nvPr/>
        </p:nvSpPr>
        <p:spPr>
          <a:xfrm>
            <a:off x="548640" y="5166360"/>
            <a:ext cx="146304" cy="146304"/>
          </a:xfrm>
          <a:prstGeom prst="ellipse">
            <a:avLst/>
          </a:prstGeom>
          <a:solidFill>
            <a:srgbClr val="FFB100"/>
          </a:solidFill>
          <a:ln/>
        </p:spPr>
      </p:sp>
      <p:sp>
        <p:nvSpPr>
          <p:cNvPr id="27" name="Text 25"/>
          <p:cNvSpPr/>
          <p:nvPr/>
        </p:nvSpPr>
        <p:spPr>
          <a:xfrm>
            <a:off x="868680" y="5065776"/>
            <a:ext cx="5212080" cy="365760"/>
          </a:xfrm>
          <a:prstGeom prst="rect">
            <a:avLst/>
          </a:prstGeom>
          <a:noFill/>
          <a:ln/>
        </p:spPr>
        <p:txBody>
          <a:bodyPr wrap="square" rtlCol="0" anchor="ctr"/>
          <a:lstStyle/>
          <a:p>
            <a:pPr indent="0" marL="0">
              <a:buNone/>
            </a:pPr>
            <a:r>
              <a:rPr lang="en-US" sz="1100" dirty="0">
                <a:solidFill>
                  <a:srgbClr val="D9E3E8"/>
                </a:solidFill>
                <a:latin typeface="Calibri" pitchFamily="34" charset="0"/>
                <a:ea typeface="Calibri" pitchFamily="34" charset="-122"/>
                <a:cs typeface="Calibri" pitchFamily="34" charset="-120"/>
              </a:rPr>
              <a:t>Signature: HMAC of header+payload using server secret — tamper-proof</a:t>
            </a:r>
            <a:endParaRPr lang="en-US" sz="1100" dirty="0"/>
          </a:p>
        </p:txBody>
      </p:sp>
      <p:sp>
        <p:nvSpPr>
          <p:cNvPr id="28" name="Shape 26"/>
          <p:cNvSpPr/>
          <p:nvPr/>
        </p:nvSpPr>
        <p:spPr>
          <a:xfrm>
            <a:off x="6355080" y="3063240"/>
            <a:ext cx="5257800" cy="3108960"/>
          </a:xfrm>
          <a:prstGeom prst="roundRect">
            <a:avLst>
              <a:gd name="adj" fmla="val 2941"/>
            </a:avLst>
          </a:prstGeom>
          <a:solidFill>
            <a:srgbClr val="1F2C4D"/>
          </a:solidFill>
          <a:ln/>
        </p:spPr>
      </p:sp>
      <p:sp>
        <p:nvSpPr>
          <p:cNvPr id="29" name="Text 27"/>
          <p:cNvSpPr/>
          <p:nvPr/>
        </p:nvSpPr>
        <p:spPr>
          <a:xfrm>
            <a:off x="6583680" y="3227832"/>
            <a:ext cx="4800600" cy="274320"/>
          </a:xfrm>
          <a:prstGeom prst="rect">
            <a:avLst/>
          </a:prstGeom>
          <a:noFill/>
          <a:ln/>
        </p:spPr>
        <p:txBody>
          <a:bodyPr wrap="square" rtlCol="0" anchor="ctr"/>
          <a:lstStyle/>
          <a:p>
            <a:pPr indent="0" marL="0">
              <a:buNone/>
            </a:pPr>
            <a:r>
              <a:rPr lang="en-US" sz="1100" b="1" spc="50" kern="0" dirty="0">
                <a:solidFill>
                  <a:srgbClr val="FFB100"/>
                </a:solidFill>
                <a:latin typeface="Calibri" pitchFamily="34" charset="0"/>
                <a:ea typeface="Calibri" pitchFamily="34" charset="-122"/>
                <a:cs typeface="Calibri" pitchFamily="34" charset="-120"/>
              </a:rPr>
              <a:t>REQUEST-TIME VERIFICATION MIDDLEWARE</a:t>
            </a:r>
            <a:endParaRPr lang="en-US" sz="1100" dirty="0"/>
          </a:p>
        </p:txBody>
      </p:sp>
      <p:sp>
        <p:nvSpPr>
          <p:cNvPr id="30" name="Text 28"/>
          <p:cNvSpPr/>
          <p:nvPr/>
        </p:nvSpPr>
        <p:spPr>
          <a:xfrm>
            <a:off x="6583680" y="3566160"/>
            <a:ext cx="320040" cy="347472"/>
          </a:xfrm>
          <a:prstGeom prst="rect">
            <a:avLst/>
          </a:prstGeom>
          <a:noFill/>
          <a:ln/>
        </p:spPr>
        <p:txBody>
          <a:bodyPr wrap="square" rtlCol="0" anchor="ctr"/>
          <a:lstStyle/>
          <a:p>
            <a:pPr indent="0" marL="0">
              <a:buNone/>
            </a:pPr>
            <a:r>
              <a:rPr lang="en-US" sz="1200" b="1" dirty="0">
                <a:solidFill>
                  <a:srgbClr val="FFB100"/>
                </a:solidFill>
                <a:latin typeface="Arial" pitchFamily="34" charset="0"/>
                <a:ea typeface="Arial" pitchFamily="34" charset="-122"/>
                <a:cs typeface="Arial" pitchFamily="34" charset="-120"/>
              </a:rPr>
              <a:t>1</a:t>
            </a:r>
            <a:endParaRPr lang="en-US" sz="1200" dirty="0"/>
          </a:p>
        </p:txBody>
      </p:sp>
      <p:sp>
        <p:nvSpPr>
          <p:cNvPr id="31" name="Text 29"/>
          <p:cNvSpPr/>
          <p:nvPr/>
        </p:nvSpPr>
        <p:spPr>
          <a:xfrm>
            <a:off x="6949440" y="3566160"/>
            <a:ext cx="4480560" cy="347472"/>
          </a:xfrm>
          <a:prstGeom prst="rect">
            <a:avLst/>
          </a:prstGeom>
          <a:noFill/>
          <a:ln/>
        </p:spPr>
        <p:txBody>
          <a:bodyPr wrap="square" rtlCol="0" anchor="ctr"/>
          <a:lstStyle/>
          <a:p>
            <a:pPr indent="0" marL="0">
              <a:buNone/>
            </a:pPr>
            <a:r>
              <a:rPr lang="en-US" sz="1100" dirty="0">
                <a:solidFill>
                  <a:srgbClr val="E8EEF2"/>
                </a:solidFill>
                <a:latin typeface="Calibri" pitchFamily="34" charset="0"/>
                <a:ea typeface="Calibri" pitchFamily="34" charset="-122"/>
                <a:cs typeface="Calibri" pitchFamily="34" charset="-120"/>
              </a:rPr>
              <a:t>Read Authorization: Bearer &lt;token&gt; header</a:t>
            </a:r>
            <a:endParaRPr lang="en-US" sz="1100" dirty="0"/>
          </a:p>
        </p:txBody>
      </p:sp>
      <p:sp>
        <p:nvSpPr>
          <p:cNvPr id="32" name="Text 30"/>
          <p:cNvSpPr/>
          <p:nvPr/>
        </p:nvSpPr>
        <p:spPr>
          <a:xfrm>
            <a:off x="6583680" y="3950208"/>
            <a:ext cx="320040" cy="347472"/>
          </a:xfrm>
          <a:prstGeom prst="rect">
            <a:avLst/>
          </a:prstGeom>
          <a:noFill/>
          <a:ln/>
        </p:spPr>
        <p:txBody>
          <a:bodyPr wrap="square" rtlCol="0" anchor="ctr"/>
          <a:lstStyle/>
          <a:p>
            <a:pPr indent="0" marL="0">
              <a:buNone/>
            </a:pPr>
            <a:r>
              <a:rPr lang="en-US" sz="1200" b="1" dirty="0">
                <a:solidFill>
                  <a:srgbClr val="FFB100"/>
                </a:solidFill>
                <a:latin typeface="Arial" pitchFamily="34" charset="0"/>
                <a:ea typeface="Arial" pitchFamily="34" charset="-122"/>
                <a:cs typeface="Arial" pitchFamily="34" charset="-120"/>
              </a:rPr>
              <a:t>2</a:t>
            </a:r>
            <a:endParaRPr lang="en-US" sz="1200" dirty="0"/>
          </a:p>
        </p:txBody>
      </p:sp>
      <p:sp>
        <p:nvSpPr>
          <p:cNvPr id="33" name="Text 31"/>
          <p:cNvSpPr/>
          <p:nvPr/>
        </p:nvSpPr>
        <p:spPr>
          <a:xfrm>
            <a:off x="6949440" y="3950208"/>
            <a:ext cx="4480560" cy="347472"/>
          </a:xfrm>
          <a:prstGeom prst="rect">
            <a:avLst/>
          </a:prstGeom>
          <a:noFill/>
          <a:ln/>
        </p:spPr>
        <p:txBody>
          <a:bodyPr wrap="square" rtlCol="0" anchor="ctr"/>
          <a:lstStyle/>
          <a:p>
            <a:pPr indent="0" marL="0">
              <a:buNone/>
            </a:pPr>
            <a:r>
              <a:rPr lang="en-US" sz="1100" dirty="0">
                <a:solidFill>
                  <a:srgbClr val="E8EEF2"/>
                </a:solidFill>
                <a:latin typeface="Calibri" pitchFamily="34" charset="0"/>
                <a:ea typeface="Calibri" pitchFamily="34" charset="-122"/>
                <a:cs typeface="Calibri" pitchFamily="34" charset="-120"/>
              </a:rPr>
              <a:t>Verify signature against server secret</a:t>
            </a:r>
            <a:endParaRPr lang="en-US" sz="1100" dirty="0"/>
          </a:p>
        </p:txBody>
      </p:sp>
      <p:sp>
        <p:nvSpPr>
          <p:cNvPr id="34" name="Text 32"/>
          <p:cNvSpPr/>
          <p:nvPr/>
        </p:nvSpPr>
        <p:spPr>
          <a:xfrm>
            <a:off x="6583680" y="4334256"/>
            <a:ext cx="320040" cy="347472"/>
          </a:xfrm>
          <a:prstGeom prst="rect">
            <a:avLst/>
          </a:prstGeom>
          <a:noFill/>
          <a:ln/>
        </p:spPr>
        <p:txBody>
          <a:bodyPr wrap="square" rtlCol="0" anchor="ctr"/>
          <a:lstStyle/>
          <a:p>
            <a:pPr indent="0" marL="0">
              <a:buNone/>
            </a:pPr>
            <a:r>
              <a:rPr lang="en-US" sz="1200" b="1" dirty="0">
                <a:solidFill>
                  <a:srgbClr val="FFB100"/>
                </a:solidFill>
                <a:latin typeface="Arial" pitchFamily="34" charset="0"/>
                <a:ea typeface="Arial" pitchFamily="34" charset="-122"/>
                <a:cs typeface="Arial" pitchFamily="34" charset="-120"/>
              </a:rPr>
              <a:t>3</a:t>
            </a:r>
            <a:endParaRPr lang="en-US" sz="1200" dirty="0"/>
          </a:p>
        </p:txBody>
      </p:sp>
      <p:sp>
        <p:nvSpPr>
          <p:cNvPr id="35" name="Text 33"/>
          <p:cNvSpPr/>
          <p:nvPr/>
        </p:nvSpPr>
        <p:spPr>
          <a:xfrm>
            <a:off x="6949440" y="4334256"/>
            <a:ext cx="4480560" cy="347472"/>
          </a:xfrm>
          <a:prstGeom prst="rect">
            <a:avLst/>
          </a:prstGeom>
          <a:noFill/>
          <a:ln/>
        </p:spPr>
        <p:txBody>
          <a:bodyPr wrap="square" rtlCol="0" anchor="ctr"/>
          <a:lstStyle/>
          <a:p>
            <a:pPr indent="0" marL="0">
              <a:buNone/>
            </a:pPr>
            <a:r>
              <a:rPr lang="en-US" sz="1100" dirty="0">
                <a:solidFill>
                  <a:srgbClr val="E8EEF2"/>
                </a:solidFill>
                <a:latin typeface="Calibri" pitchFamily="34" charset="0"/>
                <a:ea typeface="Calibri" pitchFamily="34" charset="-122"/>
                <a:cs typeface="Calibri" pitchFamily="34" charset="-120"/>
              </a:rPr>
              <a:t>Check exp claim — reject if expired</a:t>
            </a:r>
            <a:endParaRPr lang="en-US" sz="1100" dirty="0"/>
          </a:p>
        </p:txBody>
      </p:sp>
      <p:sp>
        <p:nvSpPr>
          <p:cNvPr id="36" name="Text 34"/>
          <p:cNvSpPr/>
          <p:nvPr/>
        </p:nvSpPr>
        <p:spPr>
          <a:xfrm>
            <a:off x="6583680" y="4718304"/>
            <a:ext cx="320040" cy="347472"/>
          </a:xfrm>
          <a:prstGeom prst="rect">
            <a:avLst/>
          </a:prstGeom>
          <a:noFill/>
          <a:ln/>
        </p:spPr>
        <p:txBody>
          <a:bodyPr wrap="square" rtlCol="0" anchor="ctr"/>
          <a:lstStyle/>
          <a:p>
            <a:pPr indent="0" marL="0">
              <a:buNone/>
            </a:pPr>
            <a:r>
              <a:rPr lang="en-US" sz="1200" b="1" dirty="0">
                <a:solidFill>
                  <a:srgbClr val="FFB100"/>
                </a:solidFill>
                <a:latin typeface="Arial" pitchFamily="34" charset="0"/>
                <a:ea typeface="Arial" pitchFamily="34" charset="-122"/>
                <a:cs typeface="Arial" pitchFamily="34" charset="-120"/>
              </a:rPr>
              <a:t>4</a:t>
            </a:r>
            <a:endParaRPr lang="en-US" sz="1200" dirty="0"/>
          </a:p>
        </p:txBody>
      </p:sp>
      <p:sp>
        <p:nvSpPr>
          <p:cNvPr id="37" name="Text 35"/>
          <p:cNvSpPr/>
          <p:nvPr/>
        </p:nvSpPr>
        <p:spPr>
          <a:xfrm>
            <a:off x="6949440" y="4718304"/>
            <a:ext cx="4480560" cy="347472"/>
          </a:xfrm>
          <a:prstGeom prst="rect">
            <a:avLst/>
          </a:prstGeom>
          <a:noFill/>
          <a:ln/>
        </p:spPr>
        <p:txBody>
          <a:bodyPr wrap="square" rtlCol="0" anchor="ctr"/>
          <a:lstStyle/>
          <a:p>
            <a:pPr indent="0" marL="0">
              <a:buNone/>
            </a:pPr>
            <a:r>
              <a:rPr lang="en-US" sz="1100" dirty="0">
                <a:solidFill>
                  <a:srgbClr val="E8EEF2"/>
                </a:solidFill>
                <a:latin typeface="Calibri" pitchFamily="34" charset="0"/>
                <a:ea typeface="Calibri" pitchFamily="34" charset="-122"/>
                <a:cs typeface="Calibri" pitchFamily="34" charset="-120"/>
              </a:rPr>
              <a:t>Attach decoded user to req.user</a:t>
            </a:r>
            <a:endParaRPr lang="en-US" sz="1100" dirty="0"/>
          </a:p>
        </p:txBody>
      </p:sp>
      <p:sp>
        <p:nvSpPr>
          <p:cNvPr id="38" name="Text 36"/>
          <p:cNvSpPr/>
          <p:nvPr/>
        </p:nvSpPr>
        <p:spPr>
          <a:xfrm>
            <a:off x="6583680" y="5102352"/>
            <a:ext cx="320040" cy="347472"/>
          </a:xfrm>
          <a:prstGeom prst="rect">
            <a:avLst/>
          </a:prstGeom>
          <a:noFill/>
          <a:ln/>
        </p:spPr>
        <p:txBody>
          <a:bodyPr wrap="square" rtlCol="0" anchor="ctr"/>
          <a:lstStyle/>
          <a:p>
            <a:pPr indent="0" marL="0">
              <a:buNone/>
            </a:pPr>
            <a:r>
              <a:rPr lang="en-US" sz="1200" b="1" dirty="0">
                <a:solidFill>
                  <a:srgbClr val="FFB100"/>
                </a:solidFill>
                <a:latin typeface="Arial" pitchFamily="34" charset="0"/>
                <a:ea typeface="Arial" pitchFamily="34" charset="-122"/>
                <a:cs typeface="Arial" pitchFamily="34" charset="-120"/>
              </a:rPr>
              <a:t>5</a:t>
            </a:r>
            <a:endParaRPr lang="en-US" sz="1200" dirty="0"/>
          </a:p>
        </p:txBody>
      </p:sp>
      <p:sp>
        <p:nvSpPr>
          <p:cNvPr id="39" name="Text 37"/>
          <p:cNvSpPr/>
          <p:nvPr/>
        </p:nvSpPr>
        <p:spPr>
          <a:xfrm>
            <a:off x="6949440" y="5102352"/>
            <a:ext cx="4480560" cy="347472"/>
          </a:xfrm>
          <a:prstGeom prst="rect">
            <a:avLst/>
          </a:prstGeom>
          <a:noFill/>
          <a:ln/>
        </p:spPr>
        <p:txBody>
          <a:bodyPr wrap="square" rtlCol="0" anchor="ctr"/>
          <a:lstStyle/>
          <a:p>
            <a:pPr indent="0" marL="0">
              <a:buNone/>
            </a:pPr>
            <a:r>
              <a:rPr lang="en-US" sz="1100" dirty="0">
                <a:solidFill>
                  <a:srgbClr val="E8EEF2"/>
                </a:solidFill>
                <a:latin typeface="Calibri" pitchFamily="34" charset="0"/>
                <a:ea typeface="Calibri" pitchFamily="34" charset="-122"/>
                <a:cs typeface="Calibri" pitchFamily="34" charset="-120"/>
              </a:rPr>
              <a:t>Pass control to the route handler</a:t>
            </a:r>
            <a:endParaRPr lang="en-US" sz="1100" dirty="0"/>
          </a:p>
        </p:txBody>
      </p:sp>
      <p:sp>
        <p:nvSpPr>
          <p:cNvPr id="40" name="Text 38"/>
          <p:cNvSpPr/>
          <p:nvPr/>
        </p:nvSpPr>
        <p:spPr>
          <a:xfrm>
            <a:off x="6583680" y="5559552"/>
            <a:ext cx="4846320" cy="457200"/>
          </a:xfrm>
          <a:prstGeom prst="rect">
            <a:avLst/>
          </a:prstGeom>
          <a:noFill/>
          <a:ln/>
        </p:spPr>
        <p:txBody>
          <a:bodyPr wrap="square" rtlCol="0" anchor="ctr"/>
          <a:lstStyle/>
          <a:p>
            <a:pPr indent="0" marL="0">
              <a:buNone/>
            </a:pPr>
            <a:r>
              <a:rPr lang="en-US" sz="1050" i="1" dirty="0">
                <a:solidFill>
                  <a:srgbClr val="B9C6D0"/>
                </a:solidFill>
                <a:latin typeface="Calibri" pitchFamily="34" charset="0"/>
                <a:ea typeface="Calibri" pitchFamily="34" charset="-122"/>
                <a:cs typeface="Calibri" pitchFamily="34" charset="-120"/>
              </a:rPr>
              <a:t>No passwords are ever stored on our servers — identity is fully delegated to Google.</a:t>
            </a:r>
            <a:endParaRPr lang="en-US" sz="1050" dirty="0"/>
          </a:p>
        </p:txBody>
      </p:sp>
      <p:sp>
        <p:nvSpPr>
          <p:cNvPr id="41" name="Text 39"/>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065A82"/>
                </a:solidFill>
                <a:latin typeface="Calibri" pitchFamily="34" charset="0"/>
                <a:ea typeface="Calibri" pitchFamily="34" charset="-122"/>
                <a:cs typeface="Calibri" pitchFamily="34" charset="-120"/>
              </a:rPr>
              <a:t>WEB DEVELOPMENT · CODE EXECUTION</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Judge0: Secure Remote Execution</a:t>
            </a:r>
            <a:endParaRPr lang="en-US" sz="2800" dirty="0"/>
          </a:p>
        </p:txBody>
      </p:sp>
      <p:sp>
        <p:nvSpPr>
          <p:cNvPr id="4" name="Text 2"/>
          <p:cNvSpPr/>
          <p:nvPr/>
        </p:nvSpPr>
        <p:spPr>
          <a:xfrm>
            <a:off x="548640" y="1325880"/>
            <a:ext cx="10881360" cy="548640"/>
          </a:xfrm>
          <a:prstGeom prst="rect">
            <a:avLst/>
          </a:prstGeom>
          <a:noFill/>
          <a:ln/>
        </p:spPr>
        <p:txBody>
          <a:bodyPr wrap="square" rtlCol="0" anchor="ctr"/>
          <a:lstStyle/>
          <a:p>
            <a:pPr indent="0" marL="0">
              <a:buNone/>
            </a:pPr>
            <a:r>
              <a:rPr lang="en-US" sz="1250" dirty="0">
                <a:solidFill>
                  <a:srgbClr val="5B6B7A"/>
                </a:solidFill>
                <a:latin typeface="Calibri" pitchFamily="34" charset="0"/>
                <a:ea typeface="Calibri" pitchFamily="34" charset="-122"/>
                <a:cs typeface="Calibri" pitchFamily="34" charset="-120"/>
              </a:rPr>
              <a:t>Rather than running untrusted user code on our own server, CodeSach delegates execution to Judge0, which runs every submission inside an isolated, sandboxed container and returns stdout, stderr, time, and memory usage.</a:t>
            </a:r>
            <a:endParaRPr lang="en-US" sz="1250" dirty="0"/>
          </a:p>
        </p:txBody>
      </p:sp>
      <p:sp>
        <p:nvSpPr>
          <p:cNvPr id="5" name="Shape 3"/>
          <p:cNvSpPr/>
          <p:nvPr/>
        </p:nvSpPr>
        <p:spPr>
          <a:xfrm>
            <a:off x="548640" y="2011680"/>
            <a:ext cx="2011680" cy="868680"/>
          </a:xfrm>
          <a:prstGeom prst="roundRect">
            <a:avLst>
              <a:gd name="adj" fmla="val 8421"/>
            </a:avLst>
          </a:prstGeom>
          <a:solidFill>
            <a:srgbClr val="F4F8FA"/>
          </a:solidFill>
          <a:ln w="15875">
            <a:solidFill>
              <a:srgbClr val="065A82"/>
            </a:solidFill>
            <a:prstDash val="solid"/>
          </a:ln>
        </p:spPr>
      </p:sp>
      <p:sp>
        <p:nvSpPr>
          <p:cNvPr id="6" name="Text 4"/>
          <p:cNvSpPr/>
          <p:nvPr/>
        </p:nvSpPr>
        <p:spPr>
          <a:xfrm>
            <a:off x="548640" y="2011680"/>
            <a:ext cx="2011680" cy="868680"/>
          </a:xfrm>
          <a:prstGeom prst="rect">
            <a:avLst/>
          </a:prstGeom>
          <a:noFill/>
          <a:ln/>
        </p:spPr>
        <p:txBody>
          <a:bodyPr wrap="square" rtlCol="0" anchor="ctr"/>
          <a:lstStyle/>
          <a:p>
            <a:pPr algn="ctr" indent="0" marL="0">
              <a:lnSpc>
                <a:spcPct val="110000"/>
              </a:lnSpc>
              <a:buNone/>
            </a:pPr>
            <a:r>
              <a:rPr lang="en-US" sz="1150" b="1" dirty="0">
                <a:solidFill>
                  <a:srgbClr val="16232E"/>
                </a:solidFill>
                <a:latin typeface="Calibri" pitchFamily="34" charset="0"/>
                <a:ea typeface="Calibri" pitchFamily="34" charset="-122"/>
                <a:cs typeface="Calibri" pitchFamily="34" charset="-120"/>
              </a:rPr>
              <a:t>Code</a:t>
            </a:r>
            <a:endParaRPr lang="en-US" sz="1150" dirty="0"/>
          </a:p>
          <a:p>
            <a:pPr algn="ctr" indent="0" marL="0">
              <a:lnSpc>
                <a:spcPct val="110000"/>
              </a:lnSpc>
              <a:buNone/>
            </a:pPr>
            <a:r>
              <a:rPr lang="en-US" sz="1150" b="1" dirty="0">
                <a:solidFill>
                  <a:srgbClr val="16232E"/>
                </a:solidFill>
                <a:latin typeface="Calibri" pitchFamily="34" charset="0"/>
                <a:ea typeface="Calibri" pitchFamily="34" charset="-122"/>
                <a:cs typeface="Calibri" pitchFamily="34" charset="-120"/>
              </a:rPr>
              <a:t>Submitted</a:t>
            </a:r>
            <a:endParaRPr lang="en-US" sz="1150" dirty="0"/>
          </a:p>
        </p:txBody>
      </p:sp>
      <p:sp>
        <p:nvSpPr>
          <p:cNvPr id="7" name="Text 5"/>
          <p:cNvSpPr/>
          <p:nvPr/>
        </p:nvSpPr>
        <p:spPr>
          <a:xfrm>
            <a:off x="2560320" y="2011680"/>
            <a:ext cx="274320" cy="868680"/>
          </a:xfrm>
          <a:prstGeom prst="rect">
            <a:avLst/>
          </a:prstGeom>
          <a:noFill/>
          <a:ln/>
        </p:spPr>
        <p:txBody>
          <a:bodyPr wrap="square" rtlCol="0" anchor="ctr"/>
          <a:lstStyle/>
          <a:p>
            <a:pPr algn="ctr" indent="0" marL="0">
              <a:buNone/>
            </a:pPr>
            <a:r>
              <a:rPr lang="en-US" sz="1600" dirty="0">
                <a:solidFill>
                  <a:srgbClr val="5B6B7A"/>
                </a:solidFill>
                <a:latin typeface="Arial" pitchFamily="34" charset="0"/>
                <a:ea typeface="Arial" pitchFamily="34" charset="-122"/>
                <a:cs typeface="Arial" pitchFamily="34" charset="-120"/>
              </a:rPr>
              <a:t>→</a:t>
            </a:r>
            <a:endParaRPr lang="en-US" sz="1600" dirty="0"/>
          </a:p>
        </p:txBody>
      </p:sp>
      <p:sp>
        <p:nvSpPr>
          <p:cNvPr id="8" name="Shape 6"/>
          <p:cNvSpPr/>
          <p:nvPr/>
        </p:nvSpPr>
        <p:spPr>
          <a:xfrm>
            <a:off x="2834640" y="2011680"/>
            <a:ext cx="2011680" cy="868680"/>
          </a:xfrm>
          <a:prstGeom prst="roundRect">
            <a:avLst>
              <a:gd name="adj" fmla="val 8421"/>
            </a:avLst>
          </a:prstGeom>
          <a:solidFill>
            <a:srgbClr val="F4F8FA"/>
          </a:solidFill>
          <a:ln w="15875">
            <a:solidFill>
              <a:srgbClr val="065A82"/>
            </a:solidFill>
            <a:prstDash val="solid"/>
          </a:ln>
        </p:spPr>
      </p:sp>
      <p:sp>
        <p:nvSpPr>
          <p:cNvPr id="9" name="Text 7"/>
          <p:cNvSpPr/>
          <p:nvPr/>
        </p:nvSpPr>
        <p:spPr>
          <a:xfrm>
            <a:off x="2834640" y="2011680"/>
            <a:ext cx="2011680" cy="868680"/>
          </a:xfrm>
          <a:prstGeom prst="rect">
            <a:avLst/>
          </a:prstGeom>
          <a:noFill/>
          <a:ln/>
        </p:spPr>
        <p:txBody>
          <a:bodyPr wrap="square" rtlCol="0" anchor="ctr"/>
          <a:lstStyle/>
          <a:p>
            <a:pPr algn="ctr" indent="0" marL="0">
              <a:lnSpc>
                <a:spcPct val="110000"/>
              </a:lnSpc>
              <a:buNone/>
            </a:pPr>
            <a:r>
              <a:rPr lang="en-US" sz="1150" b="1" dirty="0">
                <a:solidFill>
                  <a:srgbClr val="16232E"/>
                </a:solidFill>
                <a:latin typeface="Calibri" pitchFamily="34" charset="0"/>
                <a:ea typeface="Calibri" pitchFamily="34" charset="-122"/>
                <a:cs typeface="Calibri" pitchFamily="34" charset="-120"/>
              </a:rPr>
              <a:t>Queued for</a:t>
            </a:r>
            <a:endParaRPr lang="en-US" sz="1150" dirty="0"/>
          </a:p>
          <a:p>
            <a:pPr algn="ctr" indent="0" marL="0">
              <a:lnSpc>
                <a:spcPct val="110000"/>
              </a:lnSpc>
              <a:buNone/>
            </a:pPr>
            <a:r>
              <a:rPr lang="en-US" sz="1150" b="1" dirty="0">
                <a:solidFill>
                  <a:srgbClr val="16232E"/>
                </a:solidFill>
                <a:latin typeface="Calibri" pitchFamily="34" charset="0"/>
                <a:ea typeface="Calibri" pitchFamily="34" charset="-122"/>
                <a:cs typeface="Calibri" pitchFamily="34" charset="-120"/>
              </a:rPr>
              <a:t>Execution</a:t>
            </a:r>
            <a:endParaRPr lang="en-US" sz="1150" dirty="0"/>
          </a:p>
        </p:txBody>
      </p:sp>
      <p:sp>
        <p:nvSpPr>
          <p:cNvPr id="10" name="Text 8"/>
          <p:cNvSpPr/>
          <p:nvPr/>
        </p:nvSpPr>
        <p:spPr>
          <a:xfrm>
            <a:off x="4846320" y="2011680"/>
            <a:ext cx="274320" cy="868680"/>
          </a:xfrm>
          <a:prstGeom prst="rect">
            <a:avLst/>
          </a:prstGeom>
          <a:noFill/>
          <a:ln/>
        </p:spPr>
        <p:txBody>
          <a:bodyPr wrap="square" rtlCol="0" anchor="ctr"/>
          <a:lstStyle/>
          <a:p>
            <a:pPr algn="ctr" indent="0" marL="0">
              <a:buNone/>
            </a:pPr>
            <a:r>
              <a:rPr lang="en-US" sz="1600" dirty="0">
                <a:solidFill>
                  <a:srgbClr val="5B6B7A"/>
                </a:solidFill>
                <a:latin typeface="Arial" pitchFamily="34" charset="0"/>
                <a:ea typeface="Arial" pitchFamily="34" charset="-122"/>
                <a:cs typeface="Arial" pitchFamily="34" charset="-120"/>
              </a:rPr>
              <a:t>→</a:t>
            </a:r>
            <a:endParaRPr lang="en-US" sz="1600" dirty="0"/>
          </a:p>
        </p:txBody>
      </p:sp>
      <p:sp>
        <p:nvSpPr>
          <p:cNvPr id="11" name="Shape 9"/>
          <p:cNvSpPr/>
          <p:nvPr/>
        </p:nvSpPr>
        <p:spPr>
          <a:xfrm>
            <a:off x="5120640" y="2011680"/>
            <a:ext cx="2011680" cy="868680"/>
          </a:xfrm>
          <a:prstGeom prst="roundRect">
            <a:avLst>
              <a:gd name="adj" fmla="val 8421"/>
            </a:avLst>
          </a:prstGeom>
          <a:solidFill>
            <a:srgbClr val="F4F8FA"/>
          </a:solidFill>
          <a:ln w="15875">
            <a:solidFill>
              <a:srgbClr val="065A82"/>
            </a:solidFill>
            <a:prstDash val="solid"/>
          </a:ln>
        </p:spPr>
      </p:sp>
      <p:sp>
        <p:nvSpPr>
          <p:cNvPr id="12" name="Text 10"/>
          <p:cNvSpPr/>
          <p:nvPr/>
        </p:nvSpPr>
        <p:spPr>
          <a:xfrm>
            <a:off x="5120640" y="2011680"/>
            <a:ext cx="2011680" cy="868680"/>
          </a:xfrm>
          <a:prstGeom prst="rect">
            <a:avLst/>
          </a:prstGeom>
          <a:noFill/>
          <a:ln/>
        </p:spPr>
        <p:txBody>
          <a:bodyPr wrap="square" rtlCol="0" anchor="ctr"/>
          <a:lstStyle/>
          <a:p>
            <a:pPr algn="ctr" indent="0" marL="0">
              <a:lnSpc>
                <a:spcPct val="110000"/>
              </a:lnSpc>
              <a:buNone/>
            </a:pPr>
            <a:r>
              <a:rPr lang="en-US" sz="1150" b="1" dirty="0">
                <a:solidFill>
                  <a:srgbClr val="16232E"/>
                </a:solidFill>
                <a:latin typeface="Calibri" pitchFamily="34" charset="0"/>
                <a:ea typeface="Calibri" pitchFamily="34" charset="-122"/>
                <a:cs typeface="Calibri" pitchFamily="34" charset="-120"/>
              </a:rPr>
              <a:t>Isolated</a:t>
            </a:r>
            <a:endParaRPr lang="en-US" sz="1150" dirty="0"/>
          </a:p>
          <a:p>
            <a:pPr algn="ctr" indent="0" marL="0">
              <a:lnSpc>
                <a:spcPct val="110000"/>
              </a:lnSpc>
              <a:buNone/>
            </a:pPr>
            <a:r>
              <a:rPr lang="en-US" sz="1150" b="1" dirty="0">
                <a:solidFill>
                  <a:srgbClr val="16232E"/>
                </a:solidFill>
                <a:latin typeface="Calibri" pitchFamily="34" charset="0"/>
                <a:ea typeface="Calibri" pitchFamily="34" charset="-122"/>
                <a:cs typeface="Calibri" pitchFamily="34" charset="-120"/>
              </a:rPr>
              <a:t>Container Run</a:t>
            </a:r>
            <a:endParaRPr lang="en-US" sz="1150" dirty="0"/>
          </a:p>
        </p:txBody>
      </p:sp>
      <p:sp>
        <p:nvSpPr>
          <p:cNvPr id="13" name="Text 11"/>
          <p:cNvSpPr/>
          <p:nvPr/>
        </p:nvSpPr>
        <p:spPr>
          <a:xfrm>
            <a:off x="7132320" y="2011680"/>
            <a:ext cx="274320" cy="868680"/>
          </a:xfrm>
          <a:prstGeom prst="rect">
            <a:avLst/>
          </a:prstGeom>
          <a:noFill/>
          <a:ln/>
        </p:spPr>
        <p:txBody>
          <a:bodyPr wrap="square" rtlCol="0" anchor="ctr"/>
          <a:lstStyle/>
          <a:p>
            <a:pPr algn="ctr" indent="0" marL="0">
              <a:buNone/>
            </a:pPr>
            <a:r>
              <a:rPr lang="en-US" sz="1600" dirty="0">
                <a:solidFill>
                  <a:srgbClr val="5B6B7A"/>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7406640" y="2011680"/>
            <a:ext cx="2011680" cy="868680"/>
          </a:xfrm>
          <a:prstGeom prst="roundRect">
            <a:avLst>
              <a:gd name="adj" fmla="val 8421"/>
            </a:avLst>
          </a:prstGeom>
          <a:solidFill>
            <a:srgbClr val="F4F8FA"/>
          </a:solidFill>
          <a:ln w="15875">
            <a:solidFill>
              <a:srgbClr val="065A82"/>
            </a:solidFill>
            <a:prstDash val="solid"/>
          </a:ln>
        </p:spPr>
      </p:sp>
      <p:sp>
        <p:nvSpPr>
          <p:cNvPr id="15" name="Text 13"/>
          <p:cNvSpPr/>
          <p:nvPr/>
        </p:nvSpPr>
        <p:spPr>
          <a:xfrm>
            <a:off x="7406640" y="2011680"/>
            <a:ext cx="2011680" cy="868680"/>
          </a:xfrm>
          <a:prstGeom prst="rect">
            <a:avLst/>
          </a:prstGeom>
          <a:noFill/>
          <a:ln/>
        </p:spPr>
        <p:txBody>
          <a:bodyPr wrap="square" rtlCol="0" anchor="ctr"/>
          <a:lstStyle/>
          <a:p>
            <a:pPr algn="ctr" indent="0" marL="0">
              <a:lnSpc>
                <a:spcPct val="110000"/>
              </a:lnSpc>
              <a:buNone/>
            </a:pPr>
            <a:r>
              <a:rPr lang="en-US" sz="1150" b="1" dirty="0">
                <a:solidFill>
                  <a:srgbClr val="16232E"/>
                </a:solidFill>
                <a:latin typeface="Calibri" pitchFamily="34" charset="0"/>
                <a:ea typeface="Calibri" pitchFamily="34" charset="-122"/>
                <a:cs typeface="Calibri" pitchFamily="34" charset="-120"/>
              </a:rPr>
              <a:t>Output +</a:t>
            </a:r>
            <a:endParaRPr lang="en-US" sz="1150" dirty="0"/>
          </a:p>
          <a:p>
            <a:pPr algn="ctr" indent="0" marL="0">
              <a:lnSpc>
                <a:spcPct val="110000"/>
              </a:lnSpc>
              <a:buNone/>
            </a:pPr>
            <a:r>
              <a:rPr lang="en-US" sz="1150" b="1" dirty="0">
                <a:solidFill>
                  <a:srgbClr val="16232E"/>
                </a:solidFill>
                <a:latin typeface="Calibri" pitchFamily="34" charset="0"/>
                <a:ea typeface="Calibri" pitchFamily="34" charset="-122"/>
                <a:cs typeface="Calibri" pitchFamily="34" charset="-120"/>
              </a:rPr>
              <a:t>Errors Captured</a:t>
            </a:r>
            <a:endParaRPr lang="en-US" sz="1150" dirty="0"/>
          </a:p>
        </p:txBody>
      </p:sp>
      <p:sp>
        <p:nvSpPr>
          <p:cNvPr id="16" name="Text 14"/>
          <p:cNvSpPr/>
          <p:nvPr/>
        </p:nvSpPr>
        <p:spPr>
          <a:xfrm>
            <a:off x="9418320" y="2011680"/>
            <a:ext cx="274320" cy="868680"/>
          </a:xfrm>
          <a:prstGeom prst="rect">
            <a:avLst/>
          </a:prstGeom>
          <a:noFill/>
          <a:ln/>
        </p:spPr>
        <p:txBody>
          <a:bodyPr wrap="square" rtlCol="0" anchor="ctr"/>
          <a:lstStyle/>
          <a:p>
            <a:pPr algn="ctr" indent="0" marL="0">
              <a:buNone/>
            </a:pPr>
            <a:r>
              <a:rPr lang="en-US" sz="1600" dirty="0">
                <a:solidFill>
                  <a:srgbClr val="5B6B7A"/>
                </a:solidFill>
                <a:latin typeface="Arial" pitchFamily="34" charset="0"/>
                <a:ea typeface="Arial" pitchFamily="34" charset="-122"/>
                <a:cs typeface="Arial" pitchFamily="34" charset="-120"/>
              </a:rPr>
              <a:t>→</a:t>
            </a:r>
            <a:endParaRPr lang="en-US" sz="1600" dirty="0"/>
          </a:p>
        </p:txBody>
      </p:sp>
      <p:sp>
        <p:nvSpPr>
          <p:cNvPr id="17" name="Shape 15"/>
          <p:cNvSpPr/>
          <p:nvPr/>
        </p:nvSpPr>
        <p:spPr>
          <a:xfrm>
            <a:off x="9692640" y="2011680"/>
            <a:ext cx="2011680" cy="868680"/>
          </a:xfrm>
          <a:prstGeom prst="roundRect">
            <a:avLst>
              <a:gd name="adj" fmla="val 8421"/>
            </a:avLst>
          </a:prstGeom>
          <a:solidFill>
            <a:srgbClr val="F4F8FA"/>
          </a:solidFill>
          <a:ln w="15875">
            <a:solidFill>
              <a:srgbClr val="065A82"/>
            </a:solidFill>
            <a:prstDash val="solid"/>
          </a:ln>
        </p:spPr>
      </p:sp>
      <p:sp>
        <p:nvSpPr>
          <p:cNvPr id="18" name="Text 16"/>
          <p:cNvSpPr/>
          <p:nvPr/>
        </p:nvSpPr>
        <p:spPr>
          <a:xfrm>
            <a:off x="9692640" y="2011680"/>
            <a:ext cx="2011680" cy="868680"/>
          </a:xfrm>
          <a:prstGeom prst="rect">
            <a:avLst/>
          </a:prstGeom>
          <a:noFill/>
          <a:ln/>
        </p:spPr>
        <p:txBody>
          <a:bodyPr wrap="square" rtlCol="0" anchor="ctr"/>
          <a:lstStyle/>
          <a:p>
            <a:pPr algn="ctr" indent="0" marL="0">
              <a:lnSpc>
                <a:spcPct val="110000"/>
              </a:lnSpc>
              <a:buNone/>
            </a:pPr>
            <a:r>
              <a:rPr lang="en-US" sz="1150" b="1" dirty="0">
                <a:solidFill>
                  <a:srgbClr val="16232E"/>
                </a:solidFill>
                <a:latin typeface="Calibri" pitchFamily="34" charset="0"/>
                <a:ea typeface="Calibri" pitchFamily="34" charset="-122"/>
                <a:cs typeface="Calibri" pitchFamily="34" charset="-120"/>
              </a:rPr>
              <a:t>Result Sent</a:t>
            </a:r>
            <a:endParaRPr lang="en-US" sz="1150" dirty="0"/>
          </a:p>
          <a:p>
            <a:pPr algn="ctr" indent="0" marL="0">
              <a:lnSpc>
                <a:spcPct val="110000"/>
              </a:lnSpc>
              <a:buNone/>
            </a:pPr>
            <a:r>
              <a:rPr lang="en-US" sz="1150" b="1" dirty="0">
                <a:solidFill>
                  <a:srgbClr val="16232E"/>
                </a:solidFill>
                <a:latin typeface="Calibri" pitchFamily="34" charset="0"/>
                <a:ea typeface="Calibri" pitchFamily="34" charset="-122"/>
                <a:cs typeface="Calibri" pitchFamily="34" charset="-120"/>
              </a:rPr>
              <a:t>to Frontend</a:t>
            </a:r>
            <a:endParaRPr lang="en-US" sz="1150" dirty="0"/>
          </a:p>
        </p:txBody>
      </p:sp>
      <p:sp>
        <p:nvSpPr>
          <p:cNvPr id="19" name="Text 17"/>
          <p:cNvSpPr/>
          <p:nvPr/>
        </p:nvSpPr>
        <p:spPr>
          <a:xfrm>
            <a:off x="548640" y="3200400"/>
            <a:ext cx="7315200" cy="274320"/>
          </a:xfrm>
          <a:prstGeom prst="rect">
            <a:avLst/>
          </a:prstGeom>
          <a:noFill/>
          <a:ln/>
        </p:spPr>
        <p:txBody>
          <a:bodyPr wrap="square" rtlCol="0" anchor="ctr"/>
          <a:lstStyle/>
          <a:p>
            <a:pPr indent="0" marL="0">
              <a:buNone/>
            </a:pPr>
            <a:r>
              <a:rPr lang="en-US" sz="1150" b="1" spc="100" kern="0" dirty="0">
                <a:solidFill>
                  <a:srgbClr val="065A82"/>
                </a:solidFill>
                <a:latin typeface="Calibri" pitchFamily="34" charset="0"/>
                <a:ea typeface="Calibri" pitchFamily="34" charset="-122"/>
                <a:cs typeface="Calibri" pitchFamily="34" charset="-120"/>
              </a:rPr>
              <a:t>WHY JUDGE0 OVER THE ALTERNATIVES</a:t>
            </a:r>
            <a:endParaRPr lang="en-US" sz="1150" dirty="0"/>
          </a:p>
        </p:txBody>
      </p:sp>
      <p:sp>
        <p:nvSpPr>
          <p:cNvPr id="20" name="Shape 18"/>
          <p:cNvSpPr/>
          <p:nvPr/>
        </p:nvSpPr>
        <p:spPr>
          <a:xfrm>
            <a:off x="548640" y="3566160"/>
            <a:ext cx="3291840" cy="457200"/>
          </a:xfrm>
          <a:prstGeom prst="rect">
            <a:avLst/>
          </a:prstGeom>
          <a:solidFill>
            <a:srgbClr val="17203A"/>
          </a:solidFill>
          <a:ln w="9525">
            <a:solidFill>
              <a:srgbClr val="D9E3E8"/>
            </a:solidFill>
            <a:prstDash val="solid"/>
          </a:ln>
        </p:spPr>
      </p:sp>
      <p:sp>
        <p:nvSpPr>
          <p:cNvPr id="21" name="Text 19"/>
          <p:cNvSpPr/>
          <p:nvPr/>
        </p:nvSpPr>
        <p:spPr>
          <a:xfrm>
            <a:off x="640080" y="3566160"/>
            <a:ext cx="3108960" cy="45720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Approach</a:t>
            </a:r>
            <a:endParaRPr lang="en-US" sz="1050" dirty="0"/>
          </a:p>
        </p:txBody>
      </p:sp>
      <p:sp>
        <p:nvSpPr>
          <p:cNvPr id="22" name="Shape 20"/>
          <p:cNvSpPr/>
          <p:nvPr/>
        </p:nvSpPr>
        <p:spPr>
          <a:xfrm>
            <a:off x="3840480" y="3566160"/>
            <a:ext cx="2377440" cy="457200"/>
          </a:xfrm>
          <a:prstGeom prst="rect">
            <a:avLst/>
          </a:prstGeom>
          <a:solidFill>
            <a:srgbClr val="17203A"/>
          </a:solidFill>
          <a:ln w="9525">
            <a:solidFill>
              <a:srgbClr val="D9E3E8"/>
            </a:solidFill>
            <a:prstDash val="solid"/>
          </a:ln>
        </p:spPr>
      </p:sp>
      <p:sp>
        <p:nvSpPr>
          <p:cNvPr id="23" name="Text 21"/>
          <p:cNvSpPr/>
          <p:nvPr/>
        </p:nvSpPr>
        <p:spPr>
          <a:xfrm>
            <a:off x="3931920" y="3566160"/>
            <a:ext cx="2194560" cy="45720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Security</a:t>
            </a:r>
            <a:endParaRPr lang="en-US" sz="1050" dirty="0"/>
          </a:p>
        </p:txBody>
      </p:sp>
      <p:sp>
        <p:nvSpPr>
          <p:cNvPr id="24" name="Shape 22"/>
          <p:cNvSpPr/>
          <p:nvPr/>
        </p:nvSpPr>
        <p:spPr>
          <a:xfrm>
            <a:off x="6217920" y="3566160"/>
            <a:ext cx="2743200" cy="457200"/>
          </a:xfrm>
          <a:prstGeom prst="rect">
            <a:avLst/>
          </a:prstGeom>
          <a:solidFill>
            <a:srgbClr val="17203A"/>
          </a:solidFill>
          <a:ln w="9525">
            <a:solidFill>
              <a:srgbClr val="D9E3E8"/>
            </a:solidFill>
            <a:prstDash val="solid"/>
          </a:ln>
        </p:spPr>
      </p:sp>
      <p:sp>
        <p:nvSpPr>
          <p:cNvPr id="25" name="Text 23"/>
          <p:cNvSpPr/>
          <p:nvPr/>
        </p:nvSpPr>
        <p:spPr>
          <a:xfrm>
            <a:off x="6309360" y="3566160"/>
            <a:ext cx="2560320" cy="45720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Effort</a:t>
            </a:r>
            <a:endParaRPr lang="en-US" sz="1050" dirty="0"/>
          </a:p>
        </p:txBody>
      </p:sp>
      <p:sp>
        <p:nvSpPr>
          <p:cNvPr id="26" name="Shape 24"/>
          <p:cNvSpPr/>
          <p:nvPr/>
        </p:nvSpPr>
        <p:spPr>
          <a:xfrm>
            <a:off x="8961120" y="3566160"/>
            <a:ext cx="2286000" cy="457200"/>
          </a:xfrm>
          <a:prstGeom prst="rect">
            <a:avLst/>
          </a:prstGeom>
          <a:solidFill>
            <a:srgbClr val="17203A"/>
          </a:solidFill>
          <a:ln w="9525">
            <a:solidFill>
              <a:srgbClr val="D9E3E8"/>
            </a:solidFill>
            <a:prstDash val="solid"/>
          </a:ln>
        </p:spPr>
      </p:sp>
      <p:sp>
        <p:nvSpPr>
          <p:cNvPr id="27" name="Text 25"/>
          <p:cNvSpPr/>
          <p:nvPr/>
        </p:nvSpPr>
        <p:spPr>
          <a:xfrm>
            <a:off x="9052560" y="3566160"/>
            <a:ext cx="2103120" cy="45720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Language Coverage</a:t>
            </a:r>
            <a:endParaRPr lang="en-US" sz="1050" dirty="0"/>
          </a:p>
        </p:txBody>
      </p:sp>
      <p:sp>
        <p:nvSpPr>
          <p:cNvPr id="28" name="Shape 26"/>
          <p:cNvSpPr/>
          <p:nvPr/>
        </p:nvSpPr>
        <p:spPr>
          <a:xfrm>
            <a:off x="548640" y="4023360"/>
            <a:ext cx="3291840" cy="457200"/>
          </a:xfrm>
          <a:prstGeom prst="rect">
            <a:avLst/>
          </a:prstGeom>
          <a:solidFill>
            <a:srgbClr val="F4F8FA"/>
          </a:solidFill>
          <a:ln w="9525">
            <a:solidFill>
              <a:srgbClr val="D9E3E8"/>
            </a:solidFill>
            <a:prstDash val="solid"/>
          </a:ln>
        </p:spPr>
      </p:sp>
      <p:sp>
        <p:nvSpPr>
          <p:cNvPr id="29" name="Text 27"/>
          <p:cNvSpPr/>
          <p:nvPr/>
        </p:nvSpPr>
        <p:spPr>
          <a:xfrm>
            <a:off x="640080" y="4023360"/>
            <a:ext cx="3108960" cy="457200"/>
          </a:xfrm>
          <a:prstGeom prst="rect">
            <a:avLst/>
          </a:prstGeom>
          <a:noFill/>
          <a:ln/>
        </p:spPr>
        <p:txBody>
          <a:bodyPr wrap="square" rtlCol="0" anchor="ctr"/>
          <a:lstStyle/>
          <a:p>
            <a:pPr indent="0" marL="0">
              <a:buNone/>
            </a:pPr>
            <a:r>
              <a:rPr lang="en-US" sz="1050" dirty="0">
                <a:solidFill>
                  <a:srgbClr val="16232E"/>
                </a:solidFill>
                <a:latin typeface="Calibri" pitchFamily="34" charset="0"/>
                <a:ea typeface="Calibri" pitchFamily="34" charset="-122"/>
                <a:cs typeface="Calibri" pitchFamily="34" charset="-120"/>
              </a:rPr>
              <a:t>Run code directly on app server</a:t>
            </a:r>
            <a:endParaRPr lang="en-US" sz="1050" dirty="0"/>
          </a:p>
        </p:txBody>
      </p:sp>
      <p:sp>
        <p:nvSpPr>
          <p:cNvPr id="30" name="Shape 28"/>
          <p:cNvSpPr/>
          <p:nvPr/>
        </p:nvSpPr>
        <p:spPr>
          <a:xfrm>
            <a:off x="3840480" y="4023360"/>
            <a:ext cx="2377440" cy="457200"/>
          </a:xfrm>
          <a:prstGeom prst="rect">
            <a:avLst/>
          </a:prstGeom>
          <a:solidFill>
            <a:srgbClr val="F4F8FA"/>
          </a:solidFill>
          <a:ln w="9525">
            <a:solidFill>
              <a:srgbClr val="D9E3E8"/>
            </a:solidFill>
            <a:prstDash val="solid"/>
          </a:ln>
        </p:spPr>
      </p:sp>
      <p:sp>
        <p:nvSpPr>
          <p:cNvPr id="31" name="Text 29"/>
          <p:cNvSpPr/>
          <p:nvPr/>
        </p:nvSpPr>
        <p:spPr>
          <a:xfrm>
            <a:off x="3931920" y="4023360"/>
            <a:ext cx="2194560" cy="457200"/>
          </a:xfrm>
          <a:prstGeom prst="rect">
            <a:avLst/>
          </a:prstGeom>
          <a:noFill/>
          <a:ln/>
        </p:spPr>
        <p:txBody>
          <a:bodyPr wrap="square" rtlCol="0" anchor="ctr"/>
          <a:lstStyle/>
          <a:p>
            <a:pPr indent="0" marL="0">
              <a:buNone/>
            </a:pPr>
            <a:r>
              <a:rPr lang="en-US" sz="1050" dirty="0">
                <a:solidFill>
                  <a:srgbClr val="16232E"/>
                </a:solidFill>
                <a:latin typeface="Calibri" pitchFamily="34" charset="0"/>
                <a:ea typeface="Calibri" pitchFamily="34" charset="-122"/>
                <a:cs typeface="Calibri" pitchFamily="34" charset="-120"/>
              </a:rPr>
              <a:t>Very low — arbitrary code on host</a:t>
            </a:r>
            <a:endParaRPr lang="en-US" sz="1050" dirty="0"/>
          </a:p>
        </p:txBody>
      </p:sp>
      <p:sp>
        <p:nvSpPr>
          <p:cNvPr id="32" name="Shape 30"/>
          <p:cNvSpPr/>
          <p:nvPr/>
        </p:nvSpPr>
        <p:spPr>
          <a:xfrm>
            <a:off x="6217920" y="4023360"/>
            <a:ext cx="2743200" cy="457200"/>
          </a:xfrm>
          <a:prstGeom prst="rect">
            <a:avLst/>
          </a:prstGeom>
          <a:solidFill>
            <a:srgbClr val="F4F8FA"/>
          </a:solidFill>
          <a:ln w="9525">
            <a:solidFill>
              <a:srgbClr val="D9E3E8"/>
            </a:solidFill>
            <a:prstDash val="solid"/>
          </a:ln>
        </p:spPr>
      </p:sp>
      <p:sp>
        <p:nvSpPr>
          <p:cNvPr id="33" name="Text 31"/>
          <p:cNvSpPr/>
          <p:nvPr/>
        </p:nvSpPr>
        <p:spPr>
          <a:xfrm>
            <a:off x="6309360" y="4023360"/>
            <a:ext cx="2560320" cy="457200"/>
          </a:xfrm>
          <a:prstGeom prst="rect">
            <a:avLst/>
          </a:prstGeom>
          <a:noFill/>
          <a:ln/>
        </p:spPr>
        <p:txBody>
          <a:bodyPr wrap="square" rtlCol="0" anchor="ctr"/>
          <a:lstStyle/>
          <a:p>
            <a:pPr indent="0" marL="0">
              <a:buNone/>
            </a:pPr>
            <a:r>
              <a:rPr lang="en-US" sz="1050" dirty="0">
                <a:solidFill>
                  <a:srgbClr val="16232E"/>
                </a:solidFill>
                <a:latin typeface="Calibri" pitchFamily="34" charset="0"/>
                <a:ea typeface="Calibri" pitchFamily="34" charset="-122"/>
                <a:cs typeface="Calibri" pitchFamily="34" charset="-120"/>
              </a:rPr>
              <a:t>None</a:t>
            </a:r>
            <a:endParaRPr lang="en-US" sz="1050" dirty="0"/>
          </a:p>
        </p:txBody>
      </p:sp>
      <p:sp>
        <p:nvSpPr>
          <p:cNvPr id="34" name="Shape 32"/>
          <p:cNvSpPr/>
          <p:nvPr/>
        </p:nvSpPr>
        <p:spPr>
          <a:xfrm>
            <a:off x="8961120" y="4023360"/>
            <a:ext cx="2286000" cy="457200"/>
          </a:xfrm>
          <a:prstGeom prst="rect">
            <a:avLst/>
          </a:prstGeom>
          <a:solidFill>
            <a:srgbClr val="F4F8FA"/>
          </a:solidFill>
          <a:ln w="9525">
            <a:solidFill>
              <a:srgbClr val="D9E3E8"/>
            </a:solidFill>
            <a:prstDash val="solid"/>
          </a:ln>
        </p:spPr>
      </p:sp>
      <p:sp>
        <p:nvSpPr>
          <p:cNvPr id="35" name="Text 33"/>
          <p:cNvSpPr/>
          <p:nvPr/>
        </p:nvSpPr>
        <p:spPr>
          <a:xfrm>
            <a:off x="9052560" y="4023360"/>
            <a:ext cx="2103120" cy="457200"/>
          </a:xfrm>
          <a:prstGeom prst="rect">
            <a:avLst/>
          </a:prstGeom>
          <a:noFill/>
          <a:ln/>
        </p:spPr>
        <p:txBody>
          <a:bodyPr wrap="square" rtlCol="0" anchor="ctr"/>
          <a:lstStyle/>
          <a:p>
            <a:pPr indent="0" marL="0">
              <a:buNone/>
            </a:pPr>
            <a:r>
              <a:rPr lang="en-US" sz="1050" dirty="0">
                <a:solidFill>
                  <a:srgbClr val="16232E"/>
                </a:solidFill>
                <a:latin typeface="Calibri" pitchFamily="34" charset="0"/>
                <a:ea typeface="Calibri" pitchFamily="34" charset="-122"/>
                <a:cs typeface="Calibri" pitchFamily="34" charset="-120"/>
              </a:rPr>
              <a:t>N/A</a:t>
            </a:r>
            <a:endParaRPr lang="en-US" sz="1050" dirty="0"/>
          </a:p>
        </p:txBody>
      </p:sp>
      <p:sp>
        <p:nvSpPr>
          <p:cNvPr id="36" name="Shape 34"/>
          <p:cNvSpPr/>
          <p:nvPr/>
        </p:nvSpPr>
        <p:spPr>
          <a:xfrm>
            <a:off x="548640" y="4480560"/>
            <a:ext cx="3291840" cy="457200"/>
          </a:xfrm>
          <a:prstGeom prst="rect">
            <a:avLst/>
          </a:prstGeom>
          <a:solidFill>
            <a:srgbClr val="F4F8FA"/>
          </a:solidFill>
          <a:ln w="9525">
            <a:solidFill>
              <a:srgbClr val="D9E3E8"/>
            </a:solidFill>
            <a:prstDash val="solid"/>
          </a:ln>
        </p:spPr>
      </p:sp>
      <p:sp>
        <p:nvSpPr>
          <p:cNvPr id="37" name="Text 35"/>
          <p:cNvSpPr/>
          <p:nvPr/>
        </p:nvSpPr>
        <p:spPr>
          <a:xfrm>
            <a:off x="640080" y="4480560"/>
            <a:ext cx="3108960" cy="457200"/>
          </a:xfrm>
          <a:prstGeom prst="rect">
            <a:avLst/>
          </a:prstGeom>
          <a:noFill/>
          <a:ln/>
        </p:spPr>
        <p:txBody>
          <a:bodyPr wrap="square" rtlCol="0" anchor="ctr"/>
          <a:lstStyle/>
          <a:p>
            <a:pPr indent="0" marL="0">
              <a:buNone/>
            </a:pPr>
            <a:r>
              <a:rPr lang="en-US" sz="1050" dirty="0">
                <a:solidFill>
                  <a:srgbClr val="16232E"/>
                </a:solidFill>
                <a:latin typeface="Calibri" pitchFamily="34" charset="0"/>
                <a:ea typeface="Calibri" pitchFamily="34" charset="-122"/>
                <a:cs typeface="Calibri" pitchFamily="34" charset="-120"/>
              </a:rPr>
              <a:t>Build a custom Docker sandbox</a:t>
            </a:r>
            <a:endParaRPr lang="en-US" sz="1050" dirty="0"/>
          </a:p>
        </p:txBody>
      </p:sp>
      <p:sp>
        <p:nvSpPr>
          <p:cNvPr id="38" name="Shape 36"/>
          <p:cNvSpPr/>
          <p:nvPr/>
        </p:nvSpPr>
        <p:spPr>
          <a:xfrm>
            <a:off x="3840480" y="4480560"/>
            <a:ext cx="2377440" cy="457200"/>
          </a:xfrm>
          <a:prstGeom prst="rect">
            <a:avLst/>
          </a:prstGeom>
          <a:solidFill>
            <a:srgbClr val="F4F8FA"/>
          </a:solidFill>
          <a:ln w="9525">
            <a:solidFill>
              <a:srgbClr val="D9E3E8"/>
            </a:solidFill>
            <a:prstDash val="solid"/>
          </a:ln>
        </p:spPr>
      </p:sp>
      <p:sp>
        <p:nvSpPr>
          <p:cNvPr id="39" name="Text 37"/>
          <p:cNvSpPr/>
          <p:nvPr/>
        </p:nvSpPr>
        <p:spPr>
          <a:xfrm>
            <a:off x="3931920" y="4480560"/>
            <a:ext cx="2194560" cy="457200"/>
          </a:xfrm>
          <a:prstGeom prst="rect">
            <a:avLst/>
          </a:prstGeom>
          <a:noFill/>
          <a:ln/>
        </p:spPr>
        <p:txBody>
          <a:bodyPr wrap="square" rtlCol="0" anchor="ctr"/>
          <a:lstStyle/>
          <a:p>
            <a:pPr indent="0" marL="0">
              <a:buNone/>
            </a:pPr>
            <a:r>
              <a:rPr lang="en-US" sz="1050" dirty="0">
                <a:solidFill>
                  <a:srgbClr val="16232E"/>
                </a:solidFill>
                <a:latin typeface="Calibri" pitchFamily="34" charset="0"/>
                <a:ea typeface="Calibri" pitchFamily="34" charset="-122"/>
                <a:cs typeface="Calibri" pitchFamily="34" charset="-120"/>
              </a:rPr>
              <a:t>High, if done right</a:t>
            </a:r>
            <a:endParaRPr lang="en-US" sz="1050" dirty="0"/>
          </a:p>
        </p:txBody>
      </p:sp>
      <p:sp>
        <p:nvSpPr>
          <p:cNvPr id="40" name="Shape 38"/>
          <p:cNvSpPr/>
          <p:nvPr/>
        </p:nvSpPr>
        <p:spPr>
          <a:xfrm>
            <a:off x="6217920" y="4480560"/>
            <a:ext cx="2743200" cy="457200"/>
          </a:xfrm>
          <a:prstGeom prst="rect">
            <a:avLst/>
          </a:prstGeom>
          <a:solidFill>
            <a:srgbClr val="F4F8FA"/>
          </a:solidFill>
          <a:ln w="9525">
            <a:solidFill>
              <a:srgbClr val="D9E3E8"/>
            </a:solidFill>
            <a:prstDash val="solid"/>
          </a:ln>
        </p:spPr>
      </p:sp>
      <p:sp>
        <p:nvSpPr>
          <p:cNvPr id="41" name="Text 39"/>
          <p:cNvSpPr/>
          <p:nvPr/>
        </p:nvSpPr>
        <p:spPr>
          <a:xfrm>
            <a:off x="6309360" y="4480560"/>
            <a:ext cx="2560320" cy="457200"/>
          </a:xfrm>
          <a:prstGeom prst="rect">
            <a:avLst/>
          </a:prstGeom>
          <a:noFill/>
          <a:ln/>
        </p:spPr>
        <p:txBody>
          <a:bodyPr wrap="square" rtlCol="0" anchor="ctr"/>
          <a:lstStyle/>
          <a:p>
            <a:pPr indent="0" marL="0">
              <a:buNone/>
            </a:pPr>
            <a:r>
              <a:rPr lang="en-US" sz="1050" dirty="0">
                <a:solidFill>
                  <a:srgbClr val="16232E"/>
                </a:solidFill>
                <a:latin typeface="Calibri" pitchFamily="34" charset="0"/>
                <a:ea typeface="Calibri" pitchFamily="34" charset="-122"/>
                <a:cs typeface="Calibri" pitchFamily="34" charset="-120"/>
              </a:rPr>
              <a:t>Very high — own scheduler &amp; limits</a:t>
            </a:r>
            <a:endParaRPr lang="en-US" sz="1050" dirty="0"/>
          </a:p>
        </p:txBody>
      </p:sp>
      <p:sp>
        <p:nvSpPr>
          <p:cNvPr id="42" name="Shape 40"/>
          <p:cNvSpPr/>
          <p:nvPr/>
        </p:nvSpPr>
        <p:spPr>
          <a:xfrm>
            <a:off x="8961120" y="4480560"/>
            <a:ext cx="2286000" cy="457200"/>
          </a:xfrm>
          <a:prstGeom prst="rect">
            <a:avLst/>
          </a:prstGeom>
          <a:solidFill>
            <a:srgbClr val="F4F8FA"/>
          </a:solidFill>
          <a:ln w="9525">
            <a:solidFill>
              <a:srgbClr val="D9E3E8"/>
            </a:solidFill>
            <a:prstDash val="solid"/>
          </a:ln>
        </p:spPr>
      </p:sp>
      <p:sp>
        <p:nvSpPr>
          <p:cNvPr id="43" name="Text 41"/>
          <p:cNvSpPr/>
          <p:nvPr/>
        </p:nvSpPr>
        <p:spPr>
          <a:xfrm>
            <a:off x="9052560" y="4480560"/>
            <a:ext cx="2103120" cy="457200"/>
          </a:xfrm>
          <a:prstGeom prst="rect">
            <a:avLst/>
          </a:prstGeom>
          <a:noFill/>
          <a:ln/>
        </p:spPr>
        <p:txBody>
          <a:bodyPr wrap="square" rtlCol="0" anchor="ctr"/>
          <a:lstStyle/>
          <a:p>
            <a:pPr indent="0" marL="0">
              <a:buNone/>
            </a:pPr>
            <a:r>
              <a:rPr lang="en-US" sz="1050" dirty="0">
                <a:solidFill>
                  <a:srgbClr val="16232E"/>
                </a:solidFill>
                <a:latin typeface="Calibri" pitchFamily="34" charset="0"/>
                <a:ea typeface="Calibri" pitchFamily="34" charset="-122"/>
                <a:cs typeface="Calibri" pitchFamily="34" charset="-120"/>
              </a:rPr>
              <a:t>Only what you implement</a:t>
            </a:r>
            <a:endParaRPr lang="en-US" sz="1050" dirty="0"/>
          </a:p>
        </p:txBody>
      </p:sp>
      <p:sp>
        <p:nvSpPr>
          <p:cNvPr id="44" name="Shape 42"/>
          <p:cNvSpPr/>
          <p:nvPr/>
        </p:nvSpPr>
        <p:spPr>
          <a:xfrm>
            <a:off x="548640" y="4937760"/>
            <a:ext cx="3291840" cy="457200"/>
          </a:xfrm>
          <a:prstGeom prst="rect">
            <a:avLst/>
          </a:prstGeom>
          <a:solidFill>
            <a:srgbClr val="E8F4EC"/>
          </a:solidFill>
          <a:ln w="9525">
            <a:solidFill>
              <a:srgbClr val="D9E3E8"/>
            </a:solidFill>
            <a:prstDash val="solid"/>
          </a:ln>
        </p:spPr>
      </p:sp>
      <p:sp>
        <p:nvSpPr>
          <p:cNvPr id="45" name="Text 43"/>
          <p:cNvSpPr/>
          <p:nvPr/>
        </p:nvSpPr>
        <p:spPr>
          <a:xfrm>
            <a:off x="640080" y="4937760"/>
            <a:ext cx="3108960" cy="457200"/>
          </a:xfrm>
          <a:prstGeom prst="rect">
            <a:avLst/>
          </a:prstGeom>
          <a:noFill/>
          <a:ln/>
        </p:spPr>
        <p:txBody>
          <a:bodyPr wrap="square" rtlCol="0" anchor="ctr"/>
          <a:lstStyle/>
          <a:p>
            <a:pPr indent="0" marL="0">
              <a:buNone/>
            </a:pPr>
            <a:r>
              <a:rPr lang="en-US" sz="1050" b="1" dirty="0">
                <a:solidFill>
                  <a:srgbClr val="16232E"/>
                </a:solidFill>
                <a:latin typeface="Calibri" pitchFamily="34" charset="0"/>
                <a:ea typeface="Calibri" pitchFamily="34" charset="-122"/>
                <a:cs typeface="Calibri" pitchFamily="34" charset="-120"/>
              </a:rPr>
              <a:t>Judge0 (chosen)</a:t>
            </a:r>
            <a:endParaRPr lang="en-US" sz="1050" dirty="0"/>
          </a:p>
        </p:txBody>
      </p:sp>
      <p:sp>
        <p:nvSpPr>
          <p:cNvPr id="46" name="Shape 44"/>
          <p:cNvSpPr/>
          <p:nvPr/>
        </p:nvSpPr>
        <p:spPr>
          <a:xfrm>
            <a:off x="3840480" y="4937760"/>
            <a:ext cx="2377440" cy="457200"/>
          </a:xfrm>
          <a:prstGeom prst="rect">
            <a:avLst/>
          </a:prstGeom>
          <a:solidFill>
            <a:srgbClr val="E8F4EC"/>
          </a:solidFill>
          <a:ln w="9525">
            <a:solidFill>
              <a:srgbClr val="D9E3E8"/>
            </a:solidFill>
            <a:prstDash val="solid"/>
          </a:ln>
        </p:spPr>
      </p:sp>
      <p:sp>
        <p:nvSpPr>
          <p:cNvPr id="47" name="Text 45"/>
          <p:cNvSpPr/>
          <p:nvPr/>
        </p:nvSpPr>
        <p:spPr>
          <a:xfrm>
            <a:off x="3931920" y="4937760"/>
            <a:ext cx="2194560" cy="457200"/>
          </a:xfrm>
          <a:prstGeom prst="rect">
            <a:avLst/>
          </a:prstGeom>
          <a:noFill/>
          <a:ln/>
        </p:spPr>
        <p:txBody>
          <a:bodyPr wrap="square" rtlCol="0" anchor="ctr"/>
          <a:lstStyle/>
          <a:p>
            <a:pPr indent="0" marL="0">
              <a:buNone/>
            </a:pPr>
            <a:r>
              <a:rPr lang="en-US" sz="1050" b="1" dirty="0">
                <a:solidFill>
                  <a:srgbClr val="16232E"/>
                </a:solidFill>
                <a:latin typeface="Calibri" pitchFamily="34" charset="0"/>
                <a:ea typeface="Calibri" pitchFamily="34" charset="-122"/>
                <a:cs typeface="Calibri" pitchFamily="34" charset="-120"/>
              </a:rPr>
              <a:t>High — battle-tested isolation</a:t>
            </a:r>
            <a:endParaRPr lang="en-US" sz="1050" dirty="0"/>
          </a:p>
        </p:txBody>
      </p:sp>
      <p:sp>
        <p:nvSpPr>
          <p:cNvPr id="48" name="Shape 46"/>
          <p:cNvSpPr/>
          <p:nvPr/>
        </p:nvSpPr>
        <p:spPr>
          <a:xfrm>
            <a:off x="6217920" y="4937760"/>
            <a:ext cx="2743200" cy="457200"/>
          </a:xfrm>
          <a:prstGeom prst="rect">
            <a:avLst/>
          </a:prstGeom>
          <a:solidFill>
            <a:srgbClr val="E8F4EC"/>
          </a:solidFill>
          <a:ln w="9525">
            <a:solidFill>
              <a:srgbClr val="D9E3E8"/>
            </a:solidFill>
            <a:prstDash val="solid"/>
          </a:ln>
        </p:spPr>
      </p:sp>
      <p:sp>
        <p:nvSpPr>
          <p:cNvPr id="49" name="Text 47"/>
          <p:cNvSpPr/>
          <p:nvPr/>
        </p:nvSpPr>
        <p:spPr>
          <a:xfrm>
            <a:off x="6309360" y="4937760"/>
            <a:ext cx="2560320" cy="457200"/>
          </a:xfrm>
          <a:prstGeom prst="rect">
            <a:avLst/>
          </a:prstGeom>
          <a:noFill/>
          <a:ln/>
        </p:spPr>
        <p:txBody>
          <a:bodyPr wrap="square" rtlCol="0" anchor="ctr"/>
          <a:lstStyle/>
          <a:p>
            <a:pPr indent="0" marL="0">
              <a:buNone/>
            </a:pPr>
            <a:r>
              <a:rPr lang="en-US" sz="1050" b="1" dirty="0">
                <a:solidFill>
                  <a:srgbClr val="16232E"/>
                </a:solidFill>
                <a:latin typeface="Calibri" pitchFamily="34" charset="0"/>
                <a:ea typeface="Calibri" pitchFamily="34" charset="-122"/>
                <a:cs typeface="Calibri" pitchFamily="34" charset="-120"/>
              </a:rPr>
              <a:t>Low — REST API integration</a:t>
            </a:r>
            <a:endParaRPr lang="en-US" sz="1050" dirty="0"/>
          </a:p>
        </p:txBody>
      </p:sp>
      <p:sp>
        <p:nvSpPr>
          <p:cNvPr id="50" name="Shape 48"/>
          <p:cNvSpPr/>
          <p:nvPr/>
        </p:nvSpPr>
        <p:spPr>
          <a:xfrm>
            <a:off x="8961120" y="4937760"/>
            <a:ext cx="2286000" cy="457200"/>
          </a:xfrm>
          <a:prstGeom prst="rect">
            <a:avLst/>
          </a:prstGeom>
          <a:solidFill>
            <a:srgbClr val="E8F4EC"/>
          </a:solidFill>
          <a:ln w="9525">
            <a:solidFill>
              <a:srgbClr val="D9E3E8"/>
            </a:solidFill>
            <a:prstDash val="solid"/>
          </a:ln>
        </p:spPr>
      </p:sp>
      <p:sp>
        <p:nvSpPr>
          <p:cNvPr id="51" name="Text 49"/>
          <p:cNvSpPr/>
          <p:nvPr/>
        </p:nvSpPr>
        <p:spPr>
          <a:xfrm>
            <a:off x="9052560" y="4937760"/>
            <a:ext cx="2103120" cy="457200"/>
          </a:xfrm>
          <a:prstGeom prst="rect">
            <a:avLst/>
          </a:prstGeom>
          <a:noFill/>
          <a:ln/>
        </p:spPr>
        <p:txBody>
          <a:bodyPr wrap="square" rtlCol="0" anchor="ctr"/>
          <a:lstStyle/>
          <a:p>
            <a:pPr indent="0" marL="0">
              <a:buNone/>
            </a:pPr>
            <a:r>
              <a:rPr lang="en-US" sz="1050" b="1" dirty="0">
                <a:solidFill>
                  <a:srgbClr val="16232E"/>
                </a:solidFill>
                <a:latin typeface="Calibri" pitchFamily="34" charset="0"/>
                <a:ea typeface="Calibri" pitchFamily="34" charset="-122"/>
                <a:cs typeface="Calibri" pitchFamily="34" charset="-120"/>
              </a:rPr>
              <a:t>60+ out of the box</a:t>
            </a:r>
            <a:endParaRPr lang="en-US" sz="1050" dirty="0"/>
          </a:p>
        </p:txBody>
      </p:sp>
      <p:sp>
        <p:nvSpPr>
          <p:cNvPr id="52" name="Shape 50"/>
          <p:cNvSpPr/>
          <p:nvPr/>
        </p:nvSpPr>
        <p:spPr>
          <a:xfrm>
            <a:off x="548640" y="5669280"/>
            <a:ext cx="164592" cy="164592"/>
          </a:xfrm>
          <a:prstGeom prst="ellipse">
            <a:avLst/>
          </a:prstGeom>
          <a:solidFill>
            <a:srgbClr val="FFB100"/>
          </a:solidFill>
          <a:ln/>
        </p:spPr>
      </p:sp>
      <p:sp>
        <p:nvSpPr>
          <p:cNvPr id="53" name="Text 51"/>
          <p:cNvSpPr/>
          <p:nvPr/>
        </p:nvSpPr>
        <p:spPr>
          <a:xfrm>
            <a:off x="868680" y="5577840"/>
            <a:ext cx="10058400" cy="365760"/>
          </a:xfrm>
          <a:prstGeom prst="rect">
            <a:avLst/>
          </a:prstGeom>
          <a:noFill/>
          <a:ln/>
        </p:spPr>
        <p:txBody>
          <a:bodyPr wrap="square" rtlCol="0" anchor="ctr"/>
          <a:lstStyle/>
          <a:p>
            <a:pPr indent="0" marL="0">
              <a:buNone/>
            </a:pPr>
            <a:r>
              <a:rPr lang="en-US" sz="1150" dirty="0">
                <a:solidFill>
                  <a:srgbClr val="16232E"/>
                </a:solidFill>
                <a:latin typeface="Calibri" pitchFamily="34" charset="0"/>
                <a:ea typeface="Calibri" pitchFamily="34" charset="-122"/>
                <a:cs typeface="Calibri" pitchFamily="34" charset="-120"/>
              </a:rPr>
              <a:t>Prevents malicious/runaway code from touching the host</a:t>
            </a:r>
            <a:endParaRPr lang="en-US" sz="1150" dirty="0"/>
          </a:p>
        </p:txBody>
      </p:sp>
      <p:sp>
        <p:nvSpPr>
          <p:cNvPr id="54" name="Shape 52"/>
          <p:cNvSpPr/>
          <p:nvPr/>
        </p:nvSpPr>
        <p:spPr>
          <a:xfrm>
            <a:off x="548640" y="6035040"/>
            <a:ext cx="164592" cy="164592"/>
          </a:xfrm>
          <a:prstGeom prst="ellipse">
            <a:avLst/>
          </a:prstGeom>
          <a:solidFill>
            <a:srgbClr val="FFB100"/>
          </a:solidFill>
          <a:ln/>
        </p:spPr>
      </p:sp>
      <p:sp>
        <p:nvSpPr>
          <p:cNvPr id="55" name="Text 53"/>
          <p:cNvSpPr/>
          <p:nvPr/>
        </p:nvSpPr>
        <p:spPr>
          <a:xfrm>
            <a:off x="868680" y="5943600"/>
            <a:ext cx="10058400" cy="365760"/>
          </a:xfrm>
          <a:prstGeom prst="rect">
            <a:avLst/>
          </a:prstGeom>
          <a:noFill/>
          <a:ln/>
        </p:spPr>
        <p:txBody>
          <a:bodyPr wrap="square" rtlCol="0" anchor="ctr"/>
          <a:lstStyle/>
          <a:p>
            <a:pPr indent="0" marL="0">
              <a:buNone/>
            </a:pPr>
            <a:r>
              <a:rPr lang="en-US" sz="1150" dirty="0">
                <a:solidFill>
                  <a:srgbClr val="16232E"/>
                </a:solidFill>
                <a:latin typeface="Calibri" pitchFamily="34" charset="0"/>
                <a:ea typeface="Calibri" pitchFamily="34" charset="-122"/>
                <a:cs typeface="Calibri" pitchFamily="34" charset="-120"/>
              </a:rPr>
              <a:t>Asynchronous polling with retry handles slow compiles</a:t>
            </a:r>
            <a:endParaRPr lang="en-US" sz="1150" dirty="0"/>
          </a:p>
        </p:txBody>
      </p:sp>
      <p:sp>
        <p:nvSpPr>
          <p:cNvPr id="56" name="Text 54"/>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17203A"/>
                </a:solidFill>
                <a:latin typeface="Calibri" pitchFamily="34" charset="0"/>
                <a:ea typeface="Calibri" pitchFamily="34" charset="-122"/>
                <a:cs typeface="Calibri" pitchFamily="34" charset="-120"/>
              </a:rPr>
              <a:t>DEVOPS · CONTAINERIZATION</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Docker &amp; Docker Compose</a:t>
            </a:r>
            <a:endParaRPr lang="en-US" sz="2800" dirty="0"/>
          </a:p>
        </p:txBody>
      </p:sp>
      <p:sp>
        <p:nvSpPr>
          <p:cNvPr id="4" name="Shape 2"/>
          <p:cNvSpPr/>
          <p:nvPr/>
        </p:nvSpPr>
        <p:spPr>
          <a:xfrm>
            <a:off x="548640" y="1417320"/>
            <a:ext cx="5394960" cy="4572000"/>
          </a:xfrm>
          <a:prstGeom prst="roundRect">
            <a:avLst>
              <a:gd name="adj" fmla="val 2000"/>
            </a:avLst>
          </a:prstGeom>
          <a:solidFill>
            <a:srgbClr val="FFFFFF"/>
          </a:solidFill>
          <a:ln w="12700">
            <a:solidFill>
              <a:srgbClr val="D9E3E8"/>
            </a:solidFill>
            <a:prstDash val="solid"/>
          </a:ln>
        </p:spPr>
      </p:sp>
      <p:sp>
        <p:nvSpPr>
          <p:cNvPr id="5" name="Text 3"/>
          <p:cNvSpPr/>
          <p:nvPr/>
        </p:nvSpPr>
        <p:spPr>
          <a:xfrm>
            <a:off x="822960" y="1600200"/>
            <a:ext cx="4754880" cy="274320"/>
          </a:xfrm>
          <a:prstGeom prst="rect">
            <a:avLst/>
          </a:prstGeom>
          <a:noFill/>
          <a:ln/>
        </p:spPr>
        <p:txBody>
          <a:bodyPr wrap="square" rtlCol="0" anchor="ctr"/>
          <a:lstStyle/>
          <a:p>
            <a:pPr indent="0" marL="0">
              <a:buNone/>
            </a:pPr>
            <a:r>
              <a:rPr lang="en-US" sz="1100" b="1" spc="50" kern="0" dirty="0">
                <a:solidFill>
                  <a:srgbClr val="17203A"/>
                </a:solidFill>
                <a:latin typeface="Calibri" pitchFamily="34" charset="0"/>
                <a:ea typeface="Calibri" pitchFamily="34" charset="-122"/>
                <a:cs typeface="Calibri" pitchFamily="34" charset="-120"/>
              </a:rPr>
              <a:t>MULTI-STAGE DOCKERFILE (FRONTEND)</a:t>
            </a:r>
            <a:endParaRPr lang="en-US" sz="1100" dirty="0"/>
          </a:p>
        </p:txBody>
      </p:sp>
      <p:sp>
        <p:nvSpPr>
          <p:cNvPr id="6" name="Shape 4"/>
          <p:cNvSpPr/>
          <p:nvPr/>
        </p:nvSpPr>
        <p:spPr>
          <a:xfrm>
            <a:off x="822960" y="1901952"/>
            <a:ext cx="4846320" cy="1965960"/>
          </a:xfrm>
          <a:prstGeom prst="roundRect">
            <a:avLst>
              <a:gd name="adj" fmla="val 2791"/>
            </a:avLst>
          </a:prstGeom>
          <a:solidFill>
            <a:srgbClr val="17203A"/>
          </a:solidFill>
          <a:ln/>
        </p:spPr>
      </p:sp>
      <p:sp>
        <p:nvSpPr>
          <p:cNvPr id="7" name="Text 5"/>
          <p:cNvSpPr/>
          <p:nvPr/>
        </p:nvSpPr>
        <p:spPr>
          <a:xfrm>
            <a:off x="1005840" y="1975104"/>
            <a:ext cx="4480560" cy="1819656"/>
          </a:xfrm>
          <a:prstGeom prst="rect">
            <a:avLst/>
          </a:prstGeom>
          <a:noFill/>
          <a:ln/>
        </p:spPr>
        <p:txBody>
          <a:bodyPr wrap="square" rtlCol="0" anchor="ctr"/>
          <a:lstStyle/>
          <a:p>
            <a:pPr indent="0" marL="0">
              <a:lnSpc>
                <a:spcPct val="125000"/>
              </a:lnSpc>
              <a:buNone/>
            </a:pPr>
            <a:r>
              <a:rPr lang="en-US" sz="1000" dirty="0">
                <a:solidFill>
                  <a:srgbClr val="9FE6C8"/>
                </a:solidFill>
                <a:latin typeface="Courier New" pitchFamily="34" charset="0"/>
                <a:ea typeface="Courier New" pitchFamily="34" charset="-122"/>
                <a:cs typeface="Courier New" pitchFamily="34" charset="-120"/>
              </a:rPr>
              <a:t>FROM node:20 AS build</a:t>
            </a:r>
            <a:endParaRPr lang="en-US" sz="1000" dirty="0"/>
          </a:p>
          <a:p>
            <a:pPr indent="0" marL="0">
              <a:lnSpc>
                <a:spcPct val="125000"/>
              </a:lnSpc>
              <a:buNone/>
            </a:pPr>
            <a:r>
              <a:rPr lang="en-US" sz="1000" dirty="0">
                <a:solidFill>
                  <a:srgbClr val="9FE6C8"/>
                </a:solidFill>
                <a:latin typeface="Courier New" pitchFamily="34" charset="0"/>
                <a:ea typeface="Courier New" pitchFamily="34" charset="-122"/>
                <a:cs typeface="Courier New" pitchFamily="34" charset="-120"/>
              </a:rPr>
              <a:t>WORKDIR /app</a:t>
            </a:r>
            <a:endParaRPr lang="en-US" sz="1000" dirty="0"/>
          </a:p>
          <a:p>
            <a:pPr indent="0" marL="0">
              <a:lnSpc>
                <a:spcPct val="125000"/>
              </a:lnSpc>
              <a:buNone/>
            </a:pPr>
            <a:r>
              <a:rPr lang="en-US" sz="1000" dirty="0">
                <a:solidFill>
                  <a:srgbClr val="9FE6C8"/>
                </a:solidFill>
                <a:latin typeface="Courier New" pitchFamily="34" charset="0"/>
                <a:ea typeface="Courier New" pitchFamily="34" charset="-122"/>
                <a:cs typeface="Courier New" pitchFamily="34" charset="-120"/>
              </a:rPr>
              <a:t>COPY . .</a:t>
            </a:r>
            <a:endParaRPr lang="en-US" sz="1000" dirty="0"/>
          </a:p>
          <a:p>
            <a:pPr indent="0" marL="0">
              <a:lnSpc>
                <a:spcPct val="125000"/>
              </a:lnSpc>
              <a:buNone/>
            </a:pPr>
            <a:r>
              <a:rPr lang="en-US" sz="1000" dirty="0">
                <a:solidFill>
                  <a:srgbClr val="9FE6C8"/>
                </a:solidFill>
                <a:latin typeface="Courier New" pitchFamily="34" charset="0"/>
                <a:ea typeface="Courier New" pitchFamily="34" charset="-122"/>
                <a:cs typeface="Courier New" pitchFamily="34" charset="-120"/>
              </a:rPr>
              <a:t>RUN npm ci &amp;&amp; npm run build</a:t>
            </a:r>
            <a:endParaRPr lang="en-US" sz="1000" dirty="0"/>
          </a:p>
          <a:p>
            <a:pPr indent="0" marL="0">
              <a:lnSpc>
                <a:spcPct val="125000"/>
              </a:lnSpc>
              <a:buNone/>
            </a:pPr>
            <a:endParaRPr lang="en-US" sz="1000" dirty="0"/>
          </a:p>
          <a:p>
            <a:pPr indent="0" marL="0">
              <a:lnSpc>
                <a:spcPct val="125000"/>
              </a:lnSpc>
              <a:buNone/>
            </a:pPr>
            <a:r>
              <a:rPr lang="en-US" sz="1000" dirty="0">
                <a:solidFill>
                  <a:srgbClr val="9FE6C8"/>
                </a:solidFill>
                <a:latin typeface="Courier New" pitchFamily="34" charset="0"/>
                <a:ea typeface="Courier New" pitchFamily="34" charset="-122"/>
                <a:cs typeface="Courier New" pitchFamily="34" charset="-120"/>
              </a:rPr>
              <a:t>FROM nginx:alpine</a:t>
            </a:r>
            <a:endParaRPr lang="en-US" sz="1000" dirty="0"/>
          </a:p>
          <a:p>
            <a:pPr indent="0" marL="0">
              <a:lnSpc>
                <a:spcPct val="125000"/>
              </a:lnSpc>
              <a:buNone/>
            </a:pPr>
            <a:r>
              <a:rPr lang="en-US" sz="1000" dirty="0">
                <a:solidFill>
                  <a:srgbClr val="9FE6C8"/>
                </a:solidFill>
                <a:latin typeface="Courier New" pitchFamily="34" charset="0"/>
                <a:ea typeface="Courier New" pitchFamily="34" charset="-122"/>
                <a:cs typeface="Courier New" pitchFamily="34" charset="-120"/>
              </a:rPr>
              <a:t>COPY --from=build /app/dist</a:t>
            </a:r>
            <a:endParaRPr lang="en-US" sz="1000" dirty="0"/>
          </a:p>
          <a:p>
            <a:pPr indent="0" marL="0">
              <a:lnSpc>
                <a:spcPct val="125000"/>
              </a:lnSpc>
              <a:buNone/>
            </a:pPr>
            <a:r>
              <a:rPr lang="en-US" sz="1000" dirty="0">
                <a:solidFill>
                  <a:srgbClr val="9FE6C8"/>
                </a:solidFill>
                <a:latin typeface="Courier New" pitchFamily="34" charset="0"/>
                <a:ea typeface="Courier New" pitchFamily="34" charset="-122"/>
                <a:cs typeface="Courier New" pitchFamily="34" charset="-120"/>
              </a:rPr>
              <a:t>  /usr/share/nginx/html</a:t>
            </a:r>
            <a:endParaRPr lang="en-US" sz="1000" dirty="0"/>
          </a:p>
        </p:txBody>
      </p:sp>
      <p:sp>
        <p:nvSpPr>
          <p:cNvPr id="8" name="Text 6"/>
          <p:cNvSpPr/>
          <p:nvPr/>
        </p:nvSpPr>
        <p:spPr>
          <a:xfrm>
            <a:off x="822960" y="3977640"/>
            <a:ext cx="4846320" cy="594360"/>
          </a:xfrm>
          <a:prstGeom prst="rect">
            <a:avLst/>
          </a:prstGeom>
          <a:noFill/>
          <a:ln/>
        </p:spPr>
        <p:txBody>
          <a:bodyPr wrap="square" rtlCol="0" anchor="ctr"/>
          <a:lstStyle/>
          <a:p>
            <a:pPr indent="0" marL="0">
              <a:lnSpc>
                <a:spcPct val="120000"/>
              </a:lnSpc>
              <a:buNone/>
            </a:pPr>
            <a:r>
              <a:rPr lang="en-US" sz="1050" i="1" dirty="0">
                <a:solidFill>
                  <a:srgbClr val="5B6B7A"/>
                </a:solidFill>
                <a:latin typeface="Calibri" pitchFamily="34" charset="0"/>
                <a:ea typeface="Calibri" pitchFamily="34" charset="-122"/>
                <a:cs typeface="Calibri" pitchFamily="34" charset="-120"/>
              </a:rPr>
              <a:t>Stage 1 compiles React with Node; stage 2 ships only the static build inside a tiny Nginx image — smaller, safer production images.</a:t>
            </a:r>
            <a:endParaRPr lang="en-US" sz="1050" dirty="0"/>
          </a:p>
        </p:txBody>
      </p:sp>
      <p:sp>
        <p:nvSpPr>
          <p:cNvPr id="9" name="Shape 7"/>
          <p:cNvSpPr/>
          <p:nvPr/>
        </p:nvSpPr>
        <p:spPr>
          <a:xfrm>
            <a:off x="822960" y="4663440"/>
            <a:ext cx="146304" cy="146304"/>
          </a:xfrm>
          <a:prstGeom prst="ellipse">
            <a:avLst/>
          </a:prstGeom>
          <a:solidFill>
            <a:srgbClr val="17203A"/>
          </a:solidFill>
          <a:ln/>
        </p:spPr>
      </p:sp>
      <p:sp>
        <p:nvSpPr>
          <p:cNvPr id="10" name="Text 8"/>
          <p:cNvSpPr/>
          <p:nvPr/>
        </p:nvSpPr>
        <p:spPr>
          <a:xfrm>
            <a:off x="1143000" y="4562856"/>
            <a:ext cx="4480560" cy="347472"/>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No “works on my machine” problems</a:t>
            </a:r>
            <a:endParaRPr lang="en-US" sz="1100" dirty="0"/>
          </a:p>
        </p:txBody>
      </p:sp>
      <p:sp>
        <p:nvSpPr>
          <p:cNvPr id="11" name="Shape 9"/>
          <p:cNvSpPr/>
          <p:nvPr/>
        </p:nvSpPr>
        <p:spPr>
          <a:xfrm>
            <a:off x="822960" y="5047488"/>
            <a:ext cx="146304" cy="146304"/>
          </a:xfrm>
          <a:prstGeom prst="ellipse">
            <a:avLst/>
          </a:prstGeom>
          <a:solidFill>
            <a:srgbClr val="17203A"/>
          </a:solidFill>
          <a:ln/>
        </p:spPr>
      </p:sp>
      <p:sp>
        <p:nvSpPr>
          <p:cNvPr id="12" name="Text 10"/>
          <p:cNvSpPr/>
          <p:nvPr/>
        </p:nvSpPr>
        <p:spPr>
          <a:xfrm>
            <a:off x="1143000" y="4946904"/>
            <a:ext cx="4480560" cy="347472"/>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Identical environment in dev &amp; prod</a:t>
            </a:r>
            <a:endParaRPr lang="en-US" sz="1100" dirty="0"/>
          </a:p>
        </p:txBody>
      </p:sp>
      <p:sp>
        <p:nvSpPr>
          <p:cNvPr id="13" name="Shape 11"/>
          <p:cNvSpPr/>
          <p:nvPr/>
        </p:nvSpPr>
        <p:spPr>
          <a:xfrm>
            <a:off x="822960" y="5431536"/>
            <a:ext cx="146304" cy="146304"/>
          </a:xfrm>
          <a:prstGeom prst="ellipse">
            <a:avLst/>
          </a:prstGeom>
          <a:solidFill>
            <a:srgbClr val="17203A"/>
          </a:solidFill>
          <a:ln/>
        </p:spPr>
      </p:sp>
      <p:sp>
        <p:nvSpPr>
          <p:cNvPr id="14" name="Text 12"/>
          <p:cNvSpPr/>
          <p:nvPr/>
        </p:nvSpPr>
        <p:spPr>
          <a:xfrm>
            <a:off x="1143000" y="5330952"/>
            <a:ext cx="4480560" cy="347472"/>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Fast, repeatable, cacheable builds</a:t>
            </a:r>
            <a:endParaRPr lang="en-US" sz="1100" dirty="0"/>
          </a:p>
        </p:txBody>
      </p:sp>
      <p:sp>
        <p:nvSpPr>
          <p:cNvPr id="15" name="Shape 13"/>
          <p:cNvSpPr/>
          <p:nvPr/>
        </p:nvSpPr>
        <p:spPr>
          <a:xfrm>
            <a:off x="6217920" y="1417320"/>
            <a:ext cx="5394960" cy="4572000"/>
          </a:xfrm>
          <a:prstGeom prst="roundRect">
            <a:avLst>
              <a:gd name="adj" fmla="val 2000"/>
            </a:avLst>
          </a:prstGeom>
          <a:solidFill>
            <a:srgbClr val="17203A"/>
          </a:solidFill>
          <a:ln/>
        </p:spPr>
      </p:sp>
      <p:sp>
        <p:nvSpPr>
          <p:cNvPr id="16" name="Text 14"/>
          <p:cNvSpPr/>
          <p:nvPr/>
        </p:nvSpPr>
        <p:spPr>
          <a:xfrm>
            <a:off x="6492240" y="1600200"/>
            <a:ext cx="4754880" cy="274320"/>
          </a:xfrm>
          <a:prstGeom prst="rect">
            <a:avLst/>
          </a:prstGeom>
          <a:noFill/>
          <a:ln/>
        </p:spPr>
        <p:txBody>
          <a:bodyPr wrap="square" rtlCol="0" anchor="ctr"/>
          <a:lstStyle/>
          <a:p>
            <a:pPr indent="0" marL="0">
              <a:buNone/>
            </a:pPr>
            <a:r>
              <a:rPr lang="en-US" sz="1100" b="1" spc="50" kern="0" dirty="0">
                <a:solidFill>
                  <a:srgbClr val="FFB100"/>
                </a:solidFill>
                <a:latin typeface="Calibri" pitchFamily="34" charset="0"/>
                <a:ea typeface="Calibri" pitchFamily="34" charset="-122"/>
                <a:cs typeface="Calibri" pitchFamily="34" charset="-120"/>
              </a:rPr>
              <a:t>DOCKER-COMPOSE.YML SERVICES</a:t>
            </a:r>
            <a:endParaRPr lang="en-US" sz="1100" dirty="0"/>
          </a:p>
        </p:txBody>
      </p:sp>
      <p:sp>
        <p:nvSpPr>
          <p:cNvPr id="17" name="Text 15"/>
          <p:cNvSpPr/>
          <p:nvPr/>
        </p:nvSpPr>
        <p:spPr>
          <a:xfrm>
            <a:off x="6492240" y="1920240"/>
            <a:ext cx="2011680" cy="365760"/>
          </a:xfrm>
          <a:prstGeom prst="rect">
            <a:avLst/>
          </a:prstGeom>
          <a:noFill/>
          <a:ln/>
        </p:spPr>
        <p:txBody>
          <a:bodyPr wrap="square" rtlCol="0" anchor="ctr"/>
          <a:lstStyle/>
          <a:p>
            <a:pPr indent="0" marL="0">
              <a:buNone/>
            </a:pPr>
            <a:r>
              <a:rPr lang="en-US" sz="1200" b="1" dirty="0">
                <a:solidFill>
                  <a:srgbClr val="9FE6C8"/>
                </a:solidFill>
                <a:latin typeface="Courier New" pitchFamily="34" charset="0"/>
                <a:ea typeface="Courier New" pitchFamily="34" charset="-122"/>
                <a:cs typeface="Courier New" pitchFamily="34" charset="-120"/>
              </a:rPr>
              <a:t>frontend</a:t>
            </a:r>
            <a:endParaRPr lang="en-US" sz="1200" dirty="0"/>
          </a:p>
        </p:txBody>
      </p:sp>
      <p:sp>
        <p:nvSpPr>
          <p:cNvPr id="18" name="Text 16"/>
          <p:cNvSpPr/>
          <p:nvPr/>
        </p:nvSpPr>
        <p:spPr>
          <a:xfrm>
            <a:off x="6492240" y="2212848"/>
            <a:ext cx="4846320" cy="365760"/>
          </a:xfrm>
          <a:prstGeom prst="rect">
            <a:avLst/>
          </a:prstGeom>
          <a:noFill/>
          <a:ln/>
        </p:spPr>
        <p:txBody>
          <a:bodyPr wrap="square" rtlCol="0" anchor="ctr"/>
          <a:lstStyle/>
          <a:p>
            <a:pPr indent="0" marL="0">
              <a:buNone/>
            </a:pPr>
            <a:r>
              <a:rPr lang="en-US" sz="1050" dirty="0">
                <a:solidFill>
                  <a:srgbClr val="C9D8E0"/>
                </a:solidFill>
                <a:latin typeface="Calibri" pitchFamily="34" charset="0"/>
                <a:ea typeface="Calibri" pitchFamily="34" charset="-122"/>
                <a:cs typeface="Calibri" pitchFamily="34" charset="-120"/>
              </a:rPr>
              <a:t>React build served as static assets, port 80</a:t>
            </a:r>
            <a:endParaRPr lang="en-US" sz="1050" dirty="0"/>
          </a:p>
        </p:txBody>
      </p:sp>
      <p:sp>
        <p:nvSpPr>
          <p:cNvPr id="19" name="Text 17"/>
          <p:cNvSpPr/>
          <p:nvPr/>
        </p:nvSpPr>
        <p:spPr>
          <a:xfrm>
            <a:off x="6492240" y="2578608"/>
            <a:ext cx="2011680" cy="365760"/>
          </a:xfrm>
          <a:prstGeom prst="rect">
            <a:avLst/>
          </a:prstGeom>
          <a:noFill/>
          <a:ln/>
        </p:spPr>
        <p:txBody>
          <a:bodyPr wrap="square" rtlCol="0" anchor="ctr"/>
          <a:lstStyle/>
          <a:p>
            <a:pPr indent="0" marL="0">
              <a:buNone/>
            </a:pPr>
            <a:r>
              <a:rPr lang="en-US" sz="1200" b="1" dirty="0">
                <a:solidFill>
                  <a:srgbClr val="9FE6C8"/>
                </a:solidFill>
                <a:latin typeface="Courier New" pitchFamily="34" charset="0"/>
                <a:ea typeface="Courier New" pitchFamily="34" charset="-122"/>
                <a:cs typeface="Courier New" pitchFamily="34" charset="-120"/>
              </a:rPr>
              <a:t>backend</a:t>
            </a:r>
            <a:endParaRPr lang="en-US" sz="1200" dirty="0"/>
          </a:p>
        </p:txBody>
      </p:sp>
      <p:sp>
        <p:nvSpPr>
          <p:cNvPr id="20" name="Text 18"/>
          <p:cNvSpPr/>
          <p:nvPr/>
        </p:nvSpPr>
        <p:spPr>
          <a:xfrm>
            <a:off x="6492240" y="2871216"/>
            <a:ext cx="4846320" cy="365760"/>
          </a:xfrm>
          <a:prstGeom prst="rect">
            <a:avLst/>
          </a:prstGeom>
          <a:noFill/>
          <a:ln/>
        </p:spPr>
        <p:txBody>
          <a:bodyPr wrap="square" rtlCol="0" anchor="ctr"/>
          <a:lstStyle/>
          <a:p>
            <a:pPr indent="0" marL="0">
              <a:buNone/>
            </a:pPr>
            <a:r>
              <a:rPr lang="en-US" sz="1050" dirty="0">
                <a:solidFill>
                  <a:srgbClr val="C9D8E0"/>
                </a:solidFill>
                <a:latin typeface="Calibri" pitchFamily="34" charset="0"/>
                <a:ea typeface="Calibri" pitchFamily="34" charset="-122"/>
                <a:cs typeface="Calibri" pitchFamily="34" charset="-120"/>
              </a:rPr>
              <a:t>Node/Express API, port 5000</a:t>
            </a:r>
            <a:endParaRPr lang="en-US" sz="1050" dirty="0"/>
          </a:p>
        </p:txBody>
      </p:sp>
      <p:sp>
        <p:nvSpPr>
          <p:cNvPr id="21" name="Text 19"/>
          <p:cNvSpPr/>
          <p:nvPr/>
        </p:nvSpPr>
        <p:spPr>
          <a:xfrm>
            <a:off x="6492240" y="3236976"/>
            <a:ext cx="2011680" cy="365760"/>
          </a:xfrm>
          <a:prstGeom prst="rect">
            <a:avLst/>
          </a:prstGeom>
          <a:noFill/>
          <a:ln/>
        </p:spPr>
        <p:txBody>
          <a:bodyPr wrap="square" rtlCol="0" anchor="ctr"/>
          <a:lstStyle/>
          <a:p>
            <a:pPr indent="0" marL="0">
              <a:buNone/>
            </a:pPr>
            <a:r>
              <a:rPr lang="en-US" sz="1200" b="1" dirty="0">
                <a:solidFill>
                  <a:srgbClr val="9FE6C8"/>
                </a:solidFill>
                <a:latin typeface="Courier New" pitchFamily="34" charset="0"/>
                <a:ea typeface="Courier New" pitchFamily="34" charset="-122"/>
                <a:cs typeface="Courier New" pitchFamily="34" charset="-120"/>
              </a:rPr>
              <a:t>mongo</a:t>
            </a:r>
            <a:endParaRPr lang="en-US" sz="1200" dirty="0"/>
          </a:p>
        </p:txBody>
      </p:sp>
      <p:sp>
        <p:nvSpPr>
          <p:cNvPr id="22" name="Text 20"/>
          <p:cNvSpPr/>
          <p:nvPr/>
        </p:nvSpPr>
        <p:spPr>
          <a:xfrm>
            <a:off x="6492240" y="3529584"/>
            <a:ext cx="4846320" cy="365760"/>
          </a:xfrm>
          <a:prstGeom prst="rect">
            <a:avLst/>
          </a:prstGeom>
          <a:noFill/>
          <a:ln/>
        </p:spPr>
        <p:txBody>
          <a:bodyPr wrap="square" rtlCol="0" anchor="ctr"/>
          <a:lstStyle/>
          <a:p>
            <a:pPr indent="0" marL="0">
              <a:buNone/>
            </a:pPr>
            <a:r>
              <a:rPr lang="en-US" sz="1050" dirty="0">
                <a:solidFill>
                  <a:srgbClr val="C9D8E0"/>
                </a:solidFill>
                <a:latin typeface="Calibri" pitchFamily="34" charset="0"/>
                <a:ea typeface="Calibri" pitchFamily="34" charset="-122"/>
                <a:cs typeface="Calibri" pitchFamily="34" charset="-120"/>
              </a:rPr>
              <a:t>MongoDB (or external Atlas URI)</a:t>
            </a:r>
            <a:endParaRPr lang="en-US" sz="1050" dirty="0"/>
          </a:p>
        </p:txBody>
      </p:sp>
      <p:sp>
        <p:nvSpPr>
          <p:cNvPr id="23" name="Text 21"/>
          <p:cNvSpPr/>
          <p:nvPr/>
        </p:nvSpPr>
        <p:spPr>
          <a:xfrm>
            <a:off x="6492240" y="3895344"/>
            <a:ext cx="2011680" cy="365760"/>
          </a:xfrm>
          <a:prstGeom prst="rect">
            <a:avLst/>
          </a:prstGeom>
          <a:noFill/>
          <a:ln/>
        </p:spPr>
        <p:txBody>
          <a:bodyPr wrap="square" rtlCol="0" anchor="ctr"/>
          <a:lstStyle/>
          <a:p>
            <a:pPr indent="0" marL="0">
              <a:buNone/>
            </a:pPr>
            <a:r>
              <a:rPr lang="en-US" sz="1200" b="1" dirty="0">
                <a:solidFill>
                  <a:srgbClr val="9FE6C8"/>
                </a:solidFill>
                <a:latin typeface="Courier New" pitchFamily="34" charset="0"/>
                <a:ea typeface="Courier New" pitchFamily="34" charset="-122"/>
                <a:cs typeface="Courier New" pitchFamily="34" charset="-120"/>
              </a:rPr>
              <a:t>caddy</a:t>
            </a:r>
            <a:endParaRPr lang="en-US" sz="1200" dirty="0"/>
          </a:p>
        </p:txBody>
      </p:sp>
      <p:sp>
        <p:nvSpPr>
          <p:cNvPr id="24" name="Text 22"/>
          <p:cNvSpPr/>
          <p:nvPr/>
        </p:nvSpPr>
        <p:spPr>
          <a:xfrm>
            <a:off x="6492240" y="4187952"/>
            <a:ext cx="4846320" cy="365760"/>
          </a:xfrm>
          <a:prstGeom prst="rect">
            <a:avLst/>
          </a:prstGeom>
          <a:noFill/>
          <a:ln/>
        </p:spPr>
        <p:txBody>
          <a:bodyPr wrap="square" rtlCol="0" anchor="ctr"/>
          <a:lstStyle/>
          <a:p>
            <a:pPr indent="0" marL="0">
              <a:buNone/>
            </a:pPr>
            <a:r>
              <a:rPr lang="en-US" sz="1050" dirty="0">
                <a:solidFill>
                  <a:srgbClr val="C9D8E0"/>
                </a:solidFill>
                <a:latin typeface="Calibri" pitchFamily="34" charset="0"/>
                <a:ea typeface="Calibri" pitchFamily="34" charset="-122"/>
                <a:cs typeface="Calibri" pitchFamily="34" charset="-120"/>
              </a:rPr>
              <a:t>Reverse proxy + automatic HTTPS, ports 80/443</a:t>
            </a:r>
            <a:endParaRPr lang="en-US" sz="1050" dirty="0"/>
          </a:p>
        </p:txBody>
      </p:sp>
      <p:sp>
        <p:nvSpPr>
          <p:cNvPr id="25" name="Shape 23"/>
          <p:cNvSpPr/>
          <p:nvPr/>
        </p:nvSpPr>
        <p:spPr>
          <a:xfrm>
            <a:off x="6492240" y="4599432"/>
            <a:ext cx="4846320" cy="0"/>
          </a:xfrm>
          <a:prstGeom prst="line">
            <a:avLst/>
          </a:prstGeom>
          <a:noFill/>
          <a:ln w="12700">
            <a:solidFill>
              <a:srgbClr val="35456E"/>
            </a:solidFill>
            <a:prstDash val="solid"/>
          </a:ln>
        </p:spPr>
      </p:sp>
      <p:sp>
        <p:nvSpPr>
          <p:cNvPr id="26" name="Text 24"/>
          <p:cNvSpPr/>
          <p:nvPr/>
        </p:nvSpPr>
        <p:spPr>
          <a:xfrm>
            <a:off x="6492240" y="4736592"/>
            <a:ext cx="4846320" cy="320040"/>
          </a:xfrm>
          <a:prstGeom prst="rect">
            <a:avLst/>
          </a:prstGeom>
          <a:noFill/>
          <a:ln/>
        </p:spPr>
        <p:txBody>
          <a:bodyPr wrap="square" rtlCol="0" anchor="ctr"/>
          <a:lstStyle/>
          <a:p>
            <a:pPr indent="0" marL="0">
              <a:buNone/>
            </a:pPr>
            <a:r>
              <a:rPr lang="en-US" sz="1100" dirty="0">
                <a:solidFill>
                  <a:srgbClr val="D9E3E8"/>
                </a:solidFill>
                <a:latin typeface="Calibri" pitchFamily="34" charset="0"/>
                <a:ea typeface="Calibri" pitchFamily="34" charset="-122"/>
                <a:cs typeface="Calibri" pitchFamily="34" charset="-120"/>
              </a:rPr>
              <a:t>One command starts every service together:</a:t>
            </a:r>
            <a:endParaRPr lang="en-US" sz="1100" dirty="0"/>
          </a:p>
        </p:txBody>
      </p:sp>
      <p:sp>
        <p:nvSpPr>
          <p:cNvPr id="27" name="Shape 25"/>
          <p:cNvSpPr/>
          <p:nvPr/>
        </p:nvSpPr>
        <p:spPr>
          <a:xfrm>
            <a:off x="6492240" y="5084064"/>
            <a:ext cx="3108960" cy="384048"/>
          </a:xfrm>
          <a:prstGeom prst="roundRect">
            <a:avLst>
              <a:gd name="adj" fmla="val 11905"/>
            </a:avLst>
          </a:prstGeom>
          <a:solidFill>
            <a:srgbClr val="0D1526"/>
          </a:solidFill>
          <a:ln/>
        </p:spPr>
      </p:sp>
      <p:sp>
        <p:nvSpPr>
          <p:cNvPr id="28" name="Text 26"/>
          <p:cNvSpPr/>
          <p:nvPr/>
        </p:nvSpPr>
        <p:spPr>
          <a:xfrm>
            <a:off x="6492240" y="5084064"/>
            <a:ext cx="3108960" cy="384048"/>
          </a:xfrm>
          <a:prstGeom prst="rect">
            <a:avLst/>
          </a:prstGeom>
          <a:noFill/>
          <a:ln/>
        </p:spPr>
        <p:txBody>
          <a:bodyPr wrap="square" rtlCol="0" anchor="ctr"/>
          <a:lstStyle/>
          <a:p>
            <a:pPr algn="ctr" indent="0" marL="0">
              <a:buNone/>
            </a:pPr>
            <a:r>
              <a:rPr lang="en-US" sz="1150" dirty="0">
                <a:solidFill>
                  <a:srgbClr val="FFB100"/>
                </a:solidFill>
                <a:latin typeface="Courier New" pitchFamily="34" charset="0"/>
                <a:ea typeface="Courier New" pitchFamily="34" charset="-122"/>
                <a:cs typeface="Courier New" pitchFamily="34" charset="-120"/>
              </a:rPr>
              <a:t>$ docker compose up -d</a:t>
            </a:r>
            <a:endParaRPr lang="en-US" sz="1150" dirty="0"/>
          </a:p>
        </p:txBody>
      </p:sp>
      <p:sp>
        <p:nvSpPr>
          <p:cNvPr id="29" name="Text 27"/>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17203A"/>
                </a:solidFill>
                <a:latin typeface="Calibri" pitchFamily="34" charset="0"/>
                <a:ea typeface="Calibri" pitchFamily="34" charset="-122"/>
                <a:cs typeface="Calibri" pitchFamily="34" charset="-120"/>
              </a:rPr>
              <a:t>DEVOPS · ORCHESTRATION</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Kubernetes: Ready for Scale</a:t>
            </a:r>
            <a:endParaRPr lang="en-US" sz="2800" dirty="0"/>
          </a:p>
        </p:txBody>
      </p:sp>
      <p:sp>
        <p:nvSpPr>
          <p:cNvPr id="4" name="Text 2"/>
          <p:cNvSpPr/>
          <p:nvPr/>
        </p:nvSpPr>
        <p:spPr>
          <a:xfrm>
            <a:off x="548640" y="1325880"/>
            <a:ext cx="10881360" cy="457200"/>
          </a:xfrm>
          <a:prstGeom prst="rect">
            <a:avLst/>
          </a:prstGeom>
          <a:noFill/>
          <a:ln/>
        </p:spPr>
        <p:txBody>
          <a:bodyPr wrap="square" rtlCol="0" anchor="ctr"/>
          <a:lstStyle/>
          <a:p>
            <a:pPr indent="0" marL="0">
              <a:buNone/>
            </a:pPr>
            <a:r>
              <a:rPr lang="en-US" sz="1250" dirty="0">
                <a:solidFill>
                  <a:srgbClr val="5B6B7A"/>
                </a:solidFill>
                <a:latin typeface="Calibri" pitchFamily="34" charset="0"/>
                <a:ea typeface="Calibri" pitchFamily="34" charset="-122"/>
                <a:cs typeface="Calibri" pitchFamily="34" charset="-120"/>
              </a:rPr>
              <a:t>The application ships with Kubernetes manifests so it can move from a single EC2 instance to a fully orchestrated cluster with minimal rework.</a:t>
            </a:r>
            <a:endParaRPr lang="en-US" sz="1250" dirty="0"/>
          </a:p>
        </p:txBody>
      </p:sp>
      <p:sp>
        <p:nvSpPr>
          <p:cNvPr id="5" name="Shape 3"/>
          <p:cNvSpPr/>
          <p:nvPr/>
        </p:nvSpPr>
        <p:spPr>
          <a:xfrm>
            <a:off x="548640" y="1920240"/>
            <a:ext cx="10881360" cy="749808"/>
          </a:xfrm>
          <a:prstGeom prst="roundRect">
            <a:avLst>
              <a:gd name="adj" fmla="val 8537"/>
            </a:avLst>
          </a:prstGeom>
          <a:solidFill>
            <a:srgbClr val="F4F8FA"/>
          </a:solidFill>
          <a:ln w="12700">
            <a:solidFill>
              <a:srgbClr val="D9E3E8"/>
            </a:solidFill>
            <a:prstDash val="solid"/>
          </a:ln>
        </p:spPr>
      </p:sp>
      <p:sp>
        <p:nvSpPr>
          <p:cNvPr id="6" name="Shape 4"/>
          <p:cNvSpPr/>
          <p:nvPr/>
        </p:nvSpPr>
        <p:spPr>
          <a:xfrm>
            <a:off x="548640" y="1920240"/>
            <a:ext cx="73152" cy="749808"/>
          </a:xfrm>
          <a:prstGeom prst="rect">
            <a:avLst/>
          </a:prstGeom>
          <a:solidFill>
            <a:srgbClr val="065A82"/>
          </a:solidFill>
          <a:ln/>
        </p:spPr>
      </p:sp>
      <p:sp>
        <p:nvSpPr>
          <p:cNvPr id="7" name="Text 5"/>
          <p:cNvSpPr/>
          <p:nvPr/>
        </p:nvSpPr>
        <p:spPr>
          <a:xfrm>
            <a:off x="868680" y="1920240"/>
            <a:ext cx="2651760" cy="749808"/>
          </a:xfrm>
          <a:prstGeom prst="rect">
            <a:avLst/>
          </a:prstGeom>
          <a:noFill/>
          <a:ln/>
        </p:spPr>
        <p:txBody>
          <a:bodyPr wrap="square" rtlCol="0" anchor="ctr"/>
          <a:lstStyle/>
          <a:p>
            <a:pPr indent="0" marL="0">
              <a:buNone/>
            </a:pPr>
            <a:r>
              <a:rPr lang="en-US" sz="1300" b="1" dirty="0">
                <a:solidFill>
                  <a:srgbClr val="065A82"/>
                </a:solidFill>
                <a:latin typeface="Arial" pitchFamily="34" charset="0"/>
                <a:ea typeface="Arial" pitchFamily="34" charset="-122"/>
                <a:cs typeface="Arial" pitchFamily="34" charset="-120"/>
              </a:rPr>
              <a:t>Deployment</a:t>
            </a:r>
            <a:endParaRPr lang="en-US" sz="1300" dirty="0"/>
          </a:p>
        </p:txBody>
      </p:sp>
      <p:sp>
        <p:nvSpPr>
          <p:cNvPr id="8" name="Text 6"/>
          <p:cNvSpPr/>
          <p:nvPr/>
        </p:nvSpPr>
        <p:spPr>
          <a:xfrm>
            <a:off x="3566160" y="1920240"/>
            <a:ext cx="7680960" cy="749808"/>
          </a:xfrm>
          <a:prstGeom prst="rect">
            <a:avLst/>
          </a:prstGeom>
          <a:noFill/>
          <a:ln/>
        </p:spPr>
        <p:txBody>
          <a:bodyPr wrap="square" rtlCol="0" anchor="ctr"/>
          <a:lstStyle/>
          <a:p>
            <a:pPr indent="0" marL="0">
              <a:lnSpc>
                <a:spcPct val="115000"/>
              </a:lnSpc>
              <a:buNone/>
            </a:pPr>
            <a:r>
              <a:rPr lang="en-US" sz="1150" dirty="0">
                <a:solidFill>
                  <a:srgbClr val="16232E"/>
                </a:solidFill>
                <a:latin typeface="Calibri" pitchFamily="34" charset="0"/>
                <a:ea typeface="Calibri" pitchFamily="34" charset="-122"/>
                <a:cs typeface="Calibri" pitchFamily="34" charset="-120"/>
              </a:rPr>
              <a:t>Declares desired replica count for backend/frontend pods; enables rolling updates with zero downtime.</a:t>
            </a:r>
            <a:endParaRPr lang="en-US" sz="1150" dirty="0"/>
          </a:p>
        </p:txBody>
      </p:sp>
      <p:sp>
        <p:nvSpPr>
          <p:cNvPr id="9" name="Shape 7"/>
          <p:cNvSpPr/>
          <p:nvPr/>
        </p:nvSpPr>
        <p:spPr>
          <a:xfrm>
            <a:off x="548640" y="2798064"/>
            <a:ext cx="10881360" cy="749808"/>
          </a:xfrm>
          <a:prstGeom prst="roundRect">
            <a:avLst>
              <a:gd name="adj" fmla="val 8537"/>
            </a:avLst>
          </a:prstGeom>
          <a:solidFill>
            <a:srgbClr val="F4F8FA"/>
          </a:solidFill>
          <a:ln w="12700">
            <a:solidFill>
              <a:srgbClr val="D9E3E8"/>
            </a:solidFill>
            <a:prstDash val="solid"/>
          </a:ln>
        </p:spPr>
      </p:sp>
      <p:sp>
        <p:nvSpPr>
          <p:cNvPr id="10" name="Shape 8"/>
          <p:cNvSpPr/>
          <p:nvPr/>
        </p:nvSpPr>
        <p:spPr>
          <a:xfrm>
            <a:off x="548640" y="2798064"/>
            <a:ext cx="73152" cy="749808"/>
          </a:xfrm>
          <a:prstGeom prst="rect">
            <a:avLst/>
          </a:prstGeom>
          <a:solidFill>
            <a:srgbClr val="1C7293"/>
          </a:solidFill>
          <a:ln/>
        </p:spPr>
      </p:sp>
      <p:sp>
        <p:nvSpPr>
          <p:cNvPr id="11" name="Text 9"/>
          <p:cNvSpPr/>
          <p:nvPr/>
        </p:nvSpPr>
        <p:spPr>
          <a:xfrm>
            <a:off x="868680" y="2798064"/>
            <a:ext cx="2651760" cy="749808"/>
          </a:xfrm>
          <a:prstGeom prst="rect">
            <a:avLst/>
          </a:prstGeom>
          <a:noFill/>
          <a:ln/>
        </p:spPr>
        <p:txBody>
          <a:bodyPr wrap="square" rtlCol="0" anchor="ctr"/>
          <a:lstStyle/>
          <a:p>
            <a:pPr indent="0" marL="0">
              <a:buNone/>
            </a:pPr>
            <a:r>
              <a:rPr lang="en-US" sz="1300" b="1" dirty="0">
                <a:solidFill>
                  <a:srgbClr val="1C7293"/>
                </a:solidFill>
                <a:latin typeface="Arial" pitchFamily="34" charset="0"/>
                <a:ea typeface="Arial" pitchFamily="34" charset="-122"/>
                <a:cs typeface="Arial" pitchFamily="34" charset="-120"/>
              </a:rPr>
              <a:t>Service</a:t>
            </a:r>
            <a:endParaRPr lang="en-US" sz="1300" dirty="0"/>
          </a:p>
        </p:txBody>
      </p:sp>
      <p:sp>
        <p:nvSpPr>
          <p:cNvPr id="12" name="Text 10"/>
          <p:cNvSpPr/>
          <p:nvPr/>
        </p:nvSpPr>
        <p:spPr>
          <a:xfrm>
            <a:off x="3566160" y="2798064"/>
            <a:ext cx="7680960" cy="749808"/>
          </a:xfrm>
          <a:prstGeom prst="rect">
            <a:avLst/>
          </a:prstGeom>
          <a:noFill/>
          <a:ln/>
        </p:spPr>
        <p:txBody>
          <a:bodyPr wrap="square" rtlCol="0" anchor="ctr"/>
          <a:lstStyle/>
          <a:p>
            <a:pPr indent="0" marL="0">
              <a:lnSpc>
                <a:spcPct val="115000"/>
              </a:lnSpc>
              <a:buNone/>
            </a:pPr>
            <a:r>
              <a:rPr lang="en-US" sz="1150" dirty="0">
                <a:solidFill>
                  <a:srgbClr val="16232E"/>
                </a:solidFill>
                <a:latin typeface="Calibri" pitchFamily="34" charset="0"/>
                <a:ea typeface="Calibri" pitchFamily="34" charset="-122"/>
                <a:cs typeface="Calibri" pitchFamily="34" charset="-120"/>
              </a:rPr>
              <a:t>Stable internal DNS name + load balancing across pods (ClusterIP for internal, LoadBalancer for external).</a:t>
            </a:r>
            <a:endParaRPr lang="en-US" sz="1150" dirty="0"/>
          </a:p>
        </p:txBody>
      </p:sp>
      <p:sp>
        <p:nvSpPr>
          <p:cNvPr id="13" name="Shape 11"/>
          <p:cNvSpPr/>
          <p:nvPr/>
        </p:nvSpPr>
        <p:spPr>
          <a:xfrm>
            <a:off x="548640" y="3675888"/>
            <a:ext cx="10881360" cy="749808"/>
          </a:xfrm>
          <a:prstGeom prst="roundRect">
            <a:avLst>
              <a:gd name="adj" fmla="val 8537"/>
            </a:avLst>
          </a:prstGeom>
          <a:solidFill>
            <a:srgbClr val="F4F8FA"/>
          </a:solidFill>
          <a:ln w="12700">
            <a:solidFill>
              <a:srgbClr val="D9E3E8"/>
            </a:solidFill>
            <a:prstDash val="solid"/>
          </a:ln>
        </p:spPr>
      </p:sp>
      <p:sp>
        <p:nvSpPr>
          <p:cNvPr id="14" name="Shape 12"/>
          <p:cNvSpPr/>
          <p:nvPr/>
        </p:nvSpPr>
        <p:spPr>
          <a:xfrm>
            <a:off x="548640" y="3675888"/>
            <a:ext cx="73152" cy="749808"/>
          </a:xfrm>
          <a:prstGeom prst="rect">
            <a:avLst/>
          </a:prstGeom>
          <a:solidFill>
            <a:srgbClr val="17203A"/>
          </a:solidFill>
          <a:ln/>
        </p:spPr>
      </p:sp>
      <p:sp>
        <p:nvSpPr>
          <p:cNvPr id="15" name="Text 13"/>
          <p:cNvSpPr/>
          <p:nvPr/>
        </p:nvSpPr>
        <p:spPr>
          <a:xfrm>
            <a:off x="868680" y="3675888"/>
            <a:ext cx="2651760" cy="749808"/>
          </a:xfrm>
          <a:prstGeom prst="rect">
            <a:avLst/>
          </a:prstGeom>
          <a:noFill/>
          <a:ln/>
        </p:spPr>
        <p:txBody>
          <a:bodyPr wrap="square" rtlCol="0" anchor="ctr"/>
          <a:lstStyle/>
          <a:p>
            <a:pPr indent="0" marL="0">
              <a:buNone/>
            </a:pPr>
            <a:r>
              <a:rPr lang="en-US" sz="1300" b="1" dirty="0">
                <a:solidFill>
                  <a:srgbClr val="17203A"/>
                </a:solidFill>
                <a:latin typeface="Arial" pitchFamily="34" charset="0"/>
                <a:ea typeface="Arial" pitchFamily="34" charset="-122"/>
                <a:cs typeface="Arial" pitchFamily="34" charset="-120"/>
              </a:rPr>
              <a:t>Ingress</a:t>
            </a:r>
            <a:endParaRPr lang="en-US" sz="1300" dirty="0"/>
          </a:p>
        </p:txBody>
      </p:sp>
      <p:sp>
        <p:nvSpPr>
          <p:cNvPr id="16" name="Text 14"/>
          <p:cNvSpPr/>
          <p:nvPr/>
        </p:nvSpPr>
        <p:spPr>
          <a:xfrm>
            <a:off x="3566160" y="3675888"/>
            <a:ext cx="7680960" cy="749808"/>
          </a:xfrm>
          <a:prstGeom prst="rect">
            <a:avLst/>
          </a:prstGeom>
          <a:noFill/>
          <a:ln/>
        </p:spPr>
        <p:txBody>
          <a:bodyPr wrap="square" rtlCol="0" anchor="ctr"/>
          <a:lstStyle/>
          <a:p>
            <a:pPr indent="0" marL="0">
              <a:lnSpc>
                <a:spcPct val="115000"/>
              </a:lnSpc>
              <a:buNone/>
            </a:pPr>
            <a:r>
              <a:rPr lang="en-US" sz="1150" dirty="0">
                <a:solidFill>
                  <a:srgbClr val="16232E"/>
                </a:solidFill>
                <a:latin typeface="Calibri" pitchFamily="34" charset="0"/>
                <a:ea typeface="Calibri" pitchFamily="34" charset="-122"/>
                <a:cs typeface="Calibri" pitchFamily="34" charset="-120"/>
              </a:rPr>
              <a:t>Routes external HTTP/HTTPS traffic to the correct service based on path or hostname.</a:t>
            </a:r>
            <a:endParaRPr lang="en-US" sz="1150" dirty="0"/>
          </a:p>
        </p:txBody>
      </p:sp>
      <p:sp>
        <p:nvSpPr>
          <p:cNvPr id="17" name="Shape 15"/>
          <p:cNvSpPr/>
          <p:nvPr/>
        </p:nvSpPr>
        <p:spPr>
          <a:xfrm>
            <a:off x="548640" y="4553712"/>
            <a:ext cx="10881360" cy="749808"/>
          </a:xfrm>
          <a:prstGeom prst="roundRect">
            <a:avLst>
              <a:gd name="adj" fmla="val 8537"/>
            </a:avLst>
          </a:prstGeom>
          <a:solidFill>
            <a:srgbClr val="F4F8FA"/>
          </a:solidFill>
          <a:ln w="12700">
            <a:solidFill>
              <a:srgbClr val="D9E3E8"/>
            </a:solidFill>
            <a:prstDash val="solid"/>
          </a:ln>
        </p:spPr>
      </p:sp>
      <p:sp>
        <p:nvSpPr>
          <p:cNvPr id="18" name="Shape 16"/>
          <p:cNvSpPr/>
          <p:nvPr/>
        </p:nvSpPr>
        <p:spPr>
          <a:xfrm>
            <a:off x="548640" y="4553712"/>
            <a:ext cx="73152" cy="749808"/>
          </a:xfrm>
          <a:prstGeom prst="rect">
            <a:avLst/>
          </a:prstGeom>
          <a:solidFill>
            <a:srgbClr val="065A82"/>
          </a:solidFill>
          <a:ln/>
        </p:spPr>
      </p:sp>
      <p:sp>
        <p:nvSpPr>
          <p:cNvPr id="19" name="Text 17"/>
          <p:cNvSpPr/>
          <p:nvPr/>
        </p:nvSpPr>
        <p:spPr>
          <a:xfrm>
            <a:off x="868680" y="4553712"/>
            <a:ext cx="2651760" cy="749808"/>
          </a:xfrm>
          <a:prstGeom prst="rect">
            <a:avLst/>
          </a:prstGeom>
          <a:noFill/>
          <a:ln/>
        </p:spPr>
        <p:txBody>
          <a:bodyPr wrap="square" rtlCol="0" anchor="ctr"/>
          <a:lstStyle/>
          <a:p>
            <a:pPr indent="0" marL="0">
              <a:buNone/>
            </a:pPr>
            <a:r>
              <a:rPr lang="en-US" sz="1300" b="1" dirty="0">
                <a:solidFill>
                  <a:srgbClr val="065A82"/>
                </a:solidFill>
                <a:latin typeface="Arial" pitchFamily="34" charset="0"/>
                <a:ea typeface="Arial" pitchFamily="34" charset="-122"/>
                <a:cs typeface="Arial" pitchFamily="34" charset="-120"/>
              </a:rPr>
              <a:t>ConfigMap &amp; Secret</a:t>
            </a:r>
            <a:endParaRPr lang="en-US" sz="1300" dirty="0"/>
          </a:p>
        </p:txBody>
      </p:sp>
      <p:sp>
        <p:nvSpPr>
          <p:cNvPr id="20" name="Text 18"/>
          <p:cNvSpPr/>
          <p:nvPr/>
        </p:nvSpPr>
        <p:spPr>
          <a:xfrm>
            <a:off x="3566160" y="4553712"/>
            <a:ext cx="7680960" cy="749808"/>
          </a:xfrm>
          <a:prstGeom prst="rect">
            <a:avLst/>
          </a:prstGeom>
          <a:noFill/>
          <a:ln/>
        </p:spPr>
        <p:txBody>
          <a:bodyPr wrap="square" rtlCol="0" anchor="ctr"/>
          <a:lstStyle/>
          <a:p>
            <a:pPr indent="0" marL="0">
              <a:lnSpc>
                <a:spcPct val="115000"/>
              </a:lnSpc>
              <a:buNone/>
            </a:pPr>
            <a:r>
              <a:rPr lang="en-US" sz="1150" dirty="0">
                <a:solidFill>
                  <a:srgbClr val="16232E"/>
                </a:solidFill>
                <a:latin typeface="Calibri" pitchFamily="34" charset="0"/>
                <a:ea typeface="Calibri" pitchFamily="34" charset="-122"/>
                <a:cs typeface="Calibri" pitchFamily="34" charset="-120"/>
              </a:rPr>
              <a:t>Externalizes environment variables and sensitive values (JWT secret, Mongo URI) from the image.</a:t>
            </a:r>
            <a:endParaRPr lang="en-US" sz="1150" dirty="0"/>
          </a:p>
        </p:txBody>
      </p:sp>
      <p:sp>
        <p:nvSpPr>
          <p:cNvPr id="21" name="Shape 19"/>
          <p:cNvSpPr/>
          <p:nvPr/>
        </p:nvSpPr>
        <p:spPr>
          <a:xfrm>
            <a:off x="548640" y="5431536"/>
            <a:ext cx="10881360" cy="749808"/>
          </a:xfrm>
          <a:prstGeom prst="roundRect">
            <a:avLst>
              <a:gd name="adj" fmla="val 8537"/>
            </a:avLst>
          </a:prstGeom>
          <a:solidFill>
            <a:srgbClr val="F4F8FA"/>
          </a:solidFill>
          <a:ln w="12700">
            <a:solidFill>
              <a:srgbClr val="D9E3E8"/>
            </a:solidFill>
            <a:prstDash val="solid"/>
          </a:ln>
        </p:spPr>
      </p:sp>
      <p:sp>
        <p:nvSpPr>
          <p:cNvPr id="22" name="Shape 20"/>
          <p:cNvSpPr/>
          <p:nvPr/>
        </p:nvSpPr>
        <p:spPr>
          <a:xfrm>
            <a:off x="548640" y="5431536"/>
            <a:ext cx="73152" cy="749808"/>
          </a:xfrm>
          <a:prstGeom prst="rect">
            <a:avLst/>
          </a:prstGeom>
          <a:solidFill>
            <a:srgbClr val="1C7293"/>
          </a:solidFill>
          <a:ln/>
        </p:spPr>
      </p:sp>
      <p:sp>
        <p:nvSpPr>
          <p:cNvPr id="23" name="Text 21"/>
          <p:cNvSpPr/>
          <p:nvPr/>
        </p:nvSpPr>
        <p:spPr>
          <a:xfrm>
            <a:off x="868680" y="5431536"/>
            <a:ext cx="2651760" cy="749808"/>
          </a:xfrm>
          <a:prstGeom prst="rect">
            <a:avLst/>
          </a:prstGeom>
          <a:noFill/>
          <a:ln/>
        </p:spPr>
        <p:txBody>
          <a:bodyPr wrap="square" rtlCol="0" anchor="ctr"/>
          <a:lstStyle/>
          <a:p>
            <a:pPr indent="0" marL="0">
              <a:buNone/>
            </a:pPr>
            <a:r>
              <a:rPr lang="en-US" sz="1300" b="1" dirty="0">
                <a:solidFill>
                  <a:srgbClr val="1C7293"/>
                </a:solidFill>
                <a:latin typeface="Arial" pitchFamily="34" charset="0"/>
                <a:ea typeface="Arial" pitchFamily="34" charset="-122"/>
                <a:cs typeface="Arial" pitchFamily="34" charset="-120"/>
              </a:rPr>
              <a:t>Horizontal Pod Autoscaler</a:t>
            </a:r>
            <a:endParaRPr lang="en-US" sz="1300" dirty="0"/>
          </a:p>
        </p:txBody>
      </p:sp>
      <p:sp>
        <p:nvSpPr>
          <p:cNvPr id="24" name="Text 22"/>
          <p:cNvSpPr/>
          <p:nvPr/>
        </p:nvSpPr>
        <p:spPr>
          <a:xfrm>
            <a:off x="3566160" y="5431536"/>
            <a:ext cx="7680960" cy="749808"/>
          </a:xfrm>
          <a:prstGeom prst="rect">
            <a:avLst/>
          </a:prstGeom>
          <a:noFill/>
          <a:ln/>
        </p:spPr>
        <p:txBody>
          <a:bodyPr wrap="square" rtlCol="0" anchor="ctr"/>
          <a:lstStyle/>
          <a:p>
            <a:pPr indent="0" marL="0">
              <a:lnSpc>
                <a:spcPct val="115000"/>
              </a:lnSpc>
              <a:buNone/>
            </a:pPr>
            <a:r>
              <a:rPr lang="en-US" sz="1150" dirty="0">
                <a:solidFill>
                  <a:srgbClr val="16232E"/>
                </a:solidFill>
                <a:latin typeface="Calibri" pitchFamily="34" charset="0"/>
                <a:ea typeface="Calibri" pitchFamily="34" charset="-122"/>
                <a:cs typeface="Calibri" pitchFamily="34" charset="-120"/>
              </a:rPr>
              <a:t>Automatically adds/removes pods based on CPU or memory thresholds under load.</a:t>
            </a:r>
            <a:endParaRPr lang="en-US" sz="1150" dirty="0"/>
          </a:p>
        </p:txBody>
      </p:sp>
      <p:sp>
        <p:nvSpPr>
          <p:cNvPr id="25" name="Text 23"/>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17203A"/>
                </a:solidFill>
                <a:latin typeface="Calibri" pitchFamily="34" charset="0"/>
                <a:ea typeface="Calibri" pitchFamily="34" charset="-122"/>
                <a:cs typeface="Calibri" pitchFamily="34" charset="-120"/>
              </a:rPr>
              <a:t>DEVOPS · AUTOMATION</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GitHub Actions CI/CD Pipeline</a:t>
            </a:r>
            <a:endParaRPr lang="en-US" sz="2800" dirty="0"/>
          </a:p>
        </p:txBody>
      </p:sp>
      <p:sp>
        <p:nvSpPr>
          <p:cNvPr id="4" name="Shape 2"/>
          <p:cNvSpPr/>
          <p:nvPr/>
        </p:nvSpPr>
        <p:spPr>
          <a:xfrm>
            <a:off x="548640" y="1463040"/>
            <a:ext cx="1783080" cy="960120"/>
          </a:xfrm>
          <a:prstGeom prst="roundRect">
            <a:avLst>
              <a:gd name="adj" fmla="val 7619"/>
            </a:avLst>
          </a:prstGeom>
          <a:solidFill>
            <a:srgbClr val="065A82"/>
          </a:solidFill>
          <a:ln/>
        </p:spPr>
      </p:sp>
      <p:sp>
        <p:nvSpPr>
          <p:cNvPr id="5" name="Text 3"/>
          <p:cNvSpPr/>
          <p:nvPr/>
        </p:nvSpPr>
        <p:spPr>
          <a:xfrm>
            <a:off x="640080" y="1508760"/>
            <a:ext cx="457200" cy="274320"/>
          </a:xfrm>
          <a:prstGeom prst="rect">
            <a:avLst/>
          </a:prstGeom>
          <a:noFill/>
          <a:ln/>
        </p:spPr>
        <p:txBody>
          <a:bodyPr wrap="square" rtlCol="0" anchor="ctr"/>
          <a:lstStyle/>
          <a:p>
            <a:pPr indent="0" marL="0">
              <a:buNone/>
            </a:pPr>
            <a:r>
              <a:rPr lang="en-US" sz="1100" b="1" dirty="0">
                <a:solidFill>
                  <a:srgbClr val="CFE0E8"/>
                </a:solidFill>
                <a:latin typeface="Arial" pitchFamily="34" charset="0"/>
                <a:ea typeface="Arial" pitchFamily="34" charset="-122"/>
                <a:cs typeface="Arial" pitchFamily="34" charset="-120"/>
              </a:rPr>
              <a:t>1</a:t>
            </a:r>
            <a:endParaRPr lang="en-US" sz="1100" dirty="0"/>
          </a:p>
        </p:txBody>
      </p:sp>
      <p:sp>
        <p:nvSpPr>
          <p:cNvPr id="6" name="Text 4"/>
          <p:cNvSpPr/>
          <p:nvPr/>
        </p:nvSpPr>
        <p:spPr>
          <a:xfrm>
            <a:off x="548640" y="1581912"/>
            <a:ext cx="1783080" cy="841248"/>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Push</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to main</a:t>
            </a:r>
            <a:endParaRPr lang="en-US" sz="1100" dirty="0"/>
          </a:p>
        </p:txBody>
      </p:sp>
      <p:sp>
        <p:nvSpPr>
          <p:cNvPr id="7" name="Text 5"/>
          <p:cNvSpPr/>
          <p:nvPr/>
        </p:nvSpPr>
        <p:spPr>
          <a:xfrm>
            <a:off x="2331720" y="1463040"/>
            <a:ext cx="182880" cy="960120"/>
          </a:xfrm>
          <a:prstGeom prst="rect">
            <a:avLst/>
          </a:prstGeom>
          <a:noFill/>
          <a:ln/>
        </p:spPr>
        <p:txBody>
          <a:bodyPr wrap="square" rtlCol="0" anchor="ctr"/>
          <a:lstStyle/>
          <a:p>
            <a:pPr algn="ctr" indent="0" marL="0">
              <a:buNone/>
            </a:pPr>
            <a:r>
              <a:rPr lang="en-US" sz="1300" dirty="0">
                <a:solidFill>
                  <a:srgbClr val="5B6B7A"/>
                </a:solidFill>
                <a:latin typeface="Arial" pitchFamily="34" charset="0"/>
                <a:ea typeface="Arial" pitchFamily="34" charset="-122"/>
                <a:cs typeface="Arial" pitchFamily="34" charset="-120"/>
              </a:rPr>
              <a:t>→</a:t>
            </a:r>
            <a:endParaRPr lang="en-US" sz="1300" dirty="0"/>
          </a:p>
        </p:txBody>
      </p:sp>
      <p:sp>
        <p:nvSpPr>
          <p:cNvPr id="8" name="Shape 6"/>
          <p:cNvSpPr/>
          <p:nvPr/>
        </p:nvSpPr>
        <p:spPr>
          <a:xfrm>
            <a:off x="2496312" y="1463040"/>
            <a:ext cx="1783080" cy="960120"/>
          </a:xfrm>
          <a:prstGeom prst="roundRect">
            <a:avLst>
              <a:gd name="adj" fmla="val 7619"/>
            </a:avLst>
          </a:prstGeom>
          <a:solidFill>
            <a:srgbClr val="1C7293"/>
          </a:solidFill>
          <a:ln/>
        </p:spPr>
      </p:sp>
      <p:sp>
        <p:nvSpPr>
          <p:cNvPr id="9" name="Text 7"/>
          <p:cNvSpPr/>
          <p:nvPr/>
        </p:nvSpPr>
        <p:spPr>
          <a:xfrm>
            <a:off x="2587752" y="1508760"/>
            <a:ext cx="457200" cy="274320"/>
          </a:xfrm>
          <a:prstGeom prst="rect">
            <a:avLst/>
          </a:prstGeom>
          <a:noFill/>
          <a:ln/>
        </p:spPr>
        <p:txBody>
          <a:bodyPr wrap="square" rtlCol="0" anchor="ctr"/>
          <a:lstStyle/>
          <a:p>
            <a:pPr indent="0" marL="0">
              <a:buNone/>
            </a:pPr>
            <a:r>
              <a:rPr lang="en-US" sz="1100" b="1" dirty="0">
                <a:solidFill>
                  <a:srgbClr val="CFE0E8"/>
                </a:solidFill>
                <a:latin typeface="Arial" pitchFamily="34" charset="0"/>
                <a:ea typeface="Arial" pitchFamily="34" charset="-122"/>
                <a:cs typeface="Arial" pitchFamily="34" charset="-120"/>
              </a:rPr>
              <a:t>2</a:t>
            </a:r>
            <a:endParaRPr lang="en-US" sz="1100" dirty="0"/>
          </a:p>
        </p:txBody>
      </p:sp>
      <p:sp>
        <p:nvSpPr>
          <p:cNvPr id="10" name="Text 8"/>
          <p:cNvSpPr/>
          <p:nvPr/>
        </p:nvSpPr>
        <p:spPr>
          <a:xfrm>
            <a:off x="2496312" y="1581912"/>
            <a:ext cx="1783080" cy="841248"/>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CI Runs</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Tests/Lint</a:t>
            </a:r>
            <a:endParaRPr lang="en-US" sz="1100" dirty="0"/>
          </a:p>
        </p:txBody>
      </p:sp>
      <p:sp>
        <p:nvSpPr>
          <p:cNvPr id="11" name="Text 9"/>
          <p:cNvSpPr/>
          <p:nvPr/>
        </p:nvSpPr>
        <p:spPr>
          <a:xfrm>
            <a:off x="4279392" y="1463040"/>
            <a:ext cx="182880" cy="960120"/>
          </a:xfrm>
          <a:prstGeom prst="rect">
            <a:avLst/>
          </a:prstGeom>
          <a:noFill/>
          <a:ln/>
        </p:spPr>
        <p:txBody>
          <a:bodyPr wrap="square" rtlCol="0" anchor="ctr"/>
          <a:lstStyle/>
          <a:p>
            <a:pPr algn="ctr" indent="0" marL="0">
              <a:buNone/>
            </a:pPr>
            <a:r>
              <a:rPr lang="en-US" sz="1300" dirty="0">
                <a:solidFill>
                  <a:srgbClr val="5B6B7A"/>
                </a:solidFill>
                <a:latin typeface="Arial" pitchFamily="34" charset="0"/>
                <a:ea typeface="Arial" pitchFamily="34" charset="-122"/>
                <a:cs typeface="Arial" pitchFamily="34" charset="-120"/>
              </a:rPr>
              <a:t>→</a:t>
            </a:r>
            <a:endParaRPr lang="en-US" sz="1300" dirty="0"/>
          </a:p>
        </p:txBody>
      </p:sp>
      <p:sp>
        <p:nvSpPr>
          <p:cNvPr id="12" name="Shape 10"/>
          <p:cNvSpPr/>
          <p:nvPr/>
        </p:nvSpPr>
        <p:spPr>
          <a:xfrm>
            <a:off x="4443984" y="1463040"/>
            <a:ext cx="1783080" cy="960120"/>
          </a:xfrm>
          <a:prstGeom prst="roundRect">
            <a:avLst>
              <a:gd name="adj" fmla="val 7619"/>
            </a:avLst>
          </a:prstGeom>
          <a:solidFill>
            <a:srgbClr val="065A82"/>
          </a:solidFill>
          <a:ln/>
        </p:spPr>
      </p:sp>
      <p:sp>
        <p:nvSpPr>
          <p:cNvPr id="13" name="Text 11"/>
          <p:cNvSpPr/>
          <p:nvPr/>
        </p:nvSpPr>
        <p:spPr>
          <a:xfrm>
            <a:off x="4535424" y="1508760"/>
            <a:ext cx="457200" cy="274320"/>
          </a:xfrm>
          <a:prstGeom prst="rect">
            <a:avLst/>
          </a:prstGeom>
          <a:noFill/>
          <a:ln/>
        </p:spPr>
        <p:txBody>
          <a:bodyPr wrap="square" rtlCol="0" anchor="ctr"/>
          <a:lstStyle/>
          <a:p>
            <a:pPr indent="0" marL="0">
              <a:buNone/>
            </a:pPr>
            <a:r>
              <a:rPr lang="en-US" sz="1100" b="1" dirty="0">
                <a:solidFill>
                  <a:srgbClr val="CFE0E8"/>
                </a:solidFill>
                <a:latin typeface="Arial" pitchFamily="34" charset="0"/>
                <a:ea typeface="Arial" pitchFamily="34" charset="-122"/>
                <a:cs typeface="Arial" pitchFamily="34" charset="-120"/>
              </a:rPr>
              <a:t>3</a:t>
            </a:r>
            <a:endParaRPr lang="en-US" sz="1100" dirty="0"/>
          </a:p>
        </p:txBody>
      </p:sp>
      <p:sp>
        <p:nvSpPr>
          <p:cNvPr id="14" name="Text 12"/>
          <p:cNvSpPr/>
          <p:nvPr/>
        </p:nvSpPr>
        <p:spPr>
          <a:xfrm>
            <a:off x="4443984" y="1581912"/>
            <a:ext cx="1783080" cy="841248"/>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Build</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Docker Images</a:t>
            </a:r>
            <a:endParaRPr lang="en-US" sz="1100" dirty="0"/>
          </a:p>
        </p:txBody>
      </p:sp>
      <p:sp>
        <p:nvSpPr>
          <p:cNvPr id="15" name="Text 13"/>
          <p:cNvSpPr/>
          <p:nvPr/>
        </p:nvSpPr>
        <p:spPr>
          <a:xfrm>
            <a:off x="6227064" y="1463040"/>
            <a:ext cx="182880" cy="960120"/>
          </a:xfrm>
          <a:prstGeom prst="rect">
            <a:avLst/>
          </a:prstGeom>
          <a:noFill/>
          <a:ln/>
        </p:spPr>
        <p:txBody>
          <a:bodyPr wrap="square" rtlCol="0" anchor="ctr"/>
          <a:lstStyle/>
          <a:p>
            <a:pPr algn="ctr" indent="0" marL="0">
              <a:buNone/>
            </a:pPr>
            <a:r>
              <a:rPr lang="en-US" sz="1300" dirty="0">
                <a:solidFill>
                  <a:srgbClr val="5B6B7A"/>
                </a:solidFill>
                <a:latin typeface="Arial" pitchFamily="34" charset="0"/>
                <a:ea typeface="Arial" pitchFamily="34" charset="-122"/>
                <a:cs typeface="Arial" pitchFamily="34" charset="-120"/>
              </a:rPr>
              <a:t>→</a:t>
            </a:r>
            <a:endParaRPr lang="en-US" sz="1300" dirty="0"/>
          </a:p>
        </p:txBody>
      </p:sp>
      <p:sp>
        <p:nvSpPr>
          <p:cNvPr id="16" name="Shape 14"/>
          <p:cNvSpPr/>
          <p:nvPr/>
        </p:nvSpPr>
        <p:spPr>
          <a:xfrm>
            <a:off x="6391656" y="1463040"/>
            <a:ext cx="1783080" cy="960120"/>
          </a:xfrm>
          <a:prstGeom prst="roundRect">
            <a:avLst>
              <a:gd name="adj" fmla="val 7619"/>
            </a:avLst>
          </a:prstGeom>
          <a:solidFill>
            <a:srgbClr val="1C7293"/>
          </a:solidFill>
          <a:ln/>
        </p:spPr>
      </p:sp>
      <p:sp>
        <p:nvSpPr>
          <p:cNvPr id="17" name="Text 15"/>
          <p:cNvSpPr/>
          <p:nvPr/>
        </p:nvSpPr>
        <p:spPr>
          <a:xfrm>
            <a:off x="6483096" y="1508760"/>
            <a:ext cx="457200" cy="274320"/>
          </a:xfrm>
          <a:prstGeom prst="rect">
            <a:avLst/>
          </a:prstGeom>
          <a:noFill/>
          <a:ln/>
        </p:spPr>
        <p:txBody>
          <a:bodyPr wrap="square" rtlCol="0" anchor="ctr"/>
          <a:lstStyle/>
          <a:p>
            <a:pPr indent="0" marL="0">
              <a:buNone/>
            </a:pPr>
            <a:r>
              <a:rPr lang="en-US" sz="1100" b="1" dirty="0">
                <a:solidFill>
                  <a:srgbClr val="CFE0E8"/>
                </a:solidFill>
                <a:latin typeface="Arial" pitchFamily="34" charset="0"/>
                <a:ea typeface="Arial" pitchFamily="34" charset="-122"/>
                <a:cs typeface="Arial" pitchFamily="34" charset="-120"/>
              </a:rPr>
              <a:t>4</a:t>
            </a:r>
            <a:endParaRPr lang="en-US" sz="1100" dirty="0"/>
          </a:p>
        </p:txBody>
      </p:sp>
      <p:sp>
        <p:nvSpPr>
          <p:cNvPr id="18" name="Text 16"/>
          <p:cNvSpPr/>
          <p:nvPr/>
        </p:nvSpPr>
        <p:spPr>
          <a:xfrm>
            <a:off x="6391656" y="1581912"/>
            <a:ext cx="1783080" cy="841248"/>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Push to</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DockerHub</a:t>
            </a:r>
            <a:endParaRPr lang="en-US" sz="1100" dirty="0"/>
          </a:p>
        </p:txBody>
      </p:sp>
      <p:sp>
        <p:nvSpPr>
          <p:cNvPr id="19" name="Text 17"/>
          <p:cNvSpPr/>
          <p:nvPr/>
        </p:nvSpPr>
        <p:spPr>
          <a:xfrm>
            <a:off x="8174736" y="1463040"/>
            <a:ext cx="182880" cy="960120"/>
          </a:xfrm>
          <a:prstGeom prst="rect">
            <a:avLst/>
          </a:prstGeom>
          <a:noFill/>
          <a:ln/>
        </p:spPr>
        <p:txBody>
          <a:bodyPr wrap="square" rtlCol="0" anchor="ctr"/>
          <a:lstStyle/>
          <a:p>
            <a:pPr algn="ctr" indent="0" marL="0">
              <a:buNone/>
            </a:pPr>
            <a:r>
              <a:rPr lang="en-US" sz="1300" dirty="0">
                <a:solidFill>
                  <a:srgbClr val="5B6B7A"/>
                </a:solidFill>
                <a:latin typeface="Arial" pitchFamily="34" charset="0"/>
                <a:ea typeface="Arial" pitchFamily="34" charset="-122"/>
                <a:cs typeface="Arial" pitchFamily="34" charset="-120"/>
              </a:rPr>
              <a:t>→</a:t>
            </a:r>
            <a:endParaRPr lang="en-US" sz="1300" dirty="0"/>
          </a:p>
        </p:txBody>
      </p:sp>
      <p:sp>
        <p:nvSpPr>
          <p:cNvPr id="20" name="Shape 18"/>
          <p:cNvSpPr/>
          <p:nvPr/>
        </p:nvSpPr>
        <p:spPr>
          <a:xfrm>
            <a:off x="8339328" y="1463040"/>
            <a:ext cx="1783080" cy="960120"/>
          </a:xfrm>
          <a:prstGeom prst="roundRect">
            <a:avLst>
              <a:gd name="adj" fmla="val 7619"/>
            </a:avLst>
          </a:prstGeom>
          <a:solidFill>
            <a:srgbClr val="065A82"/>
          </a:solidFill>
          <a:ln/>
        </p:spPr>
      </p:sp>
      <p:sp>
        <p:nvSpPr>
          <p:cNvPr id="21" name="Text 19"/>
          <p:cNvSpPr/>
          <p:nvPr/>
        </p:nvSpPr>
        <p:spPr>
          <a:xfrm>
            <a:off x="8430768" y="1508760"/>
            <a:ext cx="457200" cy="274320"/>
          </a:xfrm>
          <a:prstGeom prst="rect">
            <a:avLst/>
          </a:prstGeom>
          <a:noFill/>
          <a:ln/>
        </p:spPr>
        <p:txBody>
          <a:bodyPr wrap="square" rtlCol="0" anchor="ctr"/>
          <a:lstStyle/>
          <a:p>
            <a:pPr indent="0" marL="0">
              <a:buNone/>
            </a:pPr>
            <a:r>
              <a:rPr lang="en-US" sz="1100" b="1" dirty="0">
                <a:solidFill>
                  <a:srgbClr val="CFE0E8"/>
                </a:solidFill>
                <a:latin typeface="Arial" pitchFamily="34" charset="0"/>
                <a:ea typeface="Arial" pitchFamily="34" charset="-122"/>
                <a:cs typeface="Arial" pitchFamily="34" charset="-120"/>
              </a:rPr>
              <a:t>5</a:t>
            </a:r>
            <a:endParaRPr lang="en-US" sz="1100" dirty="0"/>
          </a:p>
        </p:txBody>
      </p:sp>
      <p:sp>
        <p:nvSpPr>
          <p:cNvPr id="22" name="Text 20"/>
          <p:cNvSpPr/>
          <p:nvPr/>
        </p:nvSpPr>
        <p:spPr>
          <a:xfrm>
            <a:off x="8339328" y="1581912"/>
            <a:ext cx="1783080" cy="841248"/>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SSH into</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EC2</a:t>
            </a:r>
            <a:endParaRPr lang="en-US" sz="1100" dirty="0"/>
          </a:p>
        </p:txBody>
      </p:sp>
      <p:sp>
        <p:nvSpPr>
          <p:cNvPr id="23" name="Text 21"/>
          <p:cNvSpPr/>
          <p:nvPr/>
        </p:nvSpPr>
        <p:spPr>
          <a:xfrm>
            <a:off x="10122408" y="1463040"/>
            <a:ext cx="182880" cy="960120"/>
          </a:xfrm>
          <a:prstGeom prst="rect">
            <a:avLst/>
          </a:prstGeom>
          <a:noFill/>
          <a:ln/>
        </p:spPr>
        <p:txBody>
          <a:bodyPr wrap="square" rtlCol="0" anchor="ctr"/>
          <a:lstStyle/>
          <a:p>
            <a:pPr algn="ctr" indent="0" marL="0">
              <a:buNone/>
            </a:pPr>
            <a:r>
              <a:rPr lang="en-US" sz="1300" dirty="0">
                <a:solidFill>
                  <a:srgbClr val="5B6B7A"/>
                </a:solidFill>
                <a:latin typeface="Arial" pitchFamily="34" charset="0"/>
                <a:ea typeface="Arial" pitchFamily="34" charset="-122"/>
                <a:cs typeface="Arial" pitchFamily="34" charset="-120"/>
              </a:rPr>
              <a:t>→</a:t>
            </a:r>
            <a:endParaRPr lang="en-US" sz="1300" dirty="0"/>
          </a:p>
        </p:txBody>
      </p:sp>
      <p:sp>
        <p:nvSpPr>
          <p:cNvPr id="24" name="Shape 22"/>
          <p:cNvSpPr/>
          <p:nvPr/>
        </p:nvSpPr>
        <p:spPr>
          <a:xfrm>
            <a:off x="10287000" y="1463040"/>
            <a:ext cx="1783080" cy="960120"/>
          </a:xfrm>
          <a:prstGeom prst="roundRect">
            <a:avLst>
              <a:gd name="adj" fmla="val 7619"/>
            </a:avLst>
          </a:prstGeom>
          <a:solidFill>
            <a:srgbClr val="1C7293"/>
          </a:solidFill>
          <a:ln/>
        </p:spPr>
      </p:sp>
      <p:sp>
        <p:nvSpPr>
          <p:cNvPr id="25" name="Text 23"/>
          <p:cNvSpPr/>
          <p:nvPr/>
        </p:nvSpPr>
        <p:spPr>
          <a:xfrm>
            <a:off x="10378440" y="1508760"/>
            <a:ext cx="457200" cy="274320"/>
          </a:xfrm>
          <a:prstGeom prst="rect">
            <a:avLst/>
          </a:prstGeom>
          <a:noFill/>
          <a:ln/>
        </p:spPr>
        <p:txBody>
          <a:bodyPr wrap="square" rtlCol="0" anchor="ctr"/>
          <a:lstStyle/>
          <a:p>
            <a:pPr indent="0" marL="0">
              <a:buNone/>
            </a:pPr>
            <a:r>
              <a:rPr lang="en-US" sz="1100" b="1" dirty="0">
                <a:solidFill>
                  <a:srgbClr val="CFE0E8"/>
                </a:solidFill>
                <a:latin typeface="Arial" pitchFamily="34" charset="0"/>
                <a:ea typeface="Arial" pitchFamily="34" charset="-122"/>
                <a:cs typeface="Arial" pitchFamily="34" charset="-120"/>
              </a:rPr>
              <a:t>6</a:t>
            </a:r>
            <a:endParaRPr lang="en-US" sz="1100" dirty="0"/>
          </a:p>
        </p:txBody>
      </p:sp>
      <p:sp>
        <p:nvSpPr>
          <p:cNvPr id="26" name="Text 24"/>
          <p:cNvSpPr/>
          <p:nvPr/>
        </p:nvSpPr>
        <p:spPr>
          <a:xfrm>
            <a:off x="10287000" y="1581912"/>
            <a:ext cx="1783080" cy="841248"/>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Pull &amp; Deploy</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Latest Version</a:t>
            </a:r>
            <a:endParaRPr lang="en-US" sz="1100" dirty="0"/>
          </a:p>
        </p:txBody>
      </p:sp>
      <p:sp>
        <p:nvSpPr>
          <p:cNvPr id="27" name="Shape 25"/>
          <p:cNvSpPr/>
          <p:nvPr/>
        </p:nvSpPr>
        <p:spPr>
          <a:xfrm>
            <a:off x="548640" y="2651760"/>
            <a:ext cx="5349240" cy="3566160"/>
          </a:xfrm>
          <a:prstGeom prst="roundRect">
            <a:avLst>
              <a:gd name="adj" fmla="val 2564"/>
            </a:avLst>
          </a:prstGeom>
          <a:solidFill>
            <a:srgbClr val="17203A"/>
          </a:solidFill>
          <a:ln/>
        </p:spPr>
      </p:sp>
      <p:sp>
        <p:nvSpPr>
          <p:cNvPr id="28" name="Text 26"/>
          <p:cNvSpPr/>
          <p:nvPr/>
        </p:nvSpPr>
        <p:spPr>
          <a:xfrm>
            <a:off x="777240" y="2834640"/>
            <a:ext cx="4846320" cy="274320"/>
          </a:xfrm>
          <a:prstGeom prst="rect">
            <a:avLst/>
          </a:prstGeom>
          <a:noFill/>
          <a:ln/>
        </p:spPr>
        <p:txBody>
          <a:bodyPr wrap="square" rtlCol="0" anchor="ctr"/>
          <a:lstStyle/>
          <a:p>
            <a:pPr indent="0" marL="0">
              <a:buNone/>
            </a:pPr>
            <a:r>
              <a:rPr lang="en-US" sz="1050" b="1" spc="50" kern="0" dirty="0">
                <a:solidFill>
                  <a:srgbClr val="FFB100"/>
                </a:solidFill>
                <a:latin typeface="Calibri" pitchFamily="34" charset="0"/>
                <a:ea typeface="Calibri" pitchFamily="34" charset="-122"/>
                <a:cs typeface="Calibri" pitchFamily="34" charset="-120"/>
              </a:rPr>
              <a:t>WORKFLOW YAML (SIMPLIFIED)</a:t>
            </a:r>
            <a:endParaRPr lang="en-US" sz="1050" dirty="0"/>
          </a:p>
        </p:txBody>
      </p:sp>
      <p:sp>
        <p:nvSpPr>
          <p:cNvPr id="29" name="Shape 27"/>
          <p:cNvSpPr/>
          <p:nvPr/>
        </p:nvSpPr>
        <p:spPr>
          <a:xfrm>
            <a:off x="777240" y="3127248"/>
            <a:ext cx="4892040" cy="2697480"/>
          </a:xfrm>
          <a:prstGeom prst="roundRect">
            <a:avLst>
              <a:gd name="adj" fmla="val 2034"/>
            </a:avLst>
          </a:prstGeom>
          <a:solidFill>
            <a:srgbClr val="17203A"/>
          </a:solidFill>
          <a:ln/>
        </p:spPr>
      </p:sp>
      <p:sp>
        <p:nvSpPr>
          <p:cNvPr id="30" name="Text 28"/>
          <p:cNvSpPr/>
          <p:nvPr/>
        </p:nvSpPr>
        <p:spPr>
          <a:xfrm>
            <a:off x="960120" y="3200400"/>
            <a:ext cx="4526280" cy="2551176"/>
          </a:xfrm>
          <a:prstGeom prst="rect">
            <a:avLst/>
          </a:prstGeom>
          <a:noFill/>
          <a:ln/>
        </p:spPr>
        <p:txBody>
          <a:bodyPr wrap="square" rtlCol="0" anchor="ctr"/>
          <a:lstStyle/>
          <a:p>
            <a:pPr indent="0" marL="0">
              <a:lnSpc>
                <a:spcPct val="125000"/>
              </a:lnSpc>
              <a:buNone/>
            </a:pPr>
            <a:r>
              <a:rPr lang="en-US" sz="970" dirty="0">
                <a:solidFill>
                  <a:srgbClr val="9FE6C8"/>
                </a:solidFill>
                <a:latin typeface="Courier New" pitchFamily="34" charset="0"/>
                <a:ea typeface="Courier New" pitchFamily="34" charset="-122"/>
                <a:cs typeface="Courier New" pitchFamily="34" charset="-120"/>
              </a:rPr>
              <a:t>on:</a:t>
            </a:r>
            <a:endParaRPr lang="en-US" sz="970" dirty="0"/>
          </a:p>
          <a:p>
            <a:pPr indent="0" marL="0">
              <a:lnSpc>
                <a:spcPct val="125000"/>
              </a:lnSpc>
              <a:buNone/>
            </a:pPr>
            <a:r>
              <a:rPr lang="en-US" sz="970" dirty="0">
                <a:solidFill>
                  <a:srgbClr val="9FE6C8"/>
                </a:solidFill>
                <a:latin typeface="Courier New" pitchFamily="34" charset="0"/>
                <a:ea typeface="Courier New" pitchFamily="34" charset="-122"/>
                <a:cs typeface="Courier New" pitchFamily="34" charset="-120"/>
              </a:rPr>
              <a:t>  push:</a:t>
            </a:r>
            <a:endParaRPr lang="en-US" sz="970" dirty="0"/>
          </a:p>
          <a:p>
            <a:pPr indent="0" marL="0">
              <a:lnSpc>
                <a:spcPct val="125000"/>
              </a:lnSpc>
              <a:buNone/>
            </a:pPr>
            <a:r>
              <a:rPr lang="en-US" sz="970" dirty="0">
                <a:solidFill>
                  <a:srgbClr val="9FE6C8"/>
                </a:solidFill>
                <a:latin typeface="Courier New" pitchFamily="34" charset="0"/>
                <a:ea typeface="Courier New" pitchFamily="34" charset="-122"/>
                <a:cs typeface="Courier New" pitchFamily="34" charset="-120"/>
              </a:rPr>
              <a:t>    branches: [main]</a:t>
            </a:r>
            <a:endParaRPr lang="en-US" sz="970" dirty="0"/>
          </a:p>
          <a:p>
            <a:pPr indent="0" marL="0">
              <a:lnSpc>
                <a:spcPct val="125000"/>
              </a:lnSpc>
              <a:buNone/>
            </a:pPr>
            <a:r>
              <a:rPr lang="en-US" sz="970" dirty="0">
                <a:solidFill>
                  <a:srgbClr val="9FE6C8"/>
                </a:solidFill>
                <a:latin typeface="Courier New" pitchFamily="34" charset="0"/>
                <a:ea typeface="Courier New" pitchFamily="34" charset="-122"/>
                <a:cs typeface="Courier New" pitchFamily="34" charset="-120"/>
              </a:rPr>
              <a:t>jobs:</a:t>
            </a:r>
            <a:endParaRPr lang="en-US" sz="970" dirty="0"/>
          </a:p>
          <a:p>
            <a:pPr indent="0" marL="0">
              <a:lnSpc>
                <a:spcPct val="125000"/>
              </a:lnSpc>
              <a:buNone/>
            </a:pPr>
            <a:r>
              <a:rPr lang="en-US" sz="970" dirty="0">
                <a:solidFill>
                  <a:srgbClr val="9FE6C8"/>
                </a:solidFill>
                <a:latin typeface="Courier New" pitchFamily="34" charset="0"/>
                <a:ea typeface="Courier New" pitchFamily="34" charset="-122"/>
                <a:cs typeface="Courier New" pitchFamily="34" charset="-120"/>
              </a:rPr>
              <a:t>  deploy:</a:t>
            </a:r>
            <a:endParaRPr lang="en-US" sz="970" dirty="0"/>
          </a:p>
          <a:p>
            <a:pPr indent="0" marL="0">
              <a:lnSpc>
                <a:spcPct val="125000"/>
              </a:lnSpc>
              <a:buNone/>
            </a:pPr>
            <a:r>
              <a:rPr lang="en-US" sz="970" dirty="0">
                <a:solidFill>
                  <a:srgbClr val="9FE6C8"/>
                </a:solidFill>
                <a:latin typeface="Courier New" pitchFamily="34" charset="0"/>
                <a:ea typeface="Courier New" pitchFamily="34" charset="-122"/>
                <a:cs typeface="Courier New" pitchFamily="34" charset="-120"/>
              </a:rPr>
              <a:t>    steps:</a:t>
            </a:r>
            <a:endParaRPr lang="en-US" sz="970" dirty="0"/>
          </a:p>
          <a:p>
            <a:pPr indent="0" marL="0">
              <a:lnSpc>
                <a:spcPct val="125000"/>
              </a:lnSpc>
              <a:buNone/>
            </a:pPr>
            <a:r>
              <a:rPr lang="en-US" sz="970" dirty="0">
                <a:solidFill>
                  <a:srgbClr val="9FE6C8"/>
                </a:solidFill>
                <a:latin typeface="Courier New" pitchFamily="34" charset="0"/>
                <a:ea typeface="Courier New" pitchFamily="34" charset="-122"/>
                <a:cs typeface="Courier New" pitchFamily="34" charset="-120"/>
              </a:rPr>
              <a:t>      - checkout</a:t>
            </a:r>
            <a:endParaRPr lang="en-US" sz="970" dirty="0"/>
          </a:p>
          <a:p>
            <a:pPr indent="0" marL="0">
              <a:lnSpc>
                <a:spcPct val="125000"/>
              </a:lnSpc>
              <a:buNone/>
            </a:pPr>
            <a:r>
              <a:rPr lang="en-US" sz="970" dirty="0">
                <a:solidFill>
                  <a:srgbClr val="9FE6C8"/>
                </a:solidFill>
                <a:latin typeface="Courier New" pitchFamily="34" charset="0"/>
                <a:ea typeface="Courier New" pitchFamily="34" charset="-122"/>
                <a:cs typeface="Courier New" pitchFamily="34" charset="-120"/>
              </a:rPr>
              <a:t>      - docker build -t</a:t>
            </a:r>
            <a:endParaRPr lang="en-US" sz="970" dirty="0"/>
          </a:p>
          <a:p>
            <a:pPr indent="0" marL="0">
              <a:lnSpc>
                <a:spcPct val="125000"/>
              </a:lnSpc>
              <a:buNone/>
            </a:pPr>
            <a:r>
              <a:rPr lang="en-US" sz="970" dirty="0">
                <a:solidFill>
                  <a:srgbClr val="9FE6C8"/>
                </a:solidFill>
                <a:latin typeface="Courier New" pitchFamily="34" charset="0"/>
                <a:ea typeface="Courier New" pitchFamily="34" charset="-122"/>
                <a:cs typeface="Courier New" pitchFamily="34" charset="-120"/>
              </a:rPr>
              <a:t>        user/codesach:latest .</a:t>
            </a:r>
            <a:endParaRPr lang="en-US" sz="970" dirty="0"/>
          </a:p>
          <a:p>
            <a:pPr indent="0" marL="0">
              <a:lnSpc>
                <a:spcPct val="125000"/>
              </a:lnSpc>
              <a:buNone/>
            </a:pPr>
            <a:r>
              <a:rPr lang="en-US" sz="970" dirty="0">
                <a:solidFill>
                  <a:srgbClr val="9FE6C8"/>
                </a:solidFill>
                <a:latin typeface="Courier New" pitchFamily="34" charset="0"/>
                <a:ea typeface="Courier New" pitchFamily="34" charset="-122"/>
                <a:cs typeface="Courier New" pitchFamily="34" charset="-120"/>
              </a:rPr>
              <a:t>      - docker push</a:t>
            </a:r>
            <a:endParaRPr lang="en-US" sz="970" dirty="0"/>
          </a:p>
          <a:p>
            <a:pPr indent="0" marL="0">
              <a:lnSpc>
                <a:spcPct val="125000"/>
              </a:lnSpc>
              <a:buNone/>
            </a:pPr>
            <a:r>
              <a:rPr lang="en-US" sz="970" dirty="0">
                <a:solidFill>
                  <a:srgbClr val="9FE6C8"/>
                </a:solidFill>
                <a:latin typeface="Courier New" pitchFamily="34" charset="0"/>
                <a:ea typeface="Courier New" pitchFamily="34" charset="-122"/>
                <a:cs typeface="Courier New" pitchFamily="34" charset="-120"/>
              </a:rPr>
              <a:t>        user/codesach:latest</a:t>
            </a:r>
            <a:endParaRPr lang="en-US" sz="970" dirty="0"/>
          </a:p>
          <a:p>
            <a:pPr indent="0" marL="0">
              <a:lnSpc>
                <a:spcPct val="125000"/>
              </a:lnSpc>
              <a:buNone/>
            </a:pPr>
            <a:r>
              <a:rPr lang="en-US" sz="970" dirty="0">
                <a:solidFill>
                  <a:srgbClr val="9FE6C8"/>
                </a:solidFill>
                <a:latin typeface="Courier New" pitchFamily="34" charset="0"/>
                <a:ea typeface="Courier New" pitchFamily="34" charset="-122"/>
                <a:cs typeface="Courier New" pitchFamily="34" charset="-120"/>
              </a:rPr>
              <a:t>      - ssh ec2-user@$HOST</a:t>
            </a:r>
            <a:endParaRPr lang="en-US" sz="970" dirty="0"/>
          </a:p>
          <a:p>
            <a:pPr indent="0" marL="0">
              <a:lnSpc>
                <a:spcPct val="125000"/>
              </a:lnSpc>
              <a:buNone/>
            </a:pPr>
            <a:r>
              <a:rPr lang="en-US" sz="970" dirty="0">
                <a:solidFill>
                  <a:srgbClr val="9FE6C8"/>
                </a:solidFill>
                <a:latin typeface="Courier New" pitchFamily="34" charset="0"/>
                <a:ea typeface="Courier New" pitchFamily="34" charset="-122"/>
                <a:cs typeface="Courier New" pitchFamily="34" charset="-120"/>
              </a:rPr>
              <a:t>        'docker compose pull &amp;&amp;</a:t>
            </a:r>
            <a:endParaRPr lang="en-US" sz="970" dirty="0"/>
          </a:p>
          <a:p>
            <a:pPr indent="0" marL="0">
              <a:lnSpc>
                <a:spcPct val="125000"/>
              </a:lnSpc>
              <a:buNone/>
            </a:pPr>
            <a:r>
              <a:rPr lang="en-US" sz="970" dirty="0">
                <a:solidFill>
                  <a:srgbClr val="9FE6C8"/>
                </a:solidFill>
                <a:latin typeface="Courier New" pitchFamily="34" charset="0"/>
                <a:ea typeface="Courier New" pitchFamily="34" charset="-122"/>
                <a:cs typeface="Courier New" pitchFamily="34" charset="-120"/>
              </a:rPr>
              <a:t>         docker compose up -d'</a:t>
            </a:r>
            <a:endParaRPr lang="en-US" sz="970" dirty="0"/>
          </a:p>
        </p:txBody>
      </p:sp>
      <p:sp>
        <p:nvSpPr>
          <p:cNvPr id="31" name="Shape 29"/>
          <p:cNvSpPr/>
          <p:nvPr/>
        </p:nvSpPr>
        <p:spPr>
          <a:xfrm>
            <a:off x="6080760" y="2651760"/>
            <a:ext cx="5532120" cy="3566160"/>
          </a:xfrm>
          <a:prstGeom prst="roundRect">
            <a:avLst>
              <a:gd name="adj" fmla="val 2564"/>
            </a:avLst>
          </a:prstGeom>
          <a:solidFill>
            <a:srgbClr val="FFFFFF"/>
          </a:solidFill>
          <a:ln w="12700">
            <a:solidFill>
              <a:srgbClr val="D9E3E8"/>
            </a:solidFill>
            <a:prstDash val="solid"/>
          </a:ln>
        </p:spPr>
      </p:sp>
      <p:sp>
        <p:nvSpPr>
          <p:cNvPr id="32" name="Text 30"/>
          <p:cNvSpPr/>
          <p:nvPr/>
        </p:nvSpPr>
        <p:spPr>
          <a:xfrm>
            <a:off x="6309360" y="2816352"/>
            <a:ext cx="5120640" cy="274320"/>
          </a:xfrm>
          <a:prstGeom prst="rect">
            <a:avLst/>
          </a:prstGeom>
          <a:noFill/>
          <a:ln/>
        </p:spPr>
        <p:txBody>
          <a:bodyPr wrap="square" rtlCol="0" anchor="ctr"/>
          <a:lstStyle/>
          <a:p>
            <a:pPr indent="0" marL="0">
              <a:buNone/>
            </a:pPr>
            <a:r>
              <a:rPr lang="en-US" sz="1100" b="1" spc="50" kern="0" dirty="0">
                <a:solidFill>
                  <a:srgbClr val="17203A"/>
                </a:solidFill>
                <a:latin typeface="Calibri" pitchFamily="34" charset="0"/>
                <a:ea typeface="Calibri" pitchFamily="34" charset="-122"/>
                <a:cs typeface="Calibri" pitchFamily="34" charset="-120"/>
              </a:rPr>
              <a:t>SECRETS &amp; SAFEGUARDS</a:t>
            </a:r>
            <a:endParaRPr lang="en-US" sz="1100" dirty="0"/>
          </a:p>
        </p:txBody>
      </p:sp>
      <p:sp>
        <p:nvSpPr>
          <p:cNvPr id="33" name="Text 31"/>
          <p:cNvSpPr/>
          <p:nvPr/>
        </p:nvSpPr>
        <p:spPr>
          <a:xfrm>
            <a:off x="6309360" y="3127248"/>
            <a:ext cx="5120640" cy="274320"/>
          </a:xfrm>
          <a:prstGeom prst="rect">
            <a:avLst/>
          </a:prstGeom>
          <a:noFill/>
          <a:ln/>
        </p:spPr>
        <p:txBody>
          <a:bodyPr wrap="square" rtlCol="0" anchor="ctr"/>
          <a:lstStyle/>
          <a:p>
            <a:pPr indent="0" marL="0">
              <a:buNone/>
            </a:pPr>
            <a:r>
              <a:rPr lang="en-US" sz="1200" b="1" dirty="0">
                <a:solidFill>
                  <a:srgbClr val="065A82"/>
                </a:solidFill>
                <a:latin typeface="Arial" pitchFamily="34" charset="0"/>
                <a:ea typeface="Arial" pitchFamily="34" charset="-122"/>
                <a:cs typeface="Arial" pitchFamily="34" charset="-120"/>
              </a:rPr>
              <a:t>GitHub Secrets</a:t>
            </a:r>
            <a:endParaRPr lang="en-US" sz="1200" dirty="0"/>
          </a:p>
        </p:txBody>
      </p:sp>
      <p:sp>
        <p:nvSpPr>
          <p:cNvPr id="34" name="Text 32"/>
          <p:cNvSpPr/>
          <p:nvPr/>
        </p:nvSpPr>
        <p:spPr>
          <a:xfrm>
            <a:off x="6309360" y="3401568"/>
            <a:ext cx="5120640" cy="457200"/>
          </a:xfrm>
          <a:prstGeom prst="rect">
            <a:avLst/>
          </a:prstGeom>
          <a:noFill/>
          <a:ln/>
        </p:spPr>
        <p:txBody>
          <a:bodyPr wrap="square" rtlCol="0" anchor="ctr"/>
          <a:lstStyle/>
          <a:p>
            <a:pPr indent="0" marL="0">
              <a:lnSpc>
                <a:spcPct val="115000"/>
              </a:lnSpc>
              <a:buNone/>
            </a:pPr>
            <a:r>
              <a:rPr lang="en-US" sz="1080" dirty="0">
                <a:solidFill>
                  <a:srgbClr val="16232E"/>
                </a:solidFill>
                <a:latin typeface="Calibri" pitchFamily="34" charset="0"/>
                <a:ea typeface="Calibri" pitchFamily="34" charset="-122"/>
                <a:cs typeface="Calibri" pitchFamily="34" charset="-120"/>
              </a:rPr>
              <a:t>stores the EC2 SSH key (PEM) and DockerHub access token — never committed to source</a:t>
            </a:r>
            <a:endParaRPr lang="en-US" sz="1080" dirty="0"/>
          </a:p>
        </p:txBody>
      </p:sp>
      <p:sp>
        <p:nvSpPr>
          <p:cNvPr id="35" name="Text 33"/>
          <p:cNvSpPr/>
          <p:nvPr/>
        </p:nvSpPr>
        <p:spPr>
          <a:xfrm>
            <a:off x="6309360" y="3813048"/>
            <a:ext cx="5120640" cy="274320"/>
          </a:xfrm>
          <a:prstGeom prst="rect">
            <a:avLst/>
          </a:prstGeom>
          <a:noFill/>
          <a:ln/>
        </p:spPr>
        <p:txBody>
          <a:bodyPr wrap="square" rtlCol="0" anchor="ctr"/>
          <a:lstStyle/>
          <a:p>
            <a:pPr indent="0" marL="0">
              <a:buNone/>
            </a:pPr>
            <a:r>
              <a:rPr lang="en-US" sz="1200" b="1" dirty="0">
                <a:solidFill>
                  <a:srgbClr val="065A82"/>
                </a:solidFill>
                <a:latin typeface="Arial" pitchFamily="34" charset="0"/>
                <a:ea typeface="Arial" pitchFamily="34" charset="-122"/>
                <a:cs typeface="Arial" pitchFamily="34" charset="-120"/>
              </a:rPr>
              <a:t>DockerHub</a:t>
            </a:r>
            <a:endParaRPr lang="en-US" sz="1200" dirty="0"/>
          </a:p>
        </p:txBody>
      </p:sp>
      <p:sp>
        <p:nvSpPr>
          <p:cNvPr id="36" name="Text 34"/>
          <p:cNvSpPr/>
          <p:nvPr/>
        </p:nvSpPr>
        <p:spPr>
          <a:xfrm>
            <a:off x="6309360" y="4087368"/>
            <a:ext cx="5120640" cy="457200"/>
          </a:xfrm>
          <a:prstGeom prst="rect">
            <a:avLst/>
          </a:prstGeom>
          <a:noFill/>
          <a:ln/>
        </p:spPr>
        <p:txBody>
          <a:bodyPr wrap="square" rtlCol="0" anchor="ctr"/>
          <a:lstStyle/>
          <a:p>
            <a:pPr indent="0" marL="0">
              <a:lnSpc>
                <a:spcPct val="115000"/>
              </a:lnSpc>
              <a:buNone/>
            </a:pPr>
            <a:r>
              <a:rPr lang="en-US" sz="1080" dirty="0">
                <a:solidFill>
                  <a:srgbClr val="16232E"/>
                </a:solidFill>
                <a:latin typeface="Calibri" pitchFamily="34" charset="0"/>
                <a:ea typeface="Calibri" pitchFamily="34" charset="-122"/>
                <a:cs typeface="Calibri" pitchFamily="34" charset="-120"/>
              </a:rPr>
              <a:t>acts as the image registry; the server pulls prebuilt images instead of copying raw source</a:t>
            </a:r>
            <a:endParaRPr lang="en-US" sz="1080" dirty="0"/>
          </a:p>
        </p:txBody>
      </p:sp>
      <p:sp>
        <p:nvSpPr>
          <p:cNvPr id="37" name="Text 35"/>
          <p:cNvSpPr/>
          <p:nvPr/>
        </p:nvSpPr>
        <p:spPr>
          <a:xfrm>
            <a:off x="6309360" y="4498848"/>
            <a:ext cx="5120640" cy="274320"/>
          </a:xfrm>
          <a:prstGeom prst="rect">
            <a:avLst/>
          </a:prstGeom>
          <a:noFill/>
          <a:ln/>
        </p:spPr>
        <p:txBody>
          <a:bodyPr wrap="square" rtlCol="0" anchor="ctr"/>
          <a:lstStyle/>
          <a:p>
            <a:pPr indent="0" marL="0">
              <a:buNone/>
            </a:pPr>
            <a:r>
              <a:rPr lang="en-US" sz="1200" b="1" dirty="0">
                <a:solidFill>
                  <a:srgbClr val="065A82"/>
                </a:solidFill>
                <a:latin typeface="Arial" pitchFamily="34" charset="0"/>
                <a:ea typeface="Arial" pitchFamily="34" charset="-122"/>
                <a:cs typeface="Arial" pitchFamily="34" charset="-120"/>
              </a:rPr>
              <a:t>Rolling deploy</a:t>
            </a:r>
            <a:endParaRPr lang="en-US" sz="1200" dirty="0"/>
          </a:p>
        </p:txBody>
      </p:sp>
      <p:sp>
        <p:nvSpPr>
          <p:cNvPr id="38" name="Text 36"/>
          <p:cNvSpPr/>
          <p:nvPr/>
        </p:nvSpPr>
        <p:spPr>
          <a:xfrm>
            <a:off x="6309360" y="4773168"/>
            <a:ext cx="5120640" cy="457200"/>
          </a:xfrm>
          <a:prstGeom prst="rect">
            <a:avLst/>
          </a:prstGeom>
          <a:noFill/>
          <a:ln/>
        </p:spPr>
        <p:txBody>
          <a:bodyPr wrap="square" rtlCol="0" anchor="ctr"/>
          <a:lstStyle/>
          <a:p>
            <a:pPr indent="0" marL="0">
              <a:lnSpc>
                <a:spcPct val="115000"/>
              </a:lnSpc>
              <a:buNone/>
            </a:pPr>
            <a:r>
              <a:rPr lang="en-US" sz="1080" dirty="0">
                <a:solidFill>
                  <a:srgbClr val="16232E"/>
                </a:solidFill>
                <a:latin typeface="Calibri" pitchFamily="34" charset="0"/>
                <a:ea typeface="Calibri" pitchFamily="34" charset="-122"/>
                <a:cs typeface="Calibri" pitchFamily="34" charset="-120"/>
              </a:rPr>
              <a:t>SSH step replaces the running container with the new image, minimal downtime</a:t>
            </a:r>
            <a:endParaRPr lang="en-US" sz="1080" dirty="0"/>
          </a:p>
        </p:txBody>
      </p:sp>
      <p:sp>
        <p:nvSpPr>
          <p:cNvPr id="39" name="Text 37"/>
          <p:cNvSpPr/>
          <p:nvPr/>
        </p:nvSpPr>
        <p:spPr>
          <a:xfrm>
            <a:off x="6309360" y="5184648"/>
            <a:ext cx="5120640" cy="274320"/>
          </a:xfrm>
          <a:prstGeom prst="rect">
            <a:avLst/>
          </a:prstGeom>
          <a:noFill/>
          <a:ln/>
        </p:spPr>
        <p:txBody>
          <a:bodyPr wrap="square" rtlCol="0" anchor="ctr"/>
          <a:lstStyle/>
          <a:p>
            <a:pPr indent="0" marL="0">
              <a:buNone/>
            </a:pPr>
            <a:r>
              <a:rPr lang="en-US" sz="1200" b="1" dirty="0">
                <a:solidFill>
                  <a:srgbClr val="065A82"/>
                </a:solidFill>
                <a:latin typeface="Arial" pitchFamily="34" charset="0"/>
                <a:ea typeface="Arial" pitchFamily="34" charset="-122"/>
                <a:cs typeface="Arial" pitchFamily="34" charset="-120"/>
              </a:rPr>
              <a:t>Typical deploy time</a:t>
            </a:r>
            <a:endParaRPr lang="en-US" sz="1200" dirty="0"/>
          </a:p>
        </p:txBody>
      </p:sp>
      <p:sp>
        <p:nvSpPr>
          <p:cNvPr id="40" name="Text 38"/>
          <p:cNvSpPr/>
          <p:nvPr/>
        </p:nvSpPr>
        <p:spPr>
          <a:xfrm>
            <a:off x="6309360" y="5458968"/>
            <a:ext cx="5120640" cy="457200"/>
          </a:xfrm>
          <a:prstGeom prst="rect">
            <a:avLst/>
          </a:prstGeom>
          <a:noFill/>
          <a:ln/>
        </p:spPr>
        <p:txBody>
          <a:bodyPr wrap="square" rtlCol="0" anchor="ctr"/>
          <a:lstStyle/>
          <a:p>
            <a:pPr indent="0" marL="0">
              <a:lnSpc>
                <a:spcPct val="115000"/>
              </a:lnSpc>
              <a:buNone/>
            </a:pPr>
            <a:r>
              <a:rPr lang="en-US" sz="1080" dirty="0">
                <a:solidFill>
                  <a:srgbClr val="16232E"/>
                </a:solidFill>
                <a:latin typeface="Calibri" pitchFamily="34" charset="0"/>
                <a:ea typeface="Calibri" pitchFamily="34" charset="-122"/>
                <a:cs typeface="Calibri" pitchFamily="34" charset="-120"/>
              </a:rPr>
              <a:t>~3 minutes, fully automated, zero manual steps</a:t>
            </a:r>
            <a:endParaRPr lang="en-US" sz="1080" dirty="0"/>
          </a:p>
        </p:txBody>
      </p:sp>
      <p:sp>
        <p:nvSpPr>
          <p:cNvPr id="41" name="Text 39"/>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17203A"/>
                </a:solidFill>
                <a:latin typeface="Calibri" pitchFamily="34" charset="0"/>
                <a:ea typeface="Calibri" pitchFamily="34" charset="-122"/>
                <a:cs typeface="Calibri" pitchFamily="34" charset="-120"/>
              </a:rPr>
              <a:t>DEVOPS · IMAGE REGISTRY</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DockerHub: Registry &amp; Versioning</a:t>
            </a:r>
            <a:endParaRPr lang="en-US" sz="2800" dirty="0"/>
          </a:p>
        </p:txBody>
      </p:sp>
      <p:sp>
        <p:nvSpPr>
          <p:cNvPr id="4" name="Text 2"/>
          <p:cNvSpPr/>
          <p:nvPr/>
        </p:nvSpPr>
        <p:spPr>
          <a:xfrm>
            <a:off x="548640" y="1325880"/>
            <a:ext cx="10881360" cy="457200"/>
          </a:xfrm>
          <a:prstGeom prst="rect">
            <a:avLst/>
          </a:prstGeom>
          <a:noFill/>
          <a:ln/>
        </p:spPr>
        <p:txBody>
          <a:bodyPr wrap="square" rtlCol="0" anchor="ctr"/>
          <a:lstStyle/>
          <a:p>
            <a:pPr indent="0" marL="0">
              <a:buNone/>
            </a:pPr>
            <a:r>
              <a:rPr lang="en-US" sz="1250" dirty="0">
                <a:solidFill>
                  <a:srgbClr val="5B6B7A"/>
                </a:solidFill>
                <a:latin typeface="Calibri" pitchFamily="34" charset="0"/>
                <a:ea typeface="Calibri" pitchFamily="34" charset="-122"/>
                <a:cs typeface="Calibri" pitchFamily="34" charset="-120"/>
              </a:rPr>
              <a:t>Instead of copying raw source code to the server on every deploy, the server only ever pulls a prebuilt, tested image — the same artifact that passed CI.</a:t>
            </a:r>
            <a:endParaRPr lang="en-US" sz="1250" dirty="0"/>
          </a:p>
        </p:txBody>
      </p:sp>
      <p:sp>
        <p:nvSpPr>
          <p:cNvPr id="5" name="Shape 3"/>
          <p:cNvSpPr/>
          <p:nvPr/>
        </p:nvSpPr>
        <p:spPr>
          <a:xfrm>
            <a:off x="548640" y="1965960"/>
            <a:ext cx="2651760" cy="2194560"/>
          </a:xfrm>
          <a:prstGeom prst="roundRect">
            <a:avLst>
              <a:gd name="adj" fmla="val 3750"/>
            </a:avLst>
          </a:prstGeom>
          <a:solidFill>
            <a:srgbClr val="F4F8FA"/>
          </a:solidFill>
          <a:ln w="12700">
            <a:solidFill>
              <a:srgbClr val="D9E3E8"/>
            </a:solidFill>
            <a:prstDash val="solid"/>
          </a:ln>
        </p:spPr>
      </p:sp>
      <p:sp>
        <p:nvSpPr>
          <p:cNvPr id="6" name="Shape 4"/>
          <p:cNvSpPr/>
          <p:nvPr/>
        </p:nvSpPr>
        <p:spPr>
          <a:xfrm>
            <a:off x="777240" y="2194560"/>
            <a:ext cx="411480" cy="411480"/>
          </a:xfrm>
          <a:prstGeom prst="ellipse">
            <a:avLst/>
          </a:prstGeom>
          <a:solidFill>
            <a:srgbClr val="17203A"/>
          </a:solidFill>
          <a:ln/>
        </p:spPr>
      </p:sp>
      <p:sp>
        <p:nvSpPr>
          <p:cNvPr id="7" name="Text 5"/>
          <p:cNvSpPr/>
          <p:nvPr/>
        </p:nvSpPr>
        <p:spPr>
          <a:xfrm>
            <a:off x="777240" y="2194560"/>
            <a:ext cx="411480" cy="4114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777240" y="2743200"/>
            <a:ext cx="2194560" cy="365760"/>
          </a:xfrm>
          <a:prstGeom prst="rect">
            <a:avLst/>
          </a:prstGeom>
          <a:noFill/>
          <a:ln/>
        </p:spPr>
        <p:txBody>
          <a:bodyPr wrap="square" rtlCol="0" anchor="ctr"/>
          <a:lstStyle/>
          <a:p>
            <a:pPr indent="0" marL="0">
              <a:buNone/>
            </a:pPr>
            <a:r>
              <a:rPr lang="en-US" sz="1350" b="1" dirty="0">
                <a:solidFill>
                  <a:srgbClr val="16232E"/>
                </a:solidFill>
                <a:latin typeface="Arial" pitchFamily="34" charset="0"/>
                <a:ea typeface="Arial" pitchFamily="34" charset="-122"/>
                <a:cs typeface="Arial" pitchFamily="34" charset="-120"/>
              </a:rPr>
              <a:t>Build once</a:t>
            </a:r>
            <a:endParaRPr lang="en-US" sz="1350" dirty="0"/>
          </a:p>
        </p:txBody>
      </p:sp>
      <p:sp>
        <p:nvSpPr>
          <p:cNvPr id="9" name="Text 7"/>
          <p:cNvSpPr/>
          <p:nvPr/>
        </p:nvSpPr>
        <p:spPr>
          <a:xfrm>
            <a:off x="777240" y="3136392"/>
            <a:ext cx="2194560" cy="914400"/>
          </a:xfrm>
          <a:prstGeom prst="rect">
            <a:avLst/>
          </a:prstGeom>
          <a:noFill/>
          <a:ln/>
        </p:spPr>
        <p:txBody>
          <a:bodyPr wrap="square" rtlCol="0" anchor="ctr"/>
          <a:lstStyle/>
          <a:p>
            <a:pPr indent="0" marL="0">
              <a:lnSpc>
                <a:spcPct val="120000"/>
              </a:lnSpc>
              <a:buNone/>
            </a:pPr>
            <a:r>
              <a:rPr lang="en-US" sz="1080" dirty="0">
                <a:solidFill>
                  <a:srgbClr val="5B6B7A"/>
                </a:solidFill>
                <a:latin typeface="Calibri" pitchFamily="34" charset="0"/>
                <a:ea typeface="Calibri" pitchFamily="34" charset="-122"/>
                <a:cs typeface="Calibri" pitchFamily="34" charset="-120"/>
              </a:rPr>
              <a:t>CI builds the image a single time per push; the exact same artifact is used everywhere.</a:t>
            </a:r>
            <a:endParaRPr lang="en-US" sz="1080" dirty="0"/>
          </a:p>
        </p:txBody>
      </p:sp>
      <p:sp>
        <p:nvSpPr>
          <p:cNvPr id="10" name="Shape 8"/>
          <p:cNvSpPr/>
          <p:nvPr/>
        </p:nvSpPr>
        <p:spPr>
          <a:xfrm>
            <a:off x="3383280" y="1965960"/>
            <a:ext cx="2651760" cy="2194560"/>
          </a:xfrm>
          <a:prstGeom prst="roundRect">
            <a:avLst>
              <a:gd name="adj" fmla="val 3750"/>
            </a:avLst>
          </a:prstGeom>
          <a:solidFill>
            <a:srgbClr val="F4F8FA"/>
          </a:solidFill>
          <a:ln w="12700">
            <a:solidFill>
              <a:srgbClr val="D9E3E8"/>
            </a:solidFill>
            <a:prstDash val="solid"/>
          </a:ln>
        </p:spPr>
      </p:sp>
      <p:sp>
        <p:nvSpPr>
          <p:cNvPr id="11" name="Shape 9"/>
          <p:cNvSpPr/>
          <p:nvPr/>
        </p:nvSpPr>
        <p:spPr>
          <a:xfrm>
            <a:off x="3611880" y="2194560"/>
            <a:ext cx="411480" cy="411480"/>
          </a:xfrm>
          <a:prstGeom prst="ellipse">
            <a:avLst/>
          </a:prstGeom>
          <a:solidFill>
            <a:srgbClr val="17203A"/>
          </a:solidFill>
          <a:ln/>
        </p:spPr>
      </p:sp>
      <p:sp>
        <p:nvSpPr>
          <p:cNvPr id="12" name="Text 10"/>
          <p:cNvSpPr/>
          <p:nvPr/>
        </p:nvSpPr>
        <p:spPr>
          <a:xfrm>
            <a:off x="3611880" y="2194560"/>
            <a:ext cx="411480" cy="4114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3611880" y="2743200"/>
            <a:ext cx="2194560" cy="365760"/>
          </a:xfrm>
          <a:prstGeom prst="rect">
            <a:avLst/>
          </a:prstGeom>
          <a:noFill/>
          <a:ln/>
        </p:spPr>
        <p:txBody>
          <a:bodyPr wrap="square" rtlCol="0" anchor="ctr"/>
          <a:lstStyle/>
          <a:p>
            <a:pPr indent="0" marL="0">
              <a:buNone/>
            </a:pPr>
            <a:r>
              <a:rPr lang="en-US" sz="1350" b="1" dirty="0">
                <a:solidFill>
                  <a:srgbClr val="16232E"/>
                </a:solidFill>
                <a:latin typeface="Arial" pitchFamily="34" charset="0"/>
                <a:ea typeface="Arial" pitchFamily="34" charset="-122"/>
                <a:cs typeface="Arial" pitchFamily="34" charset="-120"/>
              </a:rPr>
              <a:t>Tag strategy</a:t>
            </a:r>
            <a:endParaRPr lang="en-US" sz="1350" dirty="0"/>
          </a:p>
        </p:txBody>
      </p:sp>
      <p:sp>
        <p:nvSpPr>
          <p:cNvPr id="14" name="Text 12"/>
          <p:cNvSpPr/>
          <p:nvPr/>
        </p:nvSpPr>
        <p:spPr>
          <a:xfrm>
            <a:off x="3611880" y="3136392"/>
            <a:ext cx="2194560" cy="914400"/>
          </a:xfrm>
          <a:prstGeom prst="rect">
            <a:avLst/>
          </a:prstGeom>
          <a:noFill/>
          <a:ln/>
        </p:spPr>
        <p:txBody>
          <a:bodyPr wrap="square" rtlCol="0" anchor="ctr"/>
          <a:lstStyle/>
          <a:p>
            <a:pPr indent="0" marL="0">
              <a:lnSpc>
                <a:spcPct val="120000"/>
              </a:lnSpc>
              <a:buNone/>
            </a:pPr>
            <a:r>
              <a:rPr lang="en-US" sz="1080" dirty="0">
                <a:solidFill>
                  <a:srgbClr val="5B6B7A"/>
                </a:solidFill>
                <a:latin typeface="Calibri" pitchFamily="34" charset="0"/>
                <a:ea typeface="Calibri" pitchFamily="34" charset="-122"/>
                <a:cs typeface="Calibri" pitchFamily="34" charset="-120"/>
              </a:rPr>
              <a:t>Images tagged with both :latest and the Git commit SHA, so any deployed version can be traced back to source.</a:t>
            </a:r>
            <a:endParaRPr lang="en-US" sz="1080" dirty="0"/>
          </a:p>
        </p:txBody>
      </p:sp>
      <p:sp>
        <p:nvSpPr>
          <p:cNvPr id="15" name="Shape 13"/>
          <p:cNvSpPr/>
          <p:nvPr/>
        </p:nvSpPr>
        <p:spPr>
          <a:xfrm>
            <a:off x="6217920" y="1965960"/>
            <a:ext cx="2651760" cy="2194560"/>
          </a:xfrm>
          <a:prstGeom prst="roundRect">
            <a:avLst>
              <a:gd name="adj" fmla="val 3750"/>
            </a:avLst>
          </a:prstGeom>
          <a:solidFill>
            <a:srgbClr val="F4F8FA"/>
          </a:solidFill>
          <a:ln w="12700">
            <a:solidFill>
              <a:srgbClr val="D9E3E8"/>
            </a:solidFill>
            <a:prstDash val="solid"/>
          </a:ln>
        </p:spPr>
      </p:sp>
      <p:sp>
        <p:nvSpPr>
          <p:cNvPr id="16" name="Shape 14"/>
          <p:cNvSpPr/>
          <p:nvPr/>
        </p:nvSpPr>
        <p:spPr>
          <a:xfrm>
            <a:off x="6446520" y="2194560"/>
            <a:ext cx="411480" cy="411480"/>
          </a:xfrm>
          <a:prstGeom prst="ellipse">
            <a:avLst/>
          </a:prstGeom>
          <a:solidFill>
            <a:srgbClr val="17203A"/>
          </a:solidFill>
          <a:ln/>
        </p:spPr>
      </p:sp>
      <p:sp>
        <p:nvSpPr>
          <p:cNvPr id="17" name="Text 15"/>
          <p:cNvSpPr/>
          <p:nvPr/>
        </p:nvSpPr>
        <p:spPr>
          <a:xfrm>
            <a:off x="6446520" y="2194560"/>
            <a:ext cx="411480" cy="4114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p:nvPr/>
        </p:nvSpPr>
        <p:spPr>
          <a:xfrm>
            <a:off x="6446520" y="2743200"/>
            <a:ext cx="2194560" cy="365760"/>
          </a:xfrm>
          <a:prstGeom prst="rect">
            <a:avLst/>
          </a:prstGeom>
          <a:noFill/>
          <a:ln/>
        </p:spPr>
        <p:txBody>
          <a:bodyPr wrap="square" rtlCol="0" anchor="ctr"/>
          <a:lstStyle/>
          <a:p>
            <a:pPr indent="0" marL="0">
              <a:buNone/>
            </a:pPr>
            <a:r>
              <a:rPr lang="en-US" sz="1350" b="1" dirty="0">
                <a:solidFill>
                  <a:srgbClr val="16232E"/>
                </a:solidFill>
                <a:latin typeface="Arial" pitchFamily="34" charset="0"/>
                <a:ea typeface="Arial" pitchFamily="34" charset="-122"/>
                <a:cs typeface="Arial" pitchFamily="34" charset="-120"/>
              </a:rPr>
              <a:t>Layer caching</a:t>
            </a:r>
            <a:endParaRPr lang="en-US" sz="1350" dirty="0"/>
          </a:p>
        </p:txBody>
      </p:sp>
      <p:sp>
        <p:nvSpPr>
          <p:cNvPr id="19" name="Text 17"/>
          <p:cNvSpPr/>
          <p:nvPr/>
        </p:nvSpPr>
        <p:spPr>
          <a:xfrm>
            <a:off x="6446520" y="3136392"/>
            <a:ext cx="2194560" cy="914400"/>
          </a:xfrm>
          <a:prstGeom prst="rect">
            <a:avLst/>
          </a:prstGeom>
          <a:noFill/>
          <a:ln/>
        </p:spPr>
        <p:txBody>
          <a:bodyPr wrap="square" rtlCol="0" anchor="ctr"/>
          <a:lstStyle/>
          <a:p>
            <a:pPr indent="0" marL="0">
              <a:lnSpc>
                <a:spcPct val="120000"/>
              </a:lnSpc>
              <a:buNone/>
            </a:pPr>
            <a:r>
              <a:rPr lang="en-US" sz="1080" dirty="0">
                <a:solidFill>
                  <a:srgbClr val="5B6B7A"/>
                </a:solidFill>
                <a:latin typeface="Calibri" pitchFamily="34" charset="0"/>
                <a:ea typeface="Calibri" pitchFamily="34" charset="-122"/>
                <a:cs typeface="Calibri" pitchFamily="34" charset="-120"/>
              </a:rPr>
              <a:t>Docker layer caching keeps rebuilds fast — only changed layers (e.g. app code) are rebuilt, not base OS/deps.</a:t>
            </a:r>
            <a:endParaRPr lang="en-US" sz="1080" dirty="0"/>
          </a:p>
        </p:txBody>
      </p:sp>
      <p:sp>
        <p:nvSpPr>
          <p:cNvPr id="20" name="Shape 18"/>
          <p:cNvSpPr/>
          <p:nvPr/>
        </p:nvSpPr>
        <p:spPr>
          <a:xfrm>
            <a:off x="9052560" y="1965960"/>
            <a:ext cx="2651760" cy="2194560"/>
          </a:xfrm>
          <a:prstGeom prst="roundRect">
            <a:avLst>
              <a:gd name="adj" fmla="val 3750"/>
            </a:avLst>
          </a:prstGeom>
          <a:solidFill>
            <a:srgbClr val="F4F8FA"/>
          </a:solidFill>
          <a:ln w="12700">
            <a:solidFill>
              <a:srgbClr val="D9E3E8"/>
            </a:solidFill>
            <a:prstDash val="solid"/>
          </a:ln>
        </p:spPr>
      </p:sp>
      <p:sp>
        <p:nvSpPr>
          <p:cNvPr id="21" name="Shape 19"/>
          <p:cNvSpPr/>
          <p:nvPr/>
        </p:nvSpPr>
        <p:spPr>
          <a:xfrm>
            <a:off x="9281160" y="2194560"/>
            <a:ext cx="411480" cy="411480"/>
          </a:xfrm>
          <a:prstGeom prst="ellipse">
            <a:avLst/>
          </a:prstGeom>
          <a:solidFill>
            <a:srgbClr val="17203A"/>
          </a:solidFill>
          <a:ln/>
        </p:spPr>
      </p:sp>
      <p:sp>
        <p:nvSpPr>
          <p:cNvPr id="22" name="Text 20"/>
          <p:cNvSpPr/>
          <p:nvPr/>
        </p:nvSpPr>
        <p:spPr>
          <a:xfrm>
            <a:off x="9281160" y="2194560"/>
            <a:ext cx="411480" cy="4114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p:nvPr/>
        </p:nvSpPr>
        <p:spPr>
          <a:xfrm>
            <a:off x="9281160" y="2743200"/>
            <a:ext cx="2194560" cy="365760"/>
          </a:xfrm>
          <a:prstGeom prst="rect">
            <a:avLst/>
          </a:prstGeom>
          <a:noFill/>
          <a:ln/>
        </p:spPr>
        <p:txBody>
          <a:bodyPr wrap="square" rtlCol="0" anchor="ctr"/>
          <a:lstStyle/>
          <a:p>
            <a:pPr indent="0" marL="0">
              <a:buNone/>
            </a:pPr>
            <a:r>
              <a:rPr lang="en-US" sz="1350" b="1" dirty="0">
                <a:solidFill>
                  <a:srgbClr val="16232E"/>
                </a:solidFill>
                <a:latin typeface="Arial" pitchFamily="34" charset="0"/>
                <a:ea typeface="Arial" pitchFamily="34" charset="-122"/>
                <a:cs typeface="Arial" pitchFamily="34" charset="-120"/>
              </a:rPr>
              <a:t>Rollback</a:t>
            </a:r>
            <a:endParaRPr lang="en-US" sz="1350" dirty="0"/>
          </a:p>
        </p:txBody>
      </p:sp>
      <p:sp>
        <p:nvSpPr>
          <p:cNvPr id="24" name="Text 22"/>
          <p:cNvSpPr/>
          <p:nvPr/>
        </p:nvSpPr>
        <p:spPr>
          <a:xfrm>
            <a:off x="9281160" y="3136392"/>
            <a:ext cx="2194560" cy="914400"/>
          </a:xfrm>
          <a:prstGeom prst="rect">
            <a:avLst/>
          </a:prstGeom>
          <a:noFill/>
          <a:ln/>
        </p:spPr>
        <p:txBody>
          <a:bodyPr wrap="square" rtlCol="0" anchor="ctr"/>
          <a:lstStyle/>
          <a:p>
            <a:pPr indent="0" marL="0">
              <a:lnSpc>
                <a:spcPct val="120000"/>
              </a:lnSpc>
              <a:buNone/>
            </a:pPr>
            <a:r>
              <a:rPr lang="en-US" sz="1080" dirty="0">
                <a:solidFill>
                  <a:srgbClr val="5B6B7A"/>
                </a:solidFill>
                <a:latin typeface="Calibri" pitchFamily="34" charset="0"/>
                <a:ea typeface="Calibri" pitchFamily="34" charset="-122"/>
                <a:cs typeface="Calibri" pitchFamily="34" charset="-120"/>
              </a:rPr>
              <a:t>A bad deploy can be reverted instantly by pulling the previous SHA-tagged image, no rebuild required.</a:t>
            </a:r>
            <a:endParaRPr lang="en-US" sz="1080" dirty="0"/>
          </a:p>
        </p:txBody>
      </p:sp>
      <p:sp>
        <p:nvSpPr>
          <p:cNvPr id="25" name="Shape 23"/>
          <p:cNvSpPr/>
          <p:nvPr/>
        </p:nvSpPr>
        <p:spPr>
          <a:xfrm>
            <a:off x="548640" y="4434840"/>
            <a:ext cx="10744200" cy="1280160"/>
          </a:xfrm>
          <a:prstGeom prst="roundRect">
            <a:avLst>
              <a:gd name="adj" fmla="val 5714"/>
            </a:avLst>
          </a:prstGeom>
          <a:solidFill>
            <a:srgbClr val="17203A"/>
          </a:solidFill>
          <a:ln/>
        </p:spPr>
      </p:sp>
      <p:sp>
        <p:nvSpPr>
          <p:cNvPr id="26" name="Text 24"/>
          <p:cNvSpPr/>
          <p:nvPr/>
        </p:nvSpPr>
        <p:spPr>
          <a:xfrm>
            <a:off x="822960" y="4434840"/>
            <a:ext cx="10241280" cy="1280160"/>
          </a:xfrm>
          <a:prstGeom prst="rect">
            <a:avLst/>
          </a:prstGeom>
          <a:noFill/>
          <a:ln/>
        </p:spPr>
        <p:txBody>
          <a:bodyPr wrap="square" rtlCol="0" anchor="ctr"/>
          <a:lstStyle/>
          <a:p>
            <a:pPr indent="0" marL="0">
              <a:buNone/>
            </a:pPr>
            <a:r>
              <a:rPr lang="en-US" sz="1300" dirty="0">
                <a:solidFill>
                  <a:srgbClr val="9FE6C8"/>
                </a:solidFill>
                <a:latin typeface="Courier New" pitchFamily="34" charset="0"/>
                <a:ea typeface="Courier New" pitchFamily="34" charset="-122"/>
                <a:cs typeface="Courier New" pitchFamily="34" charset="-120"/>
              </a:rPr>
              <a:t>codesachuser/codesach-backend:a1b2c3d  →  docker pull  →  docker compose up -d</a:t>
            </a:r>
            <a:endParaRPr lang="en-US" sz="1300" dirty="0"/>
          </a:p>
        </p:txBody>
      </p:sp>
      <p:sp>
        <p:nvSpPr>
          <p:cNvPr id="27" name="Text 25"/>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065A82"/>
                </a:solidFill>
                <a:latin typeface="Calibri" pitchFamily="34" charset="0"/>
                <a:ea typeface="Calibri" pitchFamily="34" charset="-122"/>
                <a:cs typeface="Calibri" pitchFamily="34" charset="-120"/>
              </a:rPr>
              <a:t>CLOUD · DEPLOYMENT &amp; NETWORKING</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AWS EC2, DuckDNS &amp; Caddy HTTPS</a:t>
            </a:r>
            <a:endParaRPr lang="en-US" sz="2800" dirty="0"/>
          </a:p>
        </p:txBody>
      </p:sp>
      <p:sp>
        <p:nvSpPr>
          <p:cNvPr id="4" name="Shape 2"/>
          <p:cNvSpPr/>
          <p:nvPr/>
        </p:nvSpPr>
        <p:spPr>
          <a:xfrm>
            <a:off x="548640" y="1463040"/>
            <a:ext cx="2606040" cy="2514600"/>
          </a:xfrm>
          <a:prstGeom prst="roundRect">
            <a:avLst>
              <a:gd name="adj" fmla="val 3636"/>
            </a:avLst>
          </a:prstGeom>
          <a:solidFill>
            <a:srgbClr val="FFFFFF"/>
          </a:solidFill>
          <a:ln w="12700">
            <a:solidFill>
              <a:srgbClr val="D9E3E8"/>
            </a:solidFill>
            <a:prstDash val="solid"/>
          </a:ln>
        </p:spPr>
      </p:sp>
      <p:sp>
        <p:nvSpPr>
          <p:cNvPr id="5" name="Shape 3"/>
          <p:cNvSpPr/>
          <p:nvPr/>
        </p:nvSpPr>
        <p:spPr>
          <a:xfrm>
            <a:off x="777240" y="1691640"/>
            <a:ext cx="566928" cy="566928"/>
          </a:xfrm>
          <a:prstGeom prst="roundRect">
            <a:avLst>
              <a:gd name="adj" fmla="val 48387"/>
            </a:avLst>
          </a:prstGeom>
          <a:solidFill>
            <a:srgbClr val="065A82"/>
          </a:solidFill>
          <a:ln/>
        </p:spPr>
      </p:sp>
      <p:sp>
        <p:nvSpPr>
          <p:cNvPr id="6" name="Text 4"/>
          <p:cNvSpPr/>
          <p:nvPr/>
        </p:nvSpPr>
        <p:spPr>
          <a:xfrm>
            <a:off x="777240" y="1691640"/>
            <a:ext cx="566928" cy="56692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AW</a:t>
            </a:r>
            <a:endParaRPr lang="en-US" sz="1300" dirty="0"/>
          </a:p>
        </p:txBody>
      </p:sp>
      <p:sp>
        <p:nvSpPr>
          <p:cNvPr id="7" name="Text 5"/>
          <p:cNvSpPr/>
          <p:nvPr/>
        </p:nvSpPr>
        <p:spPr>
          <a:xfrm>
            <a:off x="777240" y="2377440"/>
            <a:ext cx="2148840" cy="320040"/>
          </a:xfrm>
          <a:prstGeom prst="rect">
            <a:avLst/>
          </a:prstGeom>
          <a:noFill/>
          <a:ln/>
        </p:spPr>
        <p:txBody>
          <a:bodyPr wrap="square" rtlCol="0" anchor="ctr"/>
          <a:lstStyle/>
          <a:p>
            <a:pPr indent="0" marL="0">
              <a:buNone/>
            </a:pPr>
            <a:r>
              <a:rPr lang="en-US" sz="1350" b="1" dirty="0">
                <a:solidFill>
                  <a:srgbClr val="16232E"/>
                </a:solidFill>
                <a:latin typeface="Arial" pitchFamily="34" charset="0"/>
                <a:ea typeface="Arial" pitchFamily="34" charset="-122"/>
                <a:cs typeface="Arial" pitchFamily="34" charset="-120"/>
              </a:rPr>
              <a:t>AWS EC2</a:t>
            </a:r>
            <a:endParaRPr lang="en-US" sz="1350" dirty="0"/>
          </a:p>
        </p:txBody>
      </p:sp>
      <p:sp>
        <p:nvSpPr>
          <p:cNvPr id="8" name="Text 6"/>
          <p:cNvSpPr/>
          <p:nvPr/>
        </p:nvSpPr>
        <p:spPr>
          <a:xfrm>
            <a:off x="777240" y="2724912"/>
            <a:ext cx="2148840" cy="1188720"/>
          </a:xfrm>
          <a:prstGeom prst="rect">
            <a:avLst/>
          </a:prstGeom>
          <a:noFill/>
          <a:ln/>
        </p:spPr>
        <p:txBody>
          <a:bodyPr wrap="square" rtlCol="0" anchor="ctr"/>
          <a:lstStyle/>
          <a:p>
            <a:pPr indent="0" marL="0">
              <a:lnSpc>
                <a:spcPct val="120000"/>
              </a:lnSpc>
              <a:buNone/>
            </a:pPr>
            <a:r>
              <a:rPr lang="en-US" sz="1080" dirty="0">
                <a:solidFill>
                  <a:srgbClr val="5B6B7A"/>
                </a:solidFill>
                <a:latin typeface="Calibri" pitchFamily="34" charset="0"/>
                <a:ea typeface="Calibri" pitchFamily="34" charset="-122"/>
                <a:cs typeface="Calibri" pitchFamily="34" charset="-120"/>
              </a:rPr>
              <a:t>24×7 available virtual machine with a public IP; cost-effective, scalable, and runs Docker directly.</a:t>
            </a:r>
            <a:endParaRPr lang="en-US" sz="1080" dirty="0"/>
          </a:p>
        </p:txBody>
      </p:sp>
      <p:sp>
        <p:nvSpPr>
          <p:cNvPr id="9" name="Shape 7"/>
          <p:cNvSpPr/>
          <p:nvPr/>
        </p:nvSpPr>
        <p:spPr>
          <a:xfrm>
            <a:off x="3355848" y="1463040"/>
            <a:ext cx="2606040" cy="2514600"/>
          </a:xfrm>
          <a:prstGeom prst="roundRect">
            <a:avLst>
              <a:gd name="adj" fmla="val 3636"/>
            </a:avLst>
          </a:prstGeom>
          <a:solidFill>
            <a:srgbClr val="FFFFFF"/>
          </a:solidFill>
          <a:ln w="12700">
            <a:solidFill>
              <a:srgbClr val="D9E3E8"/>
            </a:solidFill>
            <a:prstDash val="solid"/>
          </a:ln>
        </p:spPr>
      </p:sp>
      <p:sp>
        <p:nvSpPr>
          <p:cNvPr id="10" name="Shape 8"/>
          <p:cNvSpPr/>
          <p:nvPr/>
        </p:nvSpPr>
        <p:spPr>
          <a:xfrm>
            <a:off x="3584448" y="1691640"/>
            <a:ext cx="566928" cy="566928"/>
          </a:xfrm>
          <a:prstGeom prst="roundRect">
            <a:avLst>
              <a:gd name="adj" fmla="val 48387"/>
            </a:avLst>
          </a:prstGeom>
          <a:solidFill>
            <a:srgbClr val="1C7293"/>
          </a:solidFill>
          <a:ln/>
        </p:spPr>
      </p:sp>
      <p:sp>
        <p:nvSpPr>
          <p:cNvPr id="11" name="Text 9"/>
          <p:cNvSpPr/>
          <p:nvPr/>
        </p:nvSpPr>
        <p:spPr>
          <a:xfrm>
            <a:off x="3584448" y="1691640"/>
            <a:ext cx="566928" cy="56692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a:t>
            </a:r>
            <a:endParaRPr lang="en-US" sz="1300" dirty="0"/>
          </a:p>
        </p:txBody>
      </p:sp>
      <p:sp>
        <p:nvSpPr>
          <p:cNvPr id="12" name="Text 10"/>
          <p:cNvSpPr/>
          <p:nvPr/>
        </p:nvSpPr>
        <p:spPr>
          <a:xfrm>
            <a:off x="3584448" y="2377440"/>
            <a:ext cx="2148840" cy="320040"/>
          </a:xfrm>
          <a:prstGeom prst="rect">
            <a:avLst/>
          </a:prstGeom>
          <a:noFill/>
          <a:ln/>
        </p:spPr>
        <p:txBody>
          <a:bodyPr wrap="square" rtlCol="0" anchor="ctr"/>
          <a:lstStyle/>
          <a:p>
            <a:pPr indent="0" marL="0">
              <a:buNone/>
            </a:pPr>
            <a:r>
              <a:rPr lang="en-US" sz="1350" b="1" dirty="0">
                <a:solidFill>
                  <a:srgbClr val="16232E"/>
                </a:solidFill>
                <a:latin typeface="Arial" pitchFamily="34" charset="0"/>
                <a:ea typeface="Arial" pitchFamily="34" charset="-122"/>
                <a:cs typeface="Arial" pitchFamily="34" charset="-120"/>
              </a:rPr>
              <a:t>Security Group</a:t>
            </a:r>
            <a:endParaRPr lang="en-US" sz="1350" dirty="0"/>
          </a:p>
        </p:txBody>
      </p:sp>
      <p:sp>
        <p:nvSpPr>
          <p:cNvPr id="13" name="Text 11"/>
          <p:cNvSpPr/>
          <p:nvPr/>
        </p:nvSpPr>
        <p:spPr>
          <a:xfrm>
            <a:off x="3584448" y="2724912"/>
            <a:ext cx="2148840" cy="1188720"/>
          </a:xfrm>
          <a:prstGeom prst="rect">
            <a:avLst/>
          </a:prstGeom>
          <a:noFill/>
          <a:ln/>
        </p:spPr>
        <p:txBody>
          <a:bodyPr wrap="square" rtlCol="0" anchor="ctr"/>
          <a:lstStyle/>
          <a:p>
            <a:pPr indent="0" marL="0">
              <a:lnSpc>
                <a:spcPct val="120000"/>
              </a:lnSpc>
              <a:buNone/>
            </a:pPr>
            <a:r>
              <a:rPr lang="en-US" sz="1080" dirty="0">
                <a:solidFill>
                  <a:srgbClr val="5B6B7A"/>
                </a:solidFill>
                <a:latin typeface="Calibri" pitchFamily="34" charset="0"/>
                <a:ea typeface="Calibri" pitchFamily="34" charset="-122"/>
                <a:cs typeface="Calibri" pitchFamily="34" charset="-120"/>
              </a:rPr>
              <a:t>Only ports 22 (SSH), 80 (HTTP) and 443 (HTTPS) are opened — everything else is denied by default.</a:t>
            </a:r>
            <a:endParaRPr lang="en-US" sz="1080" dirty="0"/>
          </a:p>
        </p:txBody>
      </p:sp>
      <p:sp>
        <p:nvSpPr>
          <p:cNvPr id="14" name="Shape 12"/>
          <p:cNvSpPr/>
          <p:nvPr/>
        </p:nvSpPr>
        <p:spPr>
          <a:xfrm>
            <a:off x="6163056" y="1463040"/>
            <a:ext cx="2606040" cy="2514600"/>
          </a:xfrm>
          <a:prstGeom prst="roundRect">
            <a:avLst>
              <a:gd name="adj" fmla="val 3636"/>
            </a:avLst>
          </a:prstGeom>
          <a:solidFill>
            <a:srgbClr val="FFFFFF"/>
          </a:solidFill>
          <a:ln w="12700">
            <a:solidFill>
              <a:srgbClr val="D9E3E8"/>
            </a:solidFill>
            <a:prstDash val="solid"/>
          </a:ln>
        </p:spPr>
      </p:sp>
      <p:sp>
        <p:nvSpPr>
          <p:cNvPr id="15" name="Shape 13"/>
          <p:cNvSpPr/>
          <p:nvPr/>
        </p:nvSpPr>
        <p:spPr>
          <a:xfrm>
            <a:off x="6391656" y="1691640"/>
            <a:ext cx="566928" cy="566928"/>
          </a:xfrm>
          <a:prstGeom prst="roundRect">
            <a:avLst>
              <a:gd name="adj" fmla="val 48387"/>
            </a:avLst>
          </a:prstGeom>
          <a:solidFill>
            <a:srgbClr val="17203A"/>
          </a:solidFill>
          <a:ln/>
        </p:spPr>
      </p:sp>
      <p:sp>
        <p:nvSpPr>
          <p:cNvPr id="16" name="Text 14"/>
          <p:cNvSpPr/>
          <p:nvPr/>
        </p:nvSpPr>
        <p:spPr>
          <a:xfrm>
            <a:off x="6391656" y="1691640"/>
            <a:ext cx="566928" cy="56692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DU</a:t>
            </a:r>
            <a:endParaRPr lang="en-US" sz="1300" dirty="0"/>
          </a:p>
        </p:txBody>
      </p:sp>
      <p:sp>
        <p:nvSpPr>
          <p:cNvPr id="17" name="Text 15"/>
          <p:cNvSpPr/>
          <p:nvPr/>
        </p:nvSpPr>
        <p:spPr>
          <a:xfrm>
            <a:off x="6391656" y="2377440"/>
            <a:ext cx="2148840" cy="320040"/>
          </a:xfrm>
          <a:prstGeom prst="rect">
            <a:avLst/>
          </a:prstGeom>
          <a:noFill/>
          <a:ln/>
        </p:spPr>
        <p:txBody>
          <a:bodyPr wrap="square" rtlCol="0" anchor="ctr"/>
          <a:lstStyle/>
          <a:p>
            <a:pPr indent="0" marL="0">
              <a:buNone/>
            </a:pPr>
            <a:r>
              <a:rPr lang="en-US" sz="1350" b="1" dirty="0">
                <a:solidFill>
                  <a:srgbClr val="16232E"/>
                </a:solidFill>
                <a:latin typeface="Arial" pitchFamily="34" charset="0"/>
                <a:ea typeface="Arial" pitchFamily="34" charset="-122"/>
                <a:cs typeface="Arial" pitchFamily="34" charset="-120"/>
              </a:rPr>
              <a:t>DuckDNS</a:t>
            </a:r>
            <a:endParaRPr lang="en-US" sz="1350" dirty="0"/>
          </a:p>
        </p:txBody>
      </p:sp>
      <p:sp>
        <p:nvSpPr>
          <p:cNvPr id="18" name="Text 16"/>
          <p:cNvSpPr/>
          <p:nvPr/>
        </p:nvSpPr>
        <p:spPr>
          <a:xfrm>
            <a:off x="6391656" y="2724912"/>
            <a:ext cx="2148840" cy="1188720"/>
          </a:xfrm>
          <a:prstGeom prst="rect">
            <a:avLst/>
          </a:prstGeom>
          <a:noFill/>
          <a:ln/>
        </p:spPr>
        <p:txBody>
          <a:bodyPr wrap="square" rtlCol="0" anchor="ctr"/>
          <a:lstStyle/>
          <a:p>
            <a:pPr indent="0" marL="0">
              <a:lnSpc>
                <a:spcPct val="120000"/>
              </a:lnSpc>
              <a:buNone/>
            </a:pPr>
            <a:r>
              <a:rPr lang="en-US" sz="1080" dirty="0">
                <a:solidFill>
                  <a:srgbClr val="5B6B7A"/>
                </a:solidFill>
                <a:latin typeface="Calibri" pitchFamily="34" charset="0"/>
                <a:ea typeface="Calibri" pitchFamily="34" charset="-122"/>
                <a:cs typeface="Calibri" pitchFamily="34" charset="-120"/>
              </a:rPr>
              <a:t>Free dynamic domain (codesach.duckdns.org) mapped to the EC2 public IP, auto-updated if the IP changes.</a:t>
            </a:r>
            <a:endParaRPr lang="en-US" sz="1080" dirty="0"/>
          </a:p>
        </p:txBody>
      </p:sp>
      <p:sp>
        <p:nvSpPr>
          <p:cNvPr id="19" name="Shape 17"/>
          <p:cNvSpPr/>
          <p:nvPr/>
        </p:nvSpPr>
        <p:spPr>
          <a:xfrm>
            <a:off x="8970264" y="1463040"/>
            <a:ext cx="2606040" cy="2514600"/>
          </a:xfrm>
          <a:prstGeom prst="roundRect">
            <a:avLst>
              <a:gd name="adj" fmla="val 3636"/>
            </a:avLst>
          </a:prstGeom>
          <a:solidFill>
            <a:srgbClr val="FFFFFF"/>
          </a:solidFill>
          <a:ln w="12700">
            <a:solidFill>
              <a:srgbClr val="D9E3E8"/>
            </a:solidFill>
            <a:prstDash val="solid"/>
          </a:ln>
        </p:spPr>
      </p:sp>
      <p:sp>
        <p:nvSpPr>
          <p:cNvPr id="20" name="Shape 18"/>
          <p:cNvSpPr/>
          <p:nvPr/>
        </p:nvSpPr>
        <p:spPr>
          <a:xfrm>
            <a:off x="9198864" y="1691640"/>
            <a:ext cx="566928" cy="566928"/>
          </a:xfrm>
          <a:prstGeom prst="roundRect">
            <a:avLst>
              <a:gd name="adj" fmla="val 48387"/>
            </a:avLst>
          </a:prstGeom>
          <a:solidFill>
            <a:srgbClr val="FFB100"/>
          </a:solidFill>
          <a:ln/>
        </p:spPr>
      </p:sp>
      <p:sp>
        <p:nvSpPr>
          <p:cNvPr id="21" name="Text 19"/>
          <p:cNvSpPr/>
          <p:nvPr/>
        </p:nvSpPr>
        <p:spPr>
          <a:xfrm>
            <a:off x="9198864" y="1691640"/>
            <a:ext cx="566928" cy="56692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a:t>
            </a:r>
            <a:endParaRPr lang="en-US" sz="1300" dirty="0"/>
          </a:p>
        </p:txBody>
      </p:sp>
      <p:sp>
        <p:nvSpPr>
          <p:cNvPr id="22" name="Text 20"/>
          <p:cNvSpPr/>
          <p:nvPr/>
        </p:nvSpPr>
        <p:spPr>
          <a:xfrm>
            <a:off x="9198864" y="2377440"/>
            <a:ext cx="2148840" cy="320040"/>
          </a:xfrm>
          <a:prstGeom prst="rect">
            <a:avLst/>
          </a:prstGeom>
          <a:noFill/>
          <a:ln/>
        </p:spPr>
        <p:txBody>
          <a:bodyPr wrap="square" rtlCol="0" anchor="ctr"/>
          <a:lstStyle/>
          <a:p>
            <a:pPr indent="0" marL="0">
              <a:buNone/>
            </a:pPr>
            <a:r>
              <a:rPr lang="en-US" sz="1350" b="1" dirty="0">
                <a:solidFill>
                  <a:srgbClr val="16232E"/>
                </a:solidFill>
                <a:latin typeface="Arial" pitchFamily="34" charset="0"/>
                <a:ea typeface="Arial" pitchFamily="34" charset="-122"/>
                <a:cs typeface="Arial" pitchFamily="34" charset="-120"/>
              </a:rPr>
              <a:t>Caddy</a:t>
            </a:r>
            <a:endParaRPr lang="en-US" sz="1350" dirty="0"/>
          </a:p>
        </p:txBody>
      </p:sp>
      <p:sp>
        <p:nvSpPr>
          <p:cNvPr id="23" name="Text 21"/>
          <p:cNvSpPr/>
          <p:nvPr/>
        </p:nvSpPr>
        <p:spPr>
          <a:xfrm>
            <a:off x="9198864" y="2724912"/>
            <a:ext cx="2148840" cy="1188720"/>
          </a:xfrm>
          <a:prstGeom prst="rect">
            <a:avLst/>
          </a:prstGeom>
          <a:noFill/>
          <a:ln/>
        </p:spPr>
        <p:txBody>
          <a:bodyPr wrap="square" rtlCol="0" anchor="ctr"/>
          <a:lstStyle/>
          <a:p>
            <a:pPr indent="0" marL="0">
              <a:lnSpc>
                <a:spcPct val="120000"/>
              </a:lnSpc>
              <a:buNone/>
            </a:pPr>
            <a:r>
              <a:rPr lang="en-US" sz="1080" dirty="0">
                <a:solidFill>
                  <a:srgbClr val="5B6B7A"/>
                </a:solidFill>
                <a:latin typeface="Calibri" pitchFamily="34" charset="0"/>
                <a:ea typeface="Calibri" pitchFamily="34" charset="-122"/>
                <a:cs typeface="Calibri" pitchFamily="34" charset="-120"/>
              </a:rPr>
              <a:t>Reverse proxy in front of the app that automatically requests &amp; renews HTTPS certificates via Let's Encrypt.</a:t>
            </a:r>
            <a:endParaRPr lang="en-US" sz="1080" dirty="0"/>
          </a:p>
        </p:txBody>
      </p:sp>
      <p:sp>
        <p:nvSpPr>
          <p:cNvPr id="24" name="Text 22"/>
          <p:cNvSpPr/>
          <p:nvPr/>
        </p:nvSpPr>
        <p:spPr>
          <a:xfrm>
            <a:off x="548640" y="4160520"/>
            <a:ext cx="4572000" cy="274320"/>
          </a:xfrm>
          <a:prstGeom prst="rect">
            <a:avLst/>
          </a:prstGeom>
          <a:noFill/>
          <a:ln/>
        </p:spPr>
        <p:txBody>
          <a:bodyPr wrap="square"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CADDYFILE (SIMPLIFIED)</a:t>
            </a:r>
            <a:endParaRPr lang="en-US" sz="1100" dirty="0"/>
          </a:p>
        </p:txBody>
      </p:sp>
      <p:sp>
        <p:nvSpPr>
          <p:cNvPr id="25" name="Shape 23"/>
          <p:cNvSpPr/>
          <p:nvPr/>
        </p:nvSpPr>
        <p:spPr>
          <a:xfrm>
            <a:off x="548640" y="4462272"/>
            <a:ext cx="5120640" cy="1234440"/>
          </a:xfrm>
          <a:prstGeom prst="roundRect">
            <a:avLst>
              <a:gd name="adj" fmla="val 4444"/>
            </a:avLst>
          </a:prstGeom>
          <a:solidFill>
            <a:srgbClr val="17203A"/>
          </a:solidFill>
          <a:ln/>
        </p:spPr>
      </p:sp>
      <p:sp>
        <p:nvSpPr>
          <p:cNvPr id="26" name="Text 24"/>
          <p:cNvSpPr/>
          <p:nvPr/>
        </p:nvSpPr>
        <p:spPr>
          <a:xfrm>
            <a:off x="731520" y="4535424"/>
            <a:ext cx="4754880" cy="1088136"/>
          </a:xfrm>
          <a:prstGeom prst="rect">
            <a:avLst/>
          </a:prstGeom>
          <a:noFill/>
          <a:ln/>
        </p:spPr>
        <p:txBody>
          <a:bodyPr wrap="square" rtlCol="0" anchor="ctr"/>
          <a:lstStyle/>
          <a:p>
            <a:pPr indent="0" marL="0">
              <a:lnSpc>
                <a:spcPct val="125000"/>
              </a:lnSpc>
              <a:buNone/>
            </a:pPr>
            <a:r>
              <a:rPr lang="en-US" sz="1100" dirty="0">
                <a:solidFill>
                  <a:srgbClr val="9FE6C8"/>
                </a:solidFill>
                <a:latin typeface="Courier New" pitchFamily="34" charset="0"/>
                <a:ea typeface="Courier New" pitchFamily="34" charset="-122"/>
                <a:cs typeface="Courier New" pitchFamily="34" charset="-120"/>
              </a:rPr>
              <a:t>codesach.duckdns.org {</a:t>
            </a:r>
            <a:endParaRPr lang="en-US" sz="1100" dirty="0"/>
          </a:p>
          <a:p>
            <a:pPr indent="0" marL="0">
              <a:lnSpc>
                <a:spcPct val="125000"/>
              </a:lnSpc>
              <a:buNone/>
            </a:pPr>
            <a:r>
              <a:rPr lang="en-US" sz="1100" dirty="0">
                <a:solidFill>
                  <a:srgbClr val="9FE6C8"/>
                </a:solidFill>
                <a:latin typeface="Courier New" pitchFamily="34" charset="0"/>
                <a:ea typeface="Courier New" pitchFamily="34" charset="-122"/>
                <a:cs typeface="Courier New" pitchFamily="34" charset="-120"/>
              </a:rPr>
              <a:t>  reverse_proxy backend:5000</a:t>
            </a:r>
            <a:endParaRPr lang="en-US" sz="1100" dirty="0"/>
          </a:p>
          <a:p>
            <a:pPr indent="0" marL="0">
              <a:lnSpc>
                <a:spcPct val="125000"/>
              </a:lnSpc>
              <a:buNone/>
            </a:pPr>
            <a:r>
              <a:rPr lang="en-US" sz="1100" dirty="0">
                <a:solidFill>
                  <a:srgbClr val="9FE6C8"/>
                </a:solidFill>
                <a:latin typeface="Courier New" pitchFamily="34" charset="0"/>
                <a:ea typeface="Courier New" pitchFamily="34" charset="-122"/>
                <a:cs typeface="Courier New" pitchFamily="34" charset="-120"/>
              </a:rPr>
              <a:t>  encode gzip</a:t>
            </a:r>
            <a:endParaRPr lang="en-US" sz="1100" dirty="0"/>
          </a:p>
          <a:p>
            <a:pPr indent="0" marL="0">
              <a:lnSpc>
                <a:spcPct val="125000"/>
              </a:lnSpc>
              <a:buNone/>
            </a:pPr>
            <a:r>
              <a:rPr lang="en-US" sz="1100" dirty="0">
                <a:solidFill>
                  <a:srgbClr val="9FE6C8"/>
                </a:solidFill>
                <a:latin typeface="Courier New" pitchFamily="34" charset="0"/>
                <a:ea typeface="Courier New" pitchFamily="34" charset="-122"/>
                <a:cs typeface="Courier New" pitchFamily="34" charset="-120"/>
              </a:rPr>
              <a:t>}</a:t>
            </a:r>
            <a:endParaRPr lang="en-US" sz="1100" dirty="0"/>
          </a:p>
        </p:txBody>
      </p:sp>
      <p:sp>
        <p:nvSpPr>
          <p:cNvPr id="27" name="Shape 25"/>
          <p:cNvSpPr/>
          <p:nvPr/>
        </p:nvSpPr>
        <p:spPr>
          <a:xfrm>
            <a:off x="5943600" y="4160520"/>
            <a:ext cx="5532120" cy="1554480"/>
          </a:xfrm>
          <a:prstGeom prst="roundRect">
            <a:avLst>
              <a:gd name="adj" fmla="val 4706"/>
            </a:avLst>
          </a:prstGeom>
          <a:solidFill>
            <a:srgbClr val="17203A"/>
          </a:solidFill>
          <a:ln/>
        </p:spPr>
      </p:sp>
      <p:sp>
        <p:nvSpPr>
          <p:cNvPr id="28" name="Text 26"/>
          <p:cNvSpPr/>
          <p:nvPr/>
        </p:nvSpPr>
        <p:spPr>
          <a:xfrm>
            <a:off x="6217920" y="4160520"/>
            <a:ext cx="5029200" cy="1554480"/>
          </a:xfrm>
          <a:prstGeom prst="rect">
            <a:avLst/>
          </a:prstGeom>
          <a:noFill/>
          <a:ln/>
        </p:spPr>
        <p:txBody>
          <a:bodyPr wrap="square" rtlCol="0" anchor="ctr"/>
          <a:lstStyle/>
          <a:p>
            <a:pPr indent="0" marL="0">
              <a:lnSpc>
                <a:spcPct val="125000"/>
              </a:lnSpc>
              <a:buNone/>
            </a:pPr>
            <a:r>
              <a:rPr lang="en-US" sz="1150" dirty="0">
                <a:solidFill>
                  <a:srgbClr val="E8EEF2"/>
                </a:solidFill>
                <a:latin typeface="Calibri" pitchFamily="34" charset="0"/>
                <a:ea typeface="Calibri" pitchFamily="34" charset="-122"/>
                <a:cs typeface="Calibri" pitchFamily="34" charset="-120"/>
              </a:rPr>
              <a:t>Deployed today: single EC2 + Docker Compose (cost-effective for current load). Kubernetes manifests are already written, enabling a low-friction migration to Amazon EKS for horizontal auto-scaling.</a:t>
            </a:r>
            <a:endParaRPr lang="en-US" sz="1150" dirty="0"/>
          </a:p>
        </p:txBody>
      </p:sp>
      <p:sp>
        <p:nvSpPr>
          <p:cNvPr id="29" name="Text 27"/>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065A82"/>
                </a:solidFill>
                <a:latin typeface="Calibri" pitchFamily="34" charset="0"/>
                <a:ea typeface="Calibri" pitchFamily="34" charset="-122"/>
                <a:cs typeface="Calibri" pitchFamily="34" charset="-120"/>
              </a:rPr>
              <a:t>DATA STRUCTURES &amp; ALGORITHMS</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Data Structures Behind the Platform</a:t>
            </a:r>
            <a:endParaRPr lang="en-US" sz="2800" dirty="0"/>
          </a:p>
        </p:txBody>
      </p:sp>
      <p:sp>
        <p:nvSpPr>
          <p:cNvPr id="4" name="Shape 2"/>
          <p:cNvSpPr/>
          <p:nvPr/>
        </p:nvSpPr>
        <p:spPr>
          <a:xfrm>
            <a:off x="548640" y="1417320"/>
            <a:ext cx="3520440" cy="2103120"/>
          </a:xfrm>
          <a:prstGeom prst="roundRect">
            <a:avLst>
              <a:gd name="adj" fmla="val 3913"/>
            </a:avLst>
          </a:prstGeom>
          <a:solidFill>
            <a:srgbClr val="F4F8FA"/>
          </a:solidFill>
          <a:ln w="12700">
            <a:solidFill>
              <a:srgbClr val="D9E3E8"/>
            </a:solidFill>
            <a:prstDash val="solid"/>
          </a:ln>
        </p:spPr>
      </p:sp>
      <p:sp>
        <p:nvSpPr>
          <p:cNvPr id="5" name="Shape 3"/>
          <p:cNvSpPr/>
          <p:nvPr/>
        </p:nvSpPr>
        <p:spPr>
          <a:xfrm>
            <a:off x="777240" y="1645920"/>
            <a:ext cx="457200" cy="457200"/>
          </a:xfrm>
          <a:prstGeom prst="ellipse">
            <a:avLst/>
          </a:prstGeom>
          <a:solidFill>
            <a:srgbClr val="065A82"/>
          </a:solidFill>
          <a:ln/>
        </p:spPr>
      </p:sp>
      <p:sp>
        <p:nvSpPr>
          <p:cNvPr id="6" name="Text 4"/>
          <p:cNvSpPr/>
          <p:nvPr/>
        </p:nvSpPr>
        <p:spPr>
          <a:xfrm>
            <a:off x="1371600" y="1645920"/>
            <a:ext cx="2514600" cy="457200"/>
          </a:xfrm>
          <a:prstGeom prst="rect">
            <a:avLst/>
          </a:prstGeom>
          <a:noFill/>
          <a:ln/>
        </p:spPr>
        <p:txBody>
          <a:bodyPr wrap="square" rtlCol="0" anchor="ctr"/>
          <a:lstStyle/>
          <a:p>
            <a:pPr indent="0" marL="0">
              <a:buNone/>
            </a:pPr>
            <a:r>
              <a:rPr lang="en-US" sz="1350" b="1" dirty="0">
                <a:solidFill>
                  <a:srgbClr val="16232E"/>
                </a:solidFill>
                <a:latin typeface="Arial" pitchFamily="34" charset="0"/>
                <a:ea typeface="Arial" pitchFamily="34" charset="-122"/>
                <a:cs typeface="Arial" pitchFamily="34" charset="-120"/>
              </a:rPr>
              <a:t>Hash Map</a:t>
            </a:r>
            <a:endParaRPr lang="en-US" sz="1350" dirty="0"/>
          </a:p>
        </p:txBody>
      </p:sp>
      <p:sp>
        <p:nvSpPr>
          <p:cNvPr id="7" name="Text 5"/>
          <p:cNvSpPr/>
          <p:nvPr/>
        </p:nvSpPr>
        <p:spPr>
          <a:xfrm>
            <a:off x="777240" y="2258568"/>
            <a:ext cx="3063240" cy="1097280"/>
          </a:xfrm>
          <a:prstGeom prst="rect">
            <a:avLst/>
          </a:prstGeom>
          <a:noFill/>
          <a:ln/>
        </p:spPr>
        <p:txBody>
          <a:bodyPr wrap="square" rtlCol="0" anchor="ctr"/>
          <a:lstStyle/>
          <a:p>
            <a:pPr indent="0" marL="0">
              <a:lnSpc>
                <a:spcPct val="120000"/>
              </a:lnSpc>
              <a:buNone/>
            </a:pPr>
            <a:r>
              <a:rPr lang="en-US" sz="1100" dirty="0">
                <a:solidFill>
                  <a:srgbClr val="5B6B7A"/>
                </a:solidFill>
                <a:latin typeface="Calibri" pitchFamily="34" charset="0"/>
                <a:ea typeface="Calibri" pitchFamily="34" charset="-122"/>
                <a:cs typeface="Calibri" pitchFamily="34" charset="-120"/>
              </a:rPr>
              <a:t>JWT verification, user lookup, and session management use O(1) key-based access.</a:t>
            </a:r>
            <a:endParaRPr lang="en-US" sz="1100" dirty="0"/>
          </a:p>
        </p:txBody>
      </p:sp>
      <p:sp>
        <p:nvSpPr>
          <p:cNvPr id="8" name="Shape 6"/>
          <p:cNvSpPr/>
          <p:nvPr/>
        </p:nvSpPr>
        <p:spPr>
          <a:xfrm>
            <a:off x="4251960" y="1417320"/>
            <a:ext cx="3520440" cy="2103120"/>
          </a:xfrm>
          <a:prstGeom prst="roundRect">
            <a:avLst>
              <a:gd name="adj" fmla="val 3913"/>
            </a:avLst>
          </a:prstGeom>
          <a:solidFill>
            <a:srgbClr val="F4F8FA"/>
          </a:solidFill>
          <a:ln w="12700">
            <a:solidFill>
              <a:srgbClr val="D9E3E8"/>
            </a:solidFill>
            <a:prstDash val="solid"/>
          </a:ln>
        </p:spPr>
      </p:sp>
      <p:sp>
        <p:nvSpPr>
          <p:cNvPr id="9" name="Shape 7"/>
          <p:cNvSpPr/>
          <p:nvPr/>
        </p:nvSpPr>
        <p:spPr>
          <a:xfrm>
            <a:off x="4480560" y="1645920"/>
            <a:ext cx="457200" cy="457200"/>
          </a:xfrm>
          <a:prstGeom prst="ellipse">
            <a:avLst/>
          </a:prstGeom>
          <a:solidFill>
            <a:srgbClr val="1C7293"/>
          </a:solidFill>
          <a:ln/>
        </p:spPr>
      </p:sp>
      <p:sp>
        <p:nvSpPr>
          <p:cNvPr id="10" name="Text 8"/>
          <p:cNvSpPr/>
          <p:nvPr/>
        </p:nvSpPr>
        <p:spPr>
          <a:xfrm>
            <a:off x="5074920" y="1645920"/>
            <a:ext cx="2514600" cy="457200"/>
          </a:xfrm>
          <a:prstGeom prst="rect">
            <a:avLst/>
          </a:prstGeom>
          <a:noFill/>
          <a:ln/>
        </p:spPr>
        <p:txBody>
          <a:bodyPr wrap="square" rtlCol="0" anchor="ctr"/>
          <a:lstStyle/>
          <a:p>
            <a:pPr indent="0" marL="0">
              <a:buNone/>
            </a:pPr>
            <a:r>
              <a:rPr lang="en-US" sz="1350" b="1" dirty="0">
                <a:solidFill>
                  <a:srgbClr val="16232E"/>
                </a:solidFill>
                <a:latin typeface="Arial" pitchFamily="34" charset="0"/>
                <a:ea typeface="Arial" pitchFamily="34" charset="-122"/>
                <a:cs typeface="Arial" pitchFamily="34" charset="-120"/>
              </a:rPr>
              <a:t>Arrays</a:t>
            </a:r>
            <a:endParaRPr lang="en-US" sz="1350" dirty="0"/>
          </a:p>
        </p:txBody>
      </p:sp>
      <p:sp>
        <p:nvSpPr>
          <p:cNvPr id="11" name="Text 9"/>
          <p:cNvSpPr/>
          <p:nvPr/>
        </p:nvSpPr>
        <p:spPr>
          <a:xfrm>
            <a:off x="4480560" y="2258568"/>
            <a:ext cx="3063240" cy="1097280"/>
          </a:xfrm>
          <a:prstGeom prst="rect">
            <a:avLst/>
          </a:prstGeom>
          <a:noFill/>
          <a:ln/>
        </p:spPr>
        <p:txBody>
          <a:bodyPr wrap="square" rtlCol="0" anchor="ctr"/>
          <a:lstStyle/>
          <a:p>
            <a:pPr indent="0" marL="0">
              <a:lnSpc>
                <a:spcPct val="120000"/>
              </a:lnSpc>
              <a:buNone/>
            </a:pPr>
            <a:r>
              <a:rPr lang="en-US" sz="1100" dirty="0">
                <a:solidFill>
                  <a:srgbClr val="5B6B7A"/>
                </a:solidFill>
                <a:latin typeface="Calibri" pitchFamily="34" charset="0"/>
                <a:ea typeface="Calibri" pitchFamily="34" charset="-122"/>
                <a:cs typeface="Calibri" pitchFamily="34" charset="-120"/>
              </a:rPr>
              <a:t>Problem lists, submission history, and the supported-languages list.</a:t>
            </a:r>
            <a:endParaRPr lang="en-US" sz="1100" dirty="0"/>
          </a:p>
        </p:txBody>
      </p:sp>
      <p:sp>
        <p:nvSpPr>
          <p:cNvPr id="12" name="Shape 10"/>
          <p:cNvSpPr/>
          <p:nvPr/>
        </p:nvSpPr>
        <p:spPr>
          <a:xfrm>
            <a:off x="7955280" y="1417320"/>
            <a:ext cx="3520440" cy="2103120"/>
          </a:xfrm>
          <a:prstGeom prst="roundRect">
            <a:avLst>
              <a:gd name="adj" fmla="val 3913"/>
            </a:avLst>
          </a:prstGeom>
          <a:solidFill>
            <a:srgbClr val="F4F8FA"/>
          </a:solidFill>
          <a:ln w="12700">
            <a:solidFill>
              <a:srgbClr val="D9E3E8"/>
            </a:solidFill>
            <a:prstDash val="solid"/>
          </a:ln>
        </p:spPr>
      </p:sp>
      <p:sp>
        <p:nvSpPr>
          <p:cNvPr id="13" name="Shape 11"/>
          <p:cNvSpPr/>
          <p:nvPr/>
        </p:nvSpPr>
        <p:spPr>
          <a:xfrm>
            <a:off x="8183880" y="1645920"/>
            <a:ext cx="457200" cy="457200"/>
          </a:xfrm>
          <a:prstGeom prst="ellipse">
            <a:avLst/>
          </a:prstGeom>
          <a:solidFill>
            <a:srgbClr val="17203A"/>
          </a:solidFill>
          <a:ln/>
        </p:spPr>
      </p:sp>
      <p:sp>
        <p:nvSpPr>
          <p:cNvPr id="14" name="Text 12"/>
          <p:cNvSpPr/>
          <p:nvPr/>
        </p:nvSpPr>
        <p:spPr>
          <a:xfrm>
            <a:off x="8778240" y="1645920"/>
            <a:ext cx="2514600" cy="457200"/>
          </a:xfrm>
          <a:prstGeom prst="rect">
            <a:avLst/>
          </a:prstGeom>
          <a:noFill/>
          <a:ln/>
        </p:spPr>
        <p:txBody>
          <a:bodyPr wrap="square" rtlCol="0" anchor="ctr"/>
          <a:lstStyle/>
          <a:p>
            <a:pPr indent="0" marL="0">
              <a:buNone/>
            </a:pPr>
            <a:r>
              <a:rPr lang="en-US" sz="1350" b="1" dirty="0">
                <a:solidFill>
                  <a:srgbClr val="16232E"/>
                </a:solidFill>
                <a:latin typeface="Arial" pitchFamily="34" charset="0"/>
                <a:ea typeface="Arial" pitchFamily="34" charset="-122"/>
                <a:cs typeface="Arial" pitchFamily="34" charset="-120"/>
              </a:rPr>
              <a:t>Objects / JSON</a:t>
            </a:r>
            <a:endParaRPr lang="en-US" sz="1350" dirty="0"/>
          </a:p>
        </p:txBody>
      </p:sp>
      <p:sp>
        <p:nvSpPr>
          <p:cNvPr id="15" name="Text 13"/>
          <p:cNvSpPr/>
          <p:nvPr/>
        </p:nvSpPr>
        <p:spPr>
          <a:xfrm>
            <a:off x="8183880" y="2258568"/>
            <a:ext cx="3063240" cy="1097280"/>
          </a:xfrm>
          <a:prstGeom prst="rect">
            <a:avLst/>
          </a:prstGeom>
          <a:noFill/>
          <a:ln/>
        </p:spPr>
        <p:txBody>
          <a:bodyPr wrap="square" rtlCol="0" anchor="ctr"/>
          <a:lstStyle/>
          <a:p>
            <a:pPr indent="0" marL="0">
              <a:lnSpc>
                <a:spcPct val="120000"/>
              </a:lnSpc>
              <a:buNone/>
            </a:pPr>
            <a:r>
              <a:rPr lang="en-US" sz="1100" dirty="0">
                <a:solidFill>
                  <a:srgbClr val="5B6B7A"/>
                </a:solidFill>
                <a:latin typeface="Calibri" pitchFamily="34" charset="0"/>
                <a:ea typeface="Calibri" pitchFamily="34" charset="-122"/>
                <a:cs typeface="Calibri" pitchFamily="34" charset="-120"/>
              </a:rPr>
              <a:t>API response payloads on the backend and component state on the frontend.</a:t>
            </a:r>
            <a:endParaRPr lang="en-US" sz="1100" dirty="0"/>
          </a:p>
        </p:txBody>
      </p:sp>
      <p:sp>
        <p:nvSpPr>
          <p:cNvPr id="16" name="Shape 14"/>
          <p:cNvSpPr/>
          <p:nvPr/>
        </p:nvSpPr>
        <p:spPr>
          <a:xfrm>
            <a:off x="548640" y="3721608"/>
            <a:ext cx="3520440" cy="2103120"/>
          </a:xfrm>
          <a:prstGeom prst="roundRect">
            <a:avLst>
              <a:gd name="adj" fmla="val 3913"/>
            </a:avLst>
          </a:prstGeom>
          <a:solidFill>
            <a:srgbClr val="F4F8FA"/>
          </a:solidFill>
          <a:ln w="12700">
            <a:solidFill>
              <a:srgbClr val="D9E3E8"/>
            </a:solidFill>
            <a:prstDash val="solid"/>
          </a:ln>
        </p:spPr>
      </p:sp>
      <p:sp>
        <p:nvSpPr>
          <p:cNvPr id="17" name="Shape 15"/>
          <p:cNvSpPr/>
          <p:nvPr/>
        </p:nvSpPr>
        <p:spPr>
          <a:xfrm>
            <a:off x="777240" y="3950208"/>
            <a:ext cx="457200" cy="457200"/>
          </a:xfrm>
          <a:prstGeom prst="ellipse">
            <a:avLst/>
          </a:prstGeom>
          <a:solidFill>
            <a:srgbClr val="065A82"/>
          </a:solidFill>
          <a:ln/>
        </p:spPr>
      </p:sp>
      <p:sp>
        <p:nvSpPr>
          <p:cNvPr id="18" name="Text 16"/>
          <p:cNvSpPr/>
          <p:nvPr/>
        </p:nvSpPr>
        <p:spPr>
          <a:xfrm>
            <a:off x="1371600" y="3950208"/>
            <a:ext cx="2514600" cy="457200"/>
          </a:xfrm>
          <a:prstGeom prst="rect">
            <a:avLst/>
          </a:prstGeom>
          <a:noFill/>
          <a:ln/>
        </p:spPr>
        <p:txBody>
          <a:bodyPr wrap="square" rtlCol="0" anchor="ctr"/>
          <a:lstStyle/>
          <a:p>
            <a:pPr indent="0" marL="0">
              <a:buNone/>
            </a:pPr>
            <a:r>
              <a:rPr lang="en-US" sz="1350" b="1" dirty="0">
                <a:solidFill>
                  <a:srgbClr val="16232E"/>
                </a:solidFill>
                <a:latin typeface="Arial" pitchFamily="34" charset="0"/>
                <a:ea typeface="Arial" pitchFamily="34" charset="-122"/>
                <a:cs typeface="Arial" pitchFamily="34" charset="-120"/>
              </a:rPr>
              <a:t>Queue</a:t>
            </a:r>
            <a:endParaRPr lang="en-US" sz="1350" dirty="0"/>
          </a:p>
        </p:txBody>
      </p:sp>
      <p:sp>
        <p:nvSpPr>
          <p:cNvPr id="19" name="Text 17"/>
          <p:cNvSpPr/>
          <p:nvPr/>
        </p:nvSpPr>
        <p:spPr>
          <a:xfrm>
            <a:off x="777240" y="4562856"/>
            <a:ext cx="3063240" cy="1097280"/>
          </a:xfrm>
          <a:prstGeom prst="rect">
            <a:avLst/>
          </a:prstGeom>
          <a:noFill/>
          <a:ln/>
        </p:spPr>
        <p:txBody>
          <a:bodyPr wrap="square" rtlCol="0" anchor="ctr"/>
          <a:lstStyle/>
          <a:p>
            <a:pPr indent="0" marL="0">
              <a:lnSpc>
                <a:spcPct val="120000"/>
              </a:lnSpc>
              <a:buNone/>
            </a:pPr>
            <a:r>
              <a:rPr lang="en-US" sz="1100" dirty="0">
                <a:solidFill>
                  <a:srgbClr val="5B6B7A"/>
                </a:solidFill>
                <a:latin typeface="Calibri" pitchFamily="34" charset="0"/>
                <a:ea typeface="Calibri" pitchFamily="34" charset="-122"/>
                <a:cs typeface="Calibri" pitchFamily="34" charset="-120"/>
              </a:rPr>
              <a:t>Judge0 schedules compilation and execution requests in FIFO order internally.</a:t>
            </a:r>
            <a:endParaRPr lang="en-US" sz="1100" dirty="0"/>
          </a:p>
        </p:txBody>
      </p:sp>
      <p:sp>
        <p:nvSpPr>
          <p:cNvPr id="20" name="Shape 18"/>
          <p:cNvSpPr/>
          <p:nvPr/>
        </p:nvSpPr>
        <p:spPr>
          <a:xfrm>
            <a:off x="4251960" y="3721608"/>
            <a:ext cx="3520440" cy="2103120"/>
          </a:xfrm>
          <a:prstGeom prst="roundRect">
            <a:avLst>
              <a:gd name="adj" fmla="val 3913"/>
            </a:avLst>
          </a:prstGeom>
          <a:solidFill>
            <a:srgbClr val="F4F8FA"/>
          </a:solidFill>
          <a:ln w="12700">
            <a:solidFill>
              <a:srgbClr val="D9E3E8"/>
            </a:solidFill>
            <a:prstDash val="solid"/>
          </a:ln>
        </p:spPr>
      </p:sp>
      <p:sp>
        <p:nvSpPr>
          <p:cNvPr id="21" name="Shape 19"/>
          <p:cNvSpPr/>
          <p:nvPr/>
        </p:nvSpPr>
        <p:spPr>
          <a:xfrm>
            <a:off x="4480560" y="3950208"/>
            <a:ext cx="457200" cy="457200"/>
          </a:xfrm>
          <a:prstGeom prst="ellipse">
            <a:avLst/>
          </a:prstGeom>
          <a:solidFill>
            <a:srgbClr val="1C7293"/>
          </a:solidFill>
          <a:ln/>
        </p:spPr>
      </p:sp>
      <p:sp>
        <p:nvSpPr>
          <p:cNvPr id="22" name="Text 20"/>
          <p:cNvSpPr/>
          <p:nvPr/>
        </p:nvSpPr>
        <p:spPr>
          <a:xfrm>
            <a:off x="5074920" y="3950208"/>
            <a:ext cx="2514600" cy="457200"/>
          </a:xfrm>
          <a:prstGeom prst="rect">
            <a:avLst/>
          </a:prstGeom>
          <a:noFill/>
          <a:ln/>
        </p:spPr>
        <p:txBody>
          <a:bodyPr wrap="square" rtlCol="0" anchor="ctr"/>
          <a:lstStyle/>
          <a:p>
            <a:pPr indent="0" marL="0">
              <a:buNone/>
            </a:pPr>
            <a:r>
              <a:rPr lang="en-US" sz="1350" b="1" dirty="0">
                <a:solidFill>
                  <a:srgbClr val="16232E"/>
                </a:solidFill>
                <a:latin typeface="Arial" pitchFamily="34" charset="0"/>
                <a:ea typeface="Arial" pitchFamily="34" charset="-122"/>
                <a:cs typeface="Arial" pitchFamily="34" charset="-120"/>
              </a:rPr>
              <a:t>Trees</a:t>
            </a:r>
            <a:endParaRPr lang="en-US" sz="1350" dirty="0"/>
          </a:p>
        </p:txBody>
      </p:sp>
      <p:sp>
        <p:nvSpPr>
          <p:cNvPr id="23" name="Text 21"/>
          <p:cNvSpPr/>
          <p:nvPr/>
        </p:nvSpPr>
        <p:spPr>
          <a:xfrm>
            <a:off x="4480560" y="4562856"/>
            <a:ext cx="3063240" cy="1097280"/>
          </a:xfrm>
          <a:prstGeom prst="rect">
            <a:avLst/>
          </a:prstGeom>
          <a:noFill/>
          <a:ln/>
        </p:spPr>
        <p:txBody>
          <a:bodyPr wrap="square" rtlCol="0" anchor="ctr"/>
          <a:lstStyle/>
          <a:p>
            <a:pPr indent="0" marL="0">
              <a:lnSpc>
                <a:spcPct val="120000"/>
              </a:lnSpc>
              <a:buNone/>
            </a:pPr>
            <a:r>
              <a:rPr lang="en-US" sz="1100" dirty="0">
                <a:solidFill>
                  <a:srgbClr val="5B6B7A"/>
                </a:solidFill>
                <a:latin typeface="Calibri" pitchFamily="34" charset="0"/>
                <a:ea typeface="Calibri" pitchFamily="34" charset="-122"/>
                <a:cs typeface="Calibri" pitchFamily="34" charset="-120"/>
              </a:rPr>
              <a:t>The React component tree and the browser DOM tree structure the entire UI.</a:t>
            </a:r>
            <a:endParaRPr lang="en-US" sz="1100" dirty="0"/>
          </a:p>
        </p:txBody>
      </p:sp>
      <p:sp>
        <p:nvSpPr>
          <p:cNvPr id="24" name="Shape 22"/>
          <p:cNvSpPr/>
          <p:nvPr/>
        </p:nvSpPr>
        <p:spPr>
          <a:xfrm>
            <a:off x="7955280" y="3721608"/>
            <a:ext cx="3520440" cy="2103120"/>
          </a:xfrm>
          <a:prstGeom prst="roundRect">
            <a:avLst>
              <a:gd name="adj" fmla="val 3913"/>
            </a:avLst>
          </a:prstGeom>
          <a:solidFill>
            <a:srgbClr val="F4F8FA"/>
          </a:solidFill>
          <a:ln w="12700">
            <a:solidFill>
              <a:srgbClr val="D9E3E8"/>
            </a:solidFill>
            <a:prstDash val="solid"/>
          </a:ln>
        </p:spPr>
      </p:sp>
      <p:sp>
        <p:nvSpPr>
          <p:cNvPr id="25" name="Shape 23"/>
          <p:cNvSpPr/>
          <p:nvPr/>
        </p:nvSpPr>
        <p:spPr>
          <a:xfrm>
            <a:off x="8183880" y="3950208"/>
            <a:ext cx="457200" cy="457200"/>
          </a:xfrm>
          <a:prstGeom prst="ellipse">
            <a:avLst/>
          </a:prstGeom>
          <a:solidFill>
            <a:srgbClr val="17203A"/>
          </a:solidFill>
          <a:ln/>
        </p:spPr>
      </p:sp>
      <p:sp>
        <p:nvSpPr>
          <p:cNvPr id="26" name="Text 24"/>
          <p:cNvSpPr/>
          <p:nvPr/>
        </p:nvSpPr>
        <p:spPr>
          <a:xfrm>
            <a:off x="8778240" y="3950208"/>
            <a:ext cx="2514600" cy="457200"/>
          </a:xfrm>
          <a:prstGeom prst="rect">
            <a:avLst/>
          </a:prstGeom>
          <a:noFill/>
          <a:ln/>
        </p:spPr>
        <p:txBody>
          <a:bodyPr wrap="square" rtlCol="0" anchor="ctr"/>
          <a:lstStyle/>
          <a:p>
            <a:pPr indent="0" marL="0">
              <a:buNone/>
            </a:pPr>
            <a:r>
              <a:rPr lang="en-US" sz="1350" b="1" dirty="0">
                <a:solidFill>
                  <a:srgbClr val="16232E"/>
                </a:solidFill>
                <a:latin typeface="Arial" pitchFamily="34" charset="0"/>
                <a:ea typeface="Arial" pitchFamily="34" charset="-122"/>
                <a:cs typeface="Arial" pitchFamily="34" charset="-120"/>
              </a:rPr>
              <a:t>Graph</a:t>
            </a:r>
            <a:endParaRPr lang="en-US" sz="1350" dirty="0"/>
          </a:p>
        </p:txBody>
      </p:sp>
      <p:sp>
        <p:nvSpPr>
          <p:cNvPr id="27" name="Text 25"/>
          <p:cNvSpPr/>
          <p:nvPr/>
        </p:nvSpPr>
        <p:spPr>
          <a:xfrm>
            <a:off x="8183880" y="4562856"/>
            <a:ext cx="3063240" cy="1097280"/>
          </a:xfrm>
          <a:prstGeom prst="rect">
            <a:avLst/>
          </a:prstGeom>
          <a:noFill/>
          <a:ln/>
        </p:spPr>
        <p:txBody>
          <a:bodyPr wrap="square" rtlCol="0" anchor="ctr"/>
          <a:lstStyle/>
          <a:p>
            <a:pPr indent="0" marL="0">
              <a:lnSpc>
                <a:spcPct val="120000"/>
              </a:lnSpc>
              <a:buNone/>
            </a:pPr>
            <a:r>
              <a:rPr lang="en-US" sz="1100" dirty="0">
                <a:solidFill>
                  <a:srgbClr val="5B6B7A"/>
                </a:solidFill>
                <a:latin typeface="Calibri" pitchFamily="34" charset="0"/>
                <a:ea typeface="Calibri" pitchFamily="34" charset="-122"/>
                <a:cs typeface="Calibri" pitchFamily="34" charset="-120"/>
              </a:rPr>
              <a:t>The GitHub Actions workflow is a dependency graph of sequential/parallel CI/CD jobs.</a:t>
            </a:r>
            <a:endParaRPr lang="en-US" sz="1100" dirty="0"/>
          </a:p>
        </p:txBody>
      </p:sp>
      <p:sp>
        <p:nvSpPr>
          <p:cNvPr id="28" name="Text 26"/>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065A82"/>
                </a:solidFill>
                <a:latin typeface="Calibri" pitchFamily="34" charset="0"/>
                <a:ea typeface="Calibri" pitchFamily="34" charset="-122"/>
                <a:cs typeface="Calibri" pitchFamily="34" charset="-120"/>
              </a:rPr>
              <a:t>DATA STRUCTURES &amp; ALGORITHMS</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Algorithms in Everyday Operation</a:t>
            </a:r>
            <a:endParaRPr lang="en-US" sz="2800" dirty="0"/>
          </a:p>
        </p:txBody>
      </p:sp>
      <p:sp>
        <p:nvSpPr>
          <p:cNvPr id="4" name="Shape 2"/>
          <p:cNvSpPr/>
          <p:nvPr/>
        </p:nvSpPr>
        <p:spPr>
          <a:xfrm>
            <a:off x="548640" y="1463040"/>
            <a:ext cx="10881360" cy="777240"/>
          </a:xfrm>
          <a:prstGeom prst="roundRect">
            <a:avLst>
              <a:gd name="adj" fmla="val 8235"/>
            </a:avLst>
          </a:prstGeom>
          <a:solidFill>
            <a:srgbClr val="FFFFFF"/>
          </a:solidFill>
          <a:ln w="12700">
            <a:solidFill>
              <a:srgbClr val="D9E3E8"/>
            </a:solidFill>
            <a:prstDash val="solid"/>
          </a:ln>
        </p:spPr>
      </p:sp>
      <p:sp>
        <p:nvSpPr>
          <p:cNvPr id="5" name="Shape 3"/>
          <p:cNvSpPr/>
          <p:nvPr/>
        </p:nvSpPr>
        <p:spPr>
          <a:xfrm>
            <a:off x="548640" y="1463040"/>
            <a:ext cx="73152" cy="777240"/>
          </a:xfrm>
          <a:prstGeom prst="rect">
            <a:avLst/>
          </a:prstGeom>
          <a:solidFill>
            <a:srgbClr val="065A82"/>
          </a:solidFill>
          <a:ln/>
        </p:spPr>
      </p:sp>
      <p:sp>
        <p:nvSpPr>
          <p:cNvPr id="6" name="Text 4"/>
          <p:cNvSpPr/>
          <p:nvPr/>
        </p:nvSpPr>
        <p:spPr>
          <a:xfrm>
            <a:off x="868680" y="1463040"/>
            <a:ext cx="2834640" cy="777240"/>
          </a:xfrm>
          <a:prstGeom prst="rect">
            <a:avLst/>
          </a:prstGeom>
          <a:noFill/>
          <a:ln/>
        </p:spPr>
        <p:txBody>
          <a:bodyPr wrap="square" rtlCol="0" anchor="ctr"/>
          <a:lstStyle/>
          <a:p>
            <a:pPr indent="0" marL="0">
              <a:buNone/>
            </a:pPr>
            <a:r>
              <a:rPr lang="en-US" sz="1400" b="1" dirty="0">
                <a:solidFill>
                  <a:srgbClr val="065A82"/>
                </a:solidFill>
                <a:latin typeface="Arial" pitchFamily="34" charset="0"/>
                <a:ea typeface="Arial" pitchFamily="34" charset="-122"/>
                <a:cs typeface="Arial" pitchFamily="34" charset="-120"/>
              </a:rPr>
              <a:t>Auth Flow</a:t>
            </a:r>
            <a:endParaRPr lang="en-US" sz="1400" dirty="0"/>
          </a:p>
        </p:txBody>
      </p:sp>
      <p:sp>
        <p:nvSpPr>
          <p:cNvPr id="7" name="Text 5"/>
          <p:cNvSpPr/>
          <p:nvPr/>
        </p:nvSpPr>
        <p:spPr>
          <a:xfrm>
            <a:off x="3794760" y="1463040"/>
            <a:ext cx="7452360" cy="77724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OAuth authorization algorithm + JWT signing/verification for password-less login.</a:t>
            </a:r>
            <a:endParaRPr lang="en-US" sz="1200" dirty="0"/>
          </a:p>
        </p:txBody>
      </p:sp>
      <p:sp>
        <p:nvSpPr>
          <p:cNvPr id="8" name="Shape 6"/>
          <p:cNvSpPr/>
          <p:nvPr/>
        </p:nvSpPr>
        <p:spPr>
          <a:xfrm>
            <a:off x="548640" y="2359152"/>
            <a:ext cx="10881360" cy="777240"/>
          </a:xfrm>
          <a:prstGeom prst="roundRect">
            <a:avLst>
              <a:gd name="adj" fmla="val 8235"/>
            </a:avLst>
          </a:prstGeom>
          <a:solidFill>
            <a:srgbClr val="FFFFFF"/>
          </a:solidFill>
          <a:ln w="12700">
            <a:solidFill>
              <a:srgbClr val="D9E3E8"/>
            </a:solidFill>
            <a:prstDash val="solid"/>
          </a:ln>
        </p:spPr>
      </p:sp>
      <p:sp>
        <p:nvSpPr>
          <p:cNvPr id="9" name="Shape 7"/>
          <p:cNvSpPr/>
          <p:nvPr/>
        </p:nvSpPr>
        <p:spPr>
          <a:xfrm>
            <a:off x="548640" y="2359152"/>
            <a:ext cx="73152" cy="777240"/>
          </a:xfrm>
          <a:prstGeom prst="rect">
            <a:avLst/>
          </a:prstGeom>
          <a:solidFill>
            <a:srgbClr val="1C7293"/>
          </a:solidFill>
          <a:ln/>
        </p:spPr>
      </p:sp>
      <p:sp>
        <p:nvSpPr>
          <p:cNvPr id="10" name="Text 8"/>
          <p:cNvSpPr/>
          <p:nvPr/>
        </p:nvSpPr>
        <p:spPr>
          <a:xfrm>
            <a:off x="868680" y="2359152"/>
            <a:ext cx="2834640" cy="777240"/>
          </a:xfrm>
          <a:prstGeom prst="rect">
            <a:avLst/>
          </a:prstGeom>
          <a:noFill/>
          <a:ln/>
        </p:spPr>
        <p:txBody>
          <a:bodyPr wrap="square" rtlCol="0" anchor="ctr"/>
          <a:lstStyle/>
          <a:p>
            <a:pPr indent="0" marL="0">
              <a:buNone/>
            </a:pPr>
            <a:r>
              <a:rPr lang="en-US" sz="1400" b="1" dirty="0">
                <a:solidFill>
                  <a:srgbClr val="1C7293"/>
                </a:solidFill>
                <a:latin typeface="Arial" pitchFamily="34" charset="0"/>
                <a:ea typeface="Arial" pitchFamily="34" charset="-122"/>
                <a:cs typeface="Arial" pitchFamily="34" charset="-120"/>
              </a:rPr>
              <a:t>Request Routing</a:t>
            </a:r>
            <a:endParaRPr lang="en-US" sz="1400" dirty="0"/>
          </a:p>
        </p:txBody>
      </p:sp>
      <p:sp>
        <p:nvSpPr>
          <p:cNvPr id="11" name="Text 9"/>
          <p:cNvSpPr/>
          <p:nvPr/>
        </p:nvSpPr>
        <p:spPr>
          <a:xfrm>
            <a:off x="3794760" y="2359152"/>
            <a:ext cx="7452360" cy="77724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Express matches routes and chains middleware in a defined execution order.</a:t>
            </a:r>
            <a:endParaRPr lang="en-US" sz="1200" dirty="0"/>
          </a:p>
        </p:txBody>
      </p:sp>
      <p:sp>
        <p:nvSpPr>
          <p:cNvPr id="12" name="Shape 10"/>
          <p:cNvSpPr/>
          <p:nvPr/>
        </p:nvSpPr>
        <p:spPr>
          <a:xfrm>
            <a:off x="548640" y="3255264"/>
            <a:ext cx="10881360" cy="777240"/>
          </a:xfrm>
          <a:prstGeom prst="roundRect">
            <a:avLst>
              <a:gd name="adj" fmla="val 8235"/>
            </a:avLst>
          </a:prstGeom>
          <a:solidFill>
            <a:srgbClr val="FFFFFF"/>
          </a:solidFill>
          <a:ln w="12700">
            <a:solidFill>
              <a:srgbClr val="D9E3E8"/>
            </a:solidFill>
            <a:prstDash val="solid"/>
          </a:ln>
        </p:spPr>
      </p:sp>
      <p:sp>
        <p:nvSpPr>
          <p:cNvPr id="13" name="Shape 11"/>
          <p:cNvSpPr/>
          <p:nvPr/>
        </p:nvSpPr>
        <p:spPr>
          <a:xfrm>
            <a:off x="548640" y="3255264"/>
            <a:ext cx="73152" cy="777240"/>
          </a:xfrm>
          <a:prstGeom prst="rect">
            <a:avLst/>
          </a:prstGeom>
          <a:solidFill>
            <a:srgbClr val="17203A"/>
          </a:solidFill>
          <a:ln/>
        </p:spPr>
      </p:sp>
      <p:sp>
        <p:nvSpPr>
          <p:cNvPr id="14" name="Text 12"/>
          <p:cNvSpPr/>
          <p:nvPr/>
        </p:nvSpPr>
        <p:spPr>
          <a:xfrm>
            <a:off x="868680" y="3255264"/>
            <a:ext cx="2834640" cy="777240"/>
          </a:xfrm>
          <a:prstGeom prst="rect">
            <a:avLst/>
          </a:prstGeom>
          <a:noFill/>
          <a:ln/>
        </p:spPr>
        <p:txBody>
          <a:bodyPr wrap="square" rtlCol="0" anchor="ctr"/>
          <a:lstStyle/>
          <a:p>
            <a:pPr indent="0" marL="0">
              <a:buNone/>
            </a:pPr>
            <a:r>
              <a:rPr lang="en-US" sz="1400" b="1" dirty="0">
                <a:solidFill>
                  <a:srgbClr val="17203A"/>
                </a:solidFill>
                <a:latin typeface="Arial" pitchFamily="34" charset="0"/>
                <a:ea typeface="Arial" pitchFamily="34" charset="-122"/>
                <a:cs typeface="Arial" pitchFamily="34" charset="-120"/>
              </a:rPr>
              <a:t>CRUD + Query</a:t>
            </a:r>
            <a:endParaRPr lang="en-US" sz="1400" dirty="0"/>
          </a:p>
        </p:txBody>
      </p:sp>
      <p:sp>
        <p:nvSpPr>
          <p:cNvPr id="15" name="Text 13"/>
          <p:cNvSpPr/>
          <p:nvPr/>
        </p:nvSpPr>
        <p:spPr>
          <a:xfrm>
            <a:off x="3794760" y="3255264"/>
            <a:ext cx="7452360" cy="77724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Filtering, searching, and sorting operations over MongoDB collections.</a:t>
            </a:r>
            <a:endParaRPr lang="en-US" sz="1200" dirty="0"/>
          </a:p>
        </p:txBody>
      </p:sp>
      <p:sp>
        <p:nvSpPr>
          <p:cNvPr id="16" name="Shape 14"/>
          <p:cNvSpPr/>
          <p:nvPr/>
        </p:nvSpPr>
        <p:spPr>
          <a:xfrm>
            <a:off x="548640" y="4151376"/>
            <a:ext cx="10881360" cy="777240"/>
          </a:xfrm>
          <a:prstGeom prst="roundRect">
            <a:avLst>
              <a:gd name="adj" fmla="val 8235"/>
            </a:avLst>
          </a:prstGeom>
          <a:solidFill>
            <a:srgbClr val="FFFFFF"/>
          </a:solidFill>
          <a:ln w="12700">
            <a:solidFill>
              <a:srgbClr val="D9E3E8"/>
            </a:solidFill>
            <a:prstDash val="solid"/>
          </a:ln>
        </p:spPr>
      </p:sp>
      <p:sp>
        <p:nvSpPr>
          <p:cNvPr id="17" name="Shape 15"/>
          <p:cNvSpPr/>
          <p:nvPr/>
        </p:nvSpPr>
        <p:spPr>
          <a:xfrm>
            <a:off x="548640" y="4151376"/>
            <a:ext cx="73152" cy="777240"/>
          </a:xfrm>
          <a:prstGeom prst="rect">
            <a:avLst/>
          </a:prstGeom>
          <a:solidFill>
            <a:srgbClr val="065A82"/>
          </a:solidFill>
          <a:ln/>
        </p:spPr>
      </p:sp>
      <p:sp>
        <p:nvSpPr>
          <p:cNvPr id="18" name="Text 16"/>
          <p:cNvSpPr/>
          <p:nvPr/>
        </p:nvSpPr>
        <p:spPr>
          <a:xfrm>
            <a:off x="868680" y="4151376"/>
            <a:ext cx="2834640" cy="777240"/>
          </a:xfrm>
          <a:prstGeom prst="rect">
            <a:avLst/>
          </a:prstGeom>
          <a:noFill/>
          <a:ln/>
        </p:spPr>
        <p:txBody>
          <a:bodyPr wrap="square" rtlCol="0" anchor="ctr"/>
          <a:lstStyle/>
          <a:p>
            <a:pPr indent="0" marL="0">
              <a:buNone/>
            </a:pPr>
            <a:r>
              <a:rPr lang="en-US" sz="1400" b="1" dirty="0">
                <a:solidFill>
                  <a:srgbClr val="065A82"/>
                </a:solidFill>
                <a:latin typeface="Arial" pitchFamily="34" charset="0"/>
                <a:ea typeface="Arial" pitchFamily="34" charset="-122"/>
                <a:cs typeface="Arial" pitchFamily="34" charset="-120"/>
              </a:rPr>
              <a:t>Pipeline Execution</a:t>
            </a:r>
            <a:endParaRPr lang="en-US" sz="1400" dirty="0"/>
          </a:p>
        </p:txBody>
      </p:sp>
      <p:sp>
        <p:nvSpPr>
          <p:cNvPr id="19" name="Text 17"/>
          <p:cNvSpPr/>
          <p:nvPr/>
        </p:nvSpPr>
        <p:spPr>
          <a:xfrm>
            <a:off x="3794760" y="4151376"/>
            <a:ext cx="7452360" cy="77724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GitHub Actions resolves job dependencies and runs steps sequentially.</a:t>
            </a:r>
            <a:endParaRPr lang="en-US" sz="1200" dirty="0"/>
          </a:p>
        </p:txBody>
      </p:sp>
      <p:sp>
        <p:nvSpPr>
          <p:cNvPr id="20" name="Shape 18"/>
          <p:cNvSpPr/>
          <p:nvPr/>
        </p:nvSpPr>
        <p:spPr>
          <a:xfrm>
            <a:off x="548640" y="5047488"/>
            <a:ext cx="10881360" cy="777240"/>
          </a:xfrm>
          <a:prstGeom prst="roundRect">
            <a:avLst>
              <a:gd name="adj" fmla="val 8235"/>
            </a:avLst>
          </a:prstGeom>
          <a:solidFill>
            <a:srgbClr val="FFFFFF"/>
          </a:solidFill>
          <a:ln w="12700">
            <a:solidFill>
              <a:srgbClr val="D9E3E8"/>
            </a:solidFill>
            <a:prstDash val="solid"/>
          </a:ln>
        </p:spPr>
      </p:sp>
      <p:sp>
        <p:nvSpPr>
          <p:cNvPr id="21" name="Shape 19"/>
          <p:cNvSpPr/>
          <p:nvPr/>
        </p:nvSpPr>
        <p:spPr>
          <a:xfrm>
            <a:off x="548640" y="5047488"/>
            <a:ext cx="73152" cy="777240"/>
          </a:xfrm>
          <a:prstGeom prst="rect">
            <a:avLst/>
          </a:prstGeom>
          <a:solidFill>
            <a:srgbClr val="1C7293"/>
          </a:solidFill>
          <a:ln/>
        </p:spPr>
      </p:sp>
      <p:sp>
        <p:nvSpPr>
          <p:cNvPr id="22" name="Text 20"/>
          <p:cNvSpPr/>
          <p:nvPr/>
        </p:nvSpPr>
        <p:spPr>
          <a:xfrm>
            <a:off x="868680" y="5047488"/>
            <a:ext cx="2834640" cy="777240"/>
          </a:xfrm>
          <a:prstGeom prst="rect">
            <a:avLst/>
          </a:prstGeom>
          <a:noFill/>
          <a:ln/>
        </p:spPr>
        <p:txBody>
          <a:bodyPr wrap="square" rtlCol="0" anchor="ctr"/>
          <a:lstStyle/>
          <a:p>
            <a:pPr indent="0" marL="0">
              <a:buNone/>
            </a:pPr>
            <a:r>
              <a:rPr lang="en-US" sz="1400" b="1" dirty="0">
                <a:solidFill>
                  <a:srgbClr val="1C7293"/>
                </a:solidFill>
                <a:latin typeface="Arial" pitchFamily="34" charset="0"/>
                <a:ea typeface="Arial" pitchFamily="34" charset="-122"/>
                <a:cs typeface="Arial" pitchFamily="34" charset="-120"/>
              </a:rPr>
              <a:t>Container Scheduling</a:t>
            </a:r>
            <a:endParaRPr lang="en-US" sz="1400" dirty="0"/>
          </a:p>
        </p:txBody>
      </p:sp>
      <p:sp>
        <p:nvSpPr>
          <p:cNvPr id="23" name="Text 21"/>
          <p:cNvSpPr/>
          <p:nvPr/>
        </p:nvSpPr>
        <p:spPr>
          <a:xfrm>
            <a:off x="3794760" y="5047488"/>
            <a:ext cx="7452360" cy="777240"/>
          </a:xfrm>
          <a:prstGeom prst="rect">
            <a:avLst/>
          </a:prstGeom>
          <a:noFill/>
          <a:ln/>
        </p:spPr>
        <p:txBody>
          <a:bodyPr wrap="square" rtlCol="0" anchor="ctr"/>
          <a:lstStyle/>
          <a:p>
            <a:pPr indent="0" marL="0">
              <a:buNone/>
            </a:pPr>
            <a:r>
              <a:rPr lang="en-US" sz="1200" dirty="0">
                <a:solidFill>
                  <a:srgbClr val="16232E"/>
                </a:solidFill>
                <a:latin typeface="Calibri" pitchFamily="34" charset="0"/>
                <a:ea typeface="Calibri" pitchFamily="34" charset="-122"/>
                <a:cs typeface="Calibri" pitchFamily="34" charset="-120"/>
              </a:rPr>
              <a:t>Kubernetes' scheduling algorithm places and balances containers across nodes.</a:t>
            </a:r>
            <a:endParaRPr lang="en-US" sz="1200" dirty="0"/>
          </a:p>
        </p:txBody>
      </p:sp>
      <p:sp>
        <p:nvSpPr>
          <p:cNvPr id="24" name="Text 22"/>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203A"/>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FFB100"/>
                </a:solidFill>
                <a:latin typeface="Calibri" pitchFamily="34" charset="0"/>
                <a:ea typeface="Calibri" pitchFamily="34" charset="-122"/>
                <a:cs typeface="Calibri" pitchFamily="34" charset="-120"/>
              </a:rPr>
              <a:t>SYNTHESIS</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One Project, Four Disciplines</a:t>
            </a:r>
            <a:endParaRPr lang="en-US" sz="2800" dirty="0"/>
          </a:p>
        </p:txBody>
      </p:sp>
      <p:sp>
        <p:nvSpPr>
          <p:cNvPr id="4" name="Shape 2"/>
          <p:cNvSpPr/>
          <p:nvPr/>
        </p:nvSpPr>
        <p:spPr>
          <a:xfrm>
            <a:off x="548640" y="1463040"/>
            <a:ext cx="5303520" cy="2103120"/>
          </a:xfrm>
          <a:prstGeom prst="roundRect">
            <a:avLst>
              <a:gd name="adj" fmla="val 4348"/>
            </a:avLst>
          </a:prstGeom>
          <a:solidFill>
            <a:srgbClr val="1F2C4D"/>
          </a:solidFill>
          <a:ln/>
        </p:spPr>
      </p:sp>
      <p:sp>
        <p:nvSpPr>
          <p:cNvPr id="5" name="Shape 3"/>
          <p:cNvSpPr/>
          <p:nvPr/>
        </p:nvSpPr>
        <p:spPr>
          <a:xfrm>
            <a:off x="822960" y="1719072"/>
            <a:ext cx="502920" cy="502920"/>
          </a:xfrm>
          <a:prstGeom prst="roundRect">
            <a:avLst>
              <a:gd name="adj" fmla="val 18182"/>
            </a:avLst>
          </a:prstGeom>
          <a:solidFill>
            <a:srgbClr val="065A82"/>
          </a:solidFill>
          <a:ln/>
        </p:spPr>
      </p:sp>
      <p:sp>
        <p:nvSpPr>
          <p:cNvPr id="6" name="Text 4"/>
          <p:cNvSpPr/>
          <p:nvPr/>
        </p:nvSpPr>
        <p:spPr>
          <a:xfrm>
            <a:off x="1508760" y="1719072"/>
            <a:ext cx="4114800" cy="5029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Web Development</a:t>
            </a:r>
            <a:endParaRPr lang="en-US" sz="1600" dirty="0"/>
          </a:p>
        </p:txBody>
      </p:sp>
      <p:sp>
        <p:nvSpPr>
          <p:cNvPr id="7" name="Text 5"/>
          <p:cNvSpPr/>
          <p:nvPr/>
        </p:nvSpPr>
        <p:spPr>
          <a:xfrm>
            <a:off x="822960" y="2331720"/>
            <a:ext cx="4754880" cy="1051560"/>
          </a:xfrm>
          <a:prstGeom prst="rect">
            <a:avLst/>
          </a:prstGeom>
          <a:noFill/>
          <a:ln/>
        </p:spPr>
        <p:txBody>
          <a:bodyPr wrap="square" rtlCol="0" anchor="ctr"/>
          <a:lstStyle/>
          <a:p>
            <a:pPr indent="0" marL="0">
              <a:lnSpc>
                <a:spcPct val="125000"/>
              </a:lnSpc>
              <a:buNone/>
            </a:pPr>
            <a:r>
              <a:rPr lang="en-US" sz="1200" dirty="0">
                <a:solidFill>
                  <a:srgbClr val="C9D8E0"/>
                </a:solidFill>
                <a:latin typeface="Calibri" pitchFamily="34" charset="0"/>
                <a:ea typeface="Calibri" pitchFamily="34" charset="-122"/>
                <a:cs typeface="Calibri" pitchFamily="34" charset="-120"/>
              </a:rPr>
              <a:t>React + Monaco editor talk to an Express API; MongoDB persists users and submissions.</a:t>
            </a:r>
            <a:endParaRPr lang="en-US" sz="1200" dirty="0"/>
          </a:p>
        </p:txBody>
      </p:sp>
      <p:sp>
        <p:nvSpPr>
          <p:cNvPr id="8" name="Shape 6"/>
          <p:cNvSpPr/>
          <p:nvPr/>
        </p:nvSpPr>
        <p:spPr>
          <a:xfrm>
            <a:off x="6172200" y="1463040"/>
            <a:ext cx="5303520" cy="2103120"/>
          </a:xfrm>
          <a:prstGeom prst="roundRect">
            <a:avLst>
              <a:gd name="adj" fmla="val 4348"/>
            </a:avLst>
          </a:prstGeom>
          <a:solidFill>
            <a:srgbClr val="1F2C4D"/>
          </a:solidFill>
          <a:ln/>
        </p:spPr>
      </p:sp>
      <p:sp>
        <p:nvSpPr>
          <p:cNvPr id="9" name="Shape 7"/>
          <p:cNvSpPr/>
          <p:nvPr/>
        </p:nvSpPr>
        <p:spPr>
          <a:xfrm>
            <a:off x="6446520" y="1719072"/>
            <a:ext cx="502920" cy="502920"/>
          </a:xfrm>
          <a:prstGeom prst="roundRect">
            <a:avLst>
              <a:gd name="adj" fmla="val 18182"/>
            </a:avLst>
          </a:prstGeom>
          <a:solidFill>
            <a:srgbClr val="1C7293"/>
          </a:solidFill>
          <a:ln/>
        </p:spPr>
      </p:sp>
      <p:sp>
        <p:nvSpPr>
          <p:cNvPr id="10" name="Text 8"/>
          <p:cNvSpPr/>
          <p:nvPr/>
        </p:nvSpPr>
        <p:spPr>
          <a:xfrm>
            <a:off x="7132320" y="1719072"/>
            <a:ext cx="4114800" cy="5029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DSA</a:t>
            </a:r>
            <a:endParaRPr lang="en-US" sz="1600" dirty="0"/>
          </a:p>
        </p:txBody>
      </p:sp>
      <p:sp>
        <p:nvSpPr>
          <p:cNvPr id="11" name="Text 9"/>
          <p:cNvSpPr/>
          <p:nvPr/>
        </p:nvSpPr>
        <p:spPr>
          <a:xfrm>
            <a:off x="6446520" y="2331720"/>
            <a:ext cx="4754880" cy="1051560"/>
          </a:xfrm>
          <a:prstGeom prst="rect">
            <a:avLst/>
          </a:prstGeom>
          <a:noFill/>
          <a:ln/>
        </p:spPr>
        <p:txBody>
          <a:bodyPr wrap="square" rtlCol="0" anchor="ctr"/>
          <a:lstStyle/>
          <a:p>
            <a:pPr indent="0" marL="0">
              <a:lnSpc>
                <a:spcPct val="125000"/>
              </a:lnSpc>
              <a:buNone/>
            </a:pPr>
            <a:r>
              <a:rPr lang="en-US" sz="1200" dirty="0">
                <a:solidFill>
                  <a:srgbClr val="C9D8E0"/>
                </a:solidFill>
                <a:latin typeface="Calibri" pitchFamily="34" charset="0"/>
                <a:ea typeface="Calibri" pitchFamily="34" charset="-122"/>
                <a:cs typeface="Calibri" pitchFamily="34" charset="-120"/>
              </a:rPr>
              <a:t>Hash maps, queues, and graphs aren't academic — they run auth, execution order, and CI/CD.</a:t>
            </a:r>
            <a:endParaRPr lang="en-US" sz="1200" dirty="0"/>
          </a:p>
        </p:txBody>
      </p:sp>
      <p:sp>
        <p:nvSpPr>
          <p:cNvPr id="12" name="Shape 10"/>
          <p:cNvSpPr/>
          <p:nvPr/>
        </p:nvSpPr>
        <p:spPr>
          <a:xfrm>
            <a:off x="548640" y="3822192"/>
            <a:ext cx="5303520" cy="2103120"/>
          </a:xfrm>
          <a:prstGeom prst="roundRect">
            <a:avLst>
              <a:gd name="adj" fmla="val 4348"/>
            </a:avLst>
          </a:prstGeom>
          <a:solidFill>
            <a:srgbClr val="1F2C4D"/>
          </a:solidFill>
          <a:ln/>
        </p:spPr>
      </p:sp>
      <p:sp>
        <p:nvSpPr>
          <p:cNvPr id="13" name="Shape 11"/>
          <p:cNvSpPr/>
          <p:nvPr/>
        </p:nvSpPr>
        <p:spPr>
          <a:xfrm>
            <a:off x="822960" y="4078224"/>
            <a:ext cx="502920" cy="502920"/>
          </a:xfrm>
          <a:prstGeom prst="roundRect">
            <a:avLst>
              <a:gd name="adj" fmla="val 18182"/>
            </a:avLst>
          </a:prstGeom>
          <a:solidFill>
            <a:srgbClr val="FFB100"/>
          </a:solidFill>
          <a:ln/>
        </p:spPr>
      </p:sp>
      <p:sp>
        <p:nvSpPr>
          <p:cNvPr id="14" name="Text 12"/>
          <p:cNvSpPr/>
          <p:nvPr/>
        </p:nvSpPr>
        <p:spPr>
          <a:xfrm>
            <a:off x="1508760" y="4078224"/>
            <a:ext cx="4114800" cy="5029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DevOps</a:t>
            </a:r>
            <a:endParaRPr lang="en-US" sz="1600" dirty="0"/>
          </a:p>
        </p:txBody>
      </p:sp>
      <p:sp>
        <p:nvSpPr>
          <p:cNvPr id="15" name="Text 13"/>
          <p:cNvSpPr/>
          <p:nvPr/>
        </p:nvSpPr>
        <p:spPr>
          <a:xfrm>
            <a:off x="822960" y="4690872"/>
            <a:ext cx="4754880" cy="1051560"/>
          </a:xfrm>
          <a:prstGeom prst="rect">
            <a:avLst/>
          </a:prstGeom>
          <a:noFill/>
          <a:ln/>
        </p:spPr>
        <p:txBody>
          <a:bodyPr wrap="square" rtlCol="0" anchor="ctr"/>
          <a:lstStyle/>
          <a:p>
            <a:pPr indent="0" marL="0">
              <a:lnSpc>
                <a:spcPct val="125000"/>
              </a:lnSpc>
              <a:buNone/>
            </a:pPr>
            <a:r>
              <a:rPr lang="en-US" sz="1200" dirty="0">
                <a:solidFill>
                  <a:srgbClr val="C9D8E0"/>
                </a:solidFill>
                <a:latin typeface="Calibri" pitchFamily="34" charset="0"/>
                <a:ea typeface="Calibri" pitchFamily="34" charset="-122"/>
                <a:cs typeface="Calibri" pitchFamily="34" charset="-120"/>
              </a:rPr>
              <a:t>Docker + GitHub Actions turn every push into a tested, versioned, deployable image.</a:t>
            </a:r>
            <a:endParaRPr lang="en-US" sz="1200" dirty="0"/>
          </a:p>
        </p:txBody>
      </p:sp>
      <p:sp>
        <p:nvSpPr>
          <p:cNvPr id="16" name="Shape 14"/>
          <p:cNvSpPr/>
          <p:nvPr/>
        </p:nvSpPr>
        <p:spPr>
          <a:xfrm>
            <a:off x="6172200" y="3822192"/>
            <a:ext cx="5303520" cy="2103120"/>
          </a:xfrm>
          <a:prstGeom prst="roundRect">
            <a:avLst>
              <a:gd name="adj" fmla="val 4348"/>
            </a:avLst>
          </a:prstGeom>
          <a:solidFill>
            <a:srgbClr val="1F2C4D"/>
          </a:solidFill>
          <a:ln/>
        </p:spPr>
      </p:sp>
      <p:sp>
        <p:nvSpPr>
          <p:cNvPr id="17" name="Shape 15"/>
          <p:cNvSpPr/>
          <p:nvPr/>
        </p:nvSpPr>
        <p:spPr>
          <a:xfrm>
            <a:off x="6446520" y="4078224"/>
            <a:ext cx="502920" cy="502920"/>
          </a:xfrm>
          <a:prstGeom prst="roundRect">
            <a:avLst>
              <a:gd name="adj" fmla="val 18182"/>
            </a:avLst>
          </a:prstGeom>
          <a:solidFill>
            <a:srgbClr val="3B4A7A"/>
          </a:solidFill>
          <a:ln/>
        </p:spPr>
      </p:sp>
      <p:sp>
        <p:nvSpPr>
          <p:cNvPr id="18" name="Text 16"/>
          <p:cNvSpPr/>
          <p:nvPr/>
        </p:nvSpPr>
        <p:spPr>
          <a:xfrm>
            <a:off x="7132320" y="4078224"/>
            <a:ext cx="4114800" cy="5029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Cloud</a:t>
            </a:r>
            <a:endParaRPr lang="en-US" sz="1600" dirty="0"/>
          </a:p>
        </p:txBody>
      </p:sp>
      <p:sp>
        <p:nvSpPr>
          <p:cNvPr id="19" name="Text 17"/>
          <p:cNvSpPr/>
          <p:nvPr/>
        </p:nvSpPr>
        <p:spPr>
          <a:xfrm>
            <a:off x="6446520" y="4690872"/>
            <a:ext cx="4754880" cy="1051560"/>
          </a:xfrm>
          <a:prstGeom prst="rect">
            <a:avLst/>
          </a:prstGeom>
          <a:noFill/>
          <a:ln/>
        </p:spPr>
        <p:txBody>
          <a:bodyPr wrap="square" rtlCol="0" anchor="ctr"/>
          <a:lstStyle/>
          <a:p>
            <a:pPr indent="0" marL="0">
              <a:lnSpc>
                <a:spcPct val="125000"/>
              </a:lnSpc>
              <a:buNone/>
            </a:pPr>
            <a:r>
              <a:rPr lang="en-US" sz="1200" dirty="0">
                <a:solidFill>
                  <a:srgbClr val="C9D8E0"/>
                </a:solidFill>
                <a:latin typeface="Calibri" pitchFamily="34" charset="0"/>
                <a:ea typeface="Calibri" pitchFamily="34" charset="-122"/>
                <a:cs typeface="Calibri" pitchFamily="34" charset="-120"/>
              </a:rPr>
              <a:t>AWS EC2 hosts it today; Kubernetes manifests make Amazon EKS a low-friction next step.</a:t>
            </a:r>
            <a:endParaRPr lang="en-US" sz="1200" dirty="0"/>
          </a:p>
        </p:txBody>
      </p:sp>
      <p:sp>
        <p:nvSpPr>
          <p:cNvPr id="20" name="Text 18"/>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REFERENCES</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Resources &amp; Documentation Used</a:t>
            </a:r>
            <a:endParaRPr lang="en-US" sz="2800" dirty="0"/>
          </a:p>
        </p:txBody>
      </p:sp>
      <p:sp>
        <p:nvSpPr>
          <p:cNvPr id="4" name="Shape 2"/>
          <p:cNvSpPr/>
          <p:nvPr/>
        </p:nvSpPr>
        <p:spPr>
          <a:xfrm>
            <a:off x="548640" y="1463040"/>
            <a:ext cx="2651760" cy="4206240"/>
          </a:xfrm>
          <a:prstGeom prst="roundRect">
            <a:avLst>
              <a:gd name="adj" fmla="val 3103"/>
            </a:avLst>
          </a:prstGeom>
          <a:solidFill>
            <a:srgbClr val="F4F8FA"/>
          </a:solidFill>
          <a:ln w="12700">
            <a:solidFill>
              <a:srgbClr val="D9E3E8"/>
            </a:solidFill>
            <a:prstDash val="solid"/>
          </a:ln>
        </p:spPr>
      </p:sp>
      <p:sp>
        <p:nvSpPr>
          <p:cNvPr id="5" name="Shape 3"/>
          <p:cNvSpPr/>
          <p:nvPr/>
        </p:nvSpPr>
        <p:spPr>
          <a:xfrm>
            <a:off x="548640" y="1463040"/>
            <a:ext cx="2651760" cy="548640"/>
          </a:xfrm>
          <a:prstGeom prst="rect">
            <a:avLst/>
          </a:prstGeom>
          <a:solidFill>
            <a:srgbClr val="065A82"/>
          </a:solidFill>
          <a:ln/>
        </p:spPr>
      </p:sp>
      <p:sp>
        <p:nvSpPr>
          <p:cNvPr id="6" name="Text 4"/>
          <p:cNvSpPr/>
          <p:nvPr/>
        </p:nvSpPr>
        <p:spPr>
          <a:xfrm>
            <a:off x="685800" y="1463040"/>
            <a:ext cx="2377440" cy="54864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Official Docs</a:t>
            </a:r>
            <a:endParaRPr lang="en-US" sz="1250" dirty="0"/>
          </a:p>
        </p:txBody>
      </p:sp>
      <p:sp>
        <p:nvSpPr>
          <p:cNvPr id="7" name="Shape 5"/>
          <p:cNvSpPr/>
          <p:nvPr/>
        </p:nvSpPr>
        <p:spPr>
          <a:xfrm>
            <a:off x="731520" y="2240280"/>
            <a:ext cx="146304" cy="146304"/>
          </a:xfrm>
          <a:prstGeom prst="ellipse">
            <a:avLst/>
          </a:prstGeom>
          <a:solidFill>
            <a:srgbClr val="065A82"/>
          </a:solidFill>
          <a:ln/>
        </p:spPr>
      </p:sp>
      <p:sp>
        <p:nvSpPr>
          <p:cNvPr id="8" name="Text 6"/>
          <p:cNvSpPr/>
          <p:nvPr/>
        </p:nvSpPr>
        <p:spPr>
          <a:xfrm>
            <a:off x="987552" y="2130552"/>
            <a:ext cx="2057400" cy="384048"/>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React</a:t>
            </a:r>
            <a:endParaRPr lang="en-US" sz="1100" dirty="0"/>
          </a:p>
        </p:txBody>
      </p:sp>
      <p:sp>
        <p:nvSpPr>
          <p:cNvPr id="9" name="Shape 7"/>
          <p:cNvSpPr/>
          <p:nvPr/>
        </p:nvSpPr>
        <p:spPr>
          <a:xfrm>
            <a:off x="731520" y="2743200"/>
            <a:ext cx="146304" cy="146304"/>
          </a:xfrm>
          <a:prstGeom prst="ellipse">
            <a:avLst/>
          </a:prstGeom>
          <a:solidFill>
            <a:srgbClr val="065A82"/>
          </a:solidFill>
          <a:ln/>
        </p:spPr>
      </p:sp>
      <p:sp>
        <p:nvSpPr>
          <p:cNvPr id="10" name="Text 8"/>
          <p:cNvSpPr/>
          <p:nvPr/>
        </p:nvSpPr>
        <p:spPr>
          <a:xfrm>
            <a:off x="987552" y="2633472"/>
            <a:ext cx="2057400" cy="384048"/>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Node.js</a:t>
            </a:r>
            <a:endParaRPr lang="en-US" sz="1100" dirty="0"/>
          </a:p>
        </p:txBody>
      </p:sp>
      <p:sp>
        <p:nvSpPr>
          <p:cNvPr id="11" name="Shape 9"/>
          <p:cNvSpPr/>
          <p:nvPr/>
        </p:nvSpPr>
        <p:spPr>
          <a:xfrm>
            <a:off x="731520" y="3246120"/>
            <a:ext cx="146304" cy="146304"/>
          </a:xfrm>
          <a:prstGeom prst="ellipse">
            <a:avLst/>
          </a:prstGeom>
          <a:solidFill>
            <a:srgbClr val="065A82"/>
          </a:solidFill>
          <a:ln/>
        </p:spPr>
      </p:sp>
      <p:sp>
        <p:nvSpPr>
          <p:cNvPr id="12" name="Text 10"/>
          <p:cNvSpPr/>
          <p:nvPr/>
        </p:nvSpPr>
        <p:spPr>
          <a:xfrm>
            <a:off x="987552" y="3136392"/>
            <a:ext cx="2057400" cy="384048"/>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Express</a:t>
            </a:r>
            <a:endParaRPr lang="en-US" sz="1100" dirty="0"/>
          </a:p>
        </p:txBody>
      </p:sp>
      <p:sp>
        <p:nvSpPr>
          <p:cNvPr id="13" name="Shape 11"/>
          <p:cNvSpPr/>
          <p:nvPr/>
        </p:nvSpPr>
        <p:spPr>
          <a:xfrm>
            <a:off x="731520" y="3749040"/>
            <a:ext cx="146304" cy="146304"/>
          </a:xfrm>
          <a:prstGeom prst="ellipse">
            <a:avLst/>
          </a:prstGeom>
          <a:solidFill>
            <a:srgbClr val="065A82"/>
          </a:solidFill>
          <a:ln/>
        </p:spPr>
      </p:sp>
      <p:sp>
        <p:nvSpPr>
          <p:cNvPr id="14" name="Text 12"/>
          <p:cNvSpPr/>
          <p:nvPr/>
        </p:nvSpPr>
        <p:spPr>
          <a:xfrm>
            <a:off x="987552" y="3639312"/>
            <a:ext cx="2057400" cy="384048"/>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MongoDB</a:t>
            </a:r>
            <a:endParaRPr lang="en-US" sz="1100" dirty="0"/>
          </a:p>
        </p:txBody>
      </p:sp>
      <p:sp>
        <p:nvSpPr>
          <p:cNvPr id="15" name="Shape 13"/>
          <p:cNvSpPr/>
          <p:nvPr/>
        </p:nvSpPr>
        <p:spPr>
          <a:xfrm>
            <a:off x="731520" y="4251960"/>
            <a:ext cx="146304" cy="146304"/>
          </a:xfrm>
          <a:prstGeom prst="ellipse">
            <a:avLst/>
          </a:prstGeom>
          <a:solidFill>
            <a:srgbClr val="065A82"/>
          </a:solidFill>
          <a:ln/>
        </p:spPr>
      </p:sp>
      <p:sp>
        <p:nvSpPr>
          <p:cNvPr id="16" name="Text 14"/>
          <p:cNvSpPr/>
          <p:nvPr/>
        </p:nvSpPr>
        <p:spPr>
          <a:xfrm>
            <a:off x="987552" y="4142232"/>
            <a:ext cx="2057400" cy="384048"/>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Mongoose</a:t>
            </a:r>
            <a:endParaRPr lang="en-US" sz="1100" dirty="0"/>
          </a:p>
        </p:txBody>
      </p:sp>
      <p:sp>
        <p:nvSpPr>
          <p:cNvPr id="17" name="Shape 15"/>
          <p:cNvSpPr/>
          <p:nvPr/>
        </p:nvSpPr>
        <p:spPr>
          <a:xfrm>
            <a:off x="3383280" y="1463040"/>
            <a:ext cx="2651760" cy="4206240"/>
          </a:xfrm>
          <a:prstGeom prst="roundRect">
            <a:avLst>
              <a:gd name="adj" fmla="val 3103"/>
            </a:avLst>
          </a:prstGeom>
          <a:solidFill>
            <a:srgbClr val="F4F8FA"/>
          </a:solidFill>
          <a:ln w="12700">
            <a:solidFill>
              <a:srgbClr val="D9E3E8"/>
            </a:solidFill>
            <a:prstDash val="solid"/>
          </a:ln>
        </p:spPr>
      </p:sp>
      <p:sp>
        <p:nvSpPr>
          <p:cNvPr id="18" name="Shape 16"/>
          <p:cNvSpPr/>
          <p:nvPr/>
        </p:nvSpPr>
        <p:spPr>
          <a:xfrm>
            <a:off x="3383280" y="1463040"/>
            <a:ext cx="2651760" cy="548640"/>
          </a:xfrm>
          <a:prstGeom prst="rect">
            <a:avLst/>
          </a:prstGeom>
          <a:solidFill>
            <a:srgbClr val="1C7293"/>
          </a:solidFill>
          <a:ln/>
        </p:spPr>
      </p:sp>
      <p:sp>
        <p:nvSpPr>
          <p:cNvPr id="19" name="Text 17"/>
          <p:cNvSpPr/>
          <p:nvPr/>
        </p:nvSpPr>
        <p:spPr>
          <a:xfrm>
            <a:off x="3520440" y="1463040"/>
            <a:ext cx="2377440" cy="54864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Infra &amp; Cloud Docs</a:t>
            </a:r>
            <a:endParaRPr lang="en-US" sz="1250" dirty="0"/>
          </a:p>
        </p:txBody>
      </p:sp>
      <p:sp>
        <p:nvSpPr>
          <p:cNvPr id="20" name="Shape 18"/>
          <p:cNvSpPr/>
          <p:nvPr/>
        </p:nvSpPr>
        <p:spPr>
          <a:xfrm>
            <a:off x="3566160" y="2240280"/>
            <a:ext cx="146304" cy="146304"/>
          </a:xfrm>
          <a:prstGeom prst="ellipse">
            <a:avLst/>
          </a:prstGeom>
          <a:solidFill>
            <a:srgbClr val="1C7293"/>
          </a:solidFill>
          <a:ln/>
        </p:spPr>
      </p:sp>
      <p:sp>
        <p:nvSpPr>
          <p:cNvPr id="21" name="Text 19"/>
          <p:cNvSpPr/>
          <p:nvPr/>
        </p:nvSpPr>
        <p:spPr>
          <a:xfrm>
            <a:off x="3822192" y="2130552"/>
            <a:ext cx="2057400" cy="384048"/>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Docker</a:t>
            </a:r>
            <a:endParaRPr lang="en-US" sz="1100" dirty="0"/>
          </a:p>
        </p:txBody>
      </p:sp>
      <p:sp>
        <p:nvSpPr>
          <p:cNvPr id="22" name="Shape 20"/>
          <p:cNvSpPr/>
          <p:nvPr/>
        </p:nvSpPr>
        <p:spPr>
          <a:xfrm>
            <a:off x="3566160" y="2743200"/>
            <a:ext cx="146304" cy="146304"/>
          </a:xfrm>
          <a:prstGeom prst="ellipse">
            <a:avLst/>
          </a:prstGeom>
          <a:solidFill>
            <a:srgbClr val="1C7293"/>
          </a:solidFill>
          <a:ln/>
        </p:spPr>
      </p:sp>
      <p:sp>
        <p:nvSpPr>
          <p:cNvPr id="23" name="Text 21"/>
          <p:cNvSpPr/>
          <p:nvPr/>
        </p:nvSpPr>
        <p:spPr>
          <a:xfrm>
            <a:off x="3822192" y="2633472"/>
            <a:ext cx="2057400" cy="384048"/>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Kubernetes</a:t>
            </a:r>
            <a:endParaRPr lang="en-US" sz="1100" dirty="0"/>
          </a:p>
        </p:txBody>
      </p:sp>
      <p:sp>
        <p:nvSpPr>
          <p:cNvPr id="24" name="Shape 22"/>
          <p:cNvSpPr/>
          <p:nvPr/>
        </p:nvSpPr>
        <p:spPr>
          <a:xfrm>
            <a:off x="3566160" y="3246120"/>
            <a:ext cx="146304" cy="146304"/>
          </a:xfrm>
          <a:prstGeom prst="ellipse">
            <a:avLst/>
          </a:prstGeom>
          <a:solidFill>
            <a:srgbClr val="1C7293"/>
          </a:solidFill>
          <a:ln/>
        </p:spPr>
      </p:sp>
      <p:sp>
        <p:nvSpPr>
          <p:cNvPr id="25" name="Text 23"/>
          <p:cNvSpPr/>
          <p:nvPr/>
        </p:nvSpPr>
        <p:spPr>
          <a:xfrm>
            <a:off x="3822192" y="3136392"/>
            <a:ext cx="2057400" cy="384048"/>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AWS EC2</a:t>
            </a:r>
            <a:endParaRPr lang="en-US" sz="1100" dirty="0"/>
          </a:p>
        </p:txBody>
      </p:sp>
      <p:sp>
        <p:nvSpPr>
          <p:cNvPr id="26" name="Shape 24"/>
          <p:cNvSpPr/>
          <p:nvPr/>
        </p:nvSpPr>
        <p:spPr>
          <a:xfrm>
            <a:off x="3566160" y="3749040"/>
            <a:ext cx="146304" cy="146304"/>
          </a:xfrm>
          <a:prstGeom prst="ellipse">
            <a:avLst/>
          </a:prstGeom>
          <a:solidFill>
            <a:srgbClr val="1C7293"/>
          </a:solidFill>
          <a:ln/>
        </p:spPr>
      </p:sp>
      <p:sp>
        <p:nvSpPr>
          <p:cNvPr id="27" name="Text 25"/>
          <p:cNvSpPr/>
          <p:nvPr/>
        </p:nvSpPr>
        <p:spPr>
          <a:xfrm>
            <a:off x="3822192" y="3639312"/>
            <a:ext cx="2057400" cy="384048"/>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GitHub Actions</a:t>
            </a:r>
            <a:endParaRPr lang="en-US" sz="1100" dirty="0"/>
          </a:p>
        </p:txBody>
      </p:sp>
      <p:sp>
        <p:nvSpPr>
          <p:cNvPr id="28" name="Shape 26"/>
          <p:cNvSpPr/>
          <p:nvPr/>
        </p:nvSpPr>
        <p:spPr>
          <a:xfrm>
            <a:off x="6217920" y="1463040"/>
            <a:ext cx="2651760" cy="4206240"/>
          </a:xfrm>
          <a:prstGeom prst="roundRect">
            <a:avLst>
              <a:gd name="adj" fmla="val 3103"/>
            </a:avLst>
          </a:prstGeom>
          <a:solidFill>
            <a:srgbClr val="F4F8FA"/>
          </a:solidFill>
          <a:ln w="12700">
            <a:solidFill>
              <a:srgbClr val="D9E3E8"/>
            </a:solidFill>
            <a:prstDash val="solid"/>
          </a:ln>
        </p:spPr>
      </p:sp>
      <p:sp>
        <p:nvSpPr>
          <p:cNvPr id="29" name="Shape 27"/>
          <p:cNvSpPr/>
          <p:nvPr/>
        </p:nvSpPr>
        <p:spPr>
          <a:xfrm>
            <a:off x="6217920" y="1463040"/>
            <a:ext cx="2651760" cy="548640"/>
          </a:xfrm>
          <a:prstGeom prst="rect">
            <a:avLst/>
          </a:prstGeom>
          <a:solidFill>
            <a:srgbClr val="17203A"/>
          </a:solidFill>
          <a:ln/>
        </p:spPr>
      </p:sp>
      <p:sp>
        <p:nvSpPr>
          <p:cNvPr id="30" name="Text 28"/>
          <p:cNvSpPr/>
          <p:nvPr/>
        </p:nvSpPr>
        <p:spPr>
          <a:xfrm>
            <a:off x="6355080" y="1463040"/>
            <a:ext cx="2377440" cy="54864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Auth &amp; Execution Docs</a:t>
            </a:r>
            <a:endParaRPr lang="en-US" sz="1250" dirty="0"/>
          </a:p>
        </p:txBody>
      </p:sp>
      <p:sp>
        <p:nvSpPr>
          <p:cNvPr id="31" name="Shape 29"/>
          <p:cNvSpPr/>
          <p:nvPr/>
        </p:nvSpPr>
        <p:spPr>
          <a:xfrm>
            <a:off x="6400800" y="2240280"/>
            <a:ext cx="146304" cy="146304"/>
          </a:xfrm>
          <a:prstGeom prst="ellipse">
            <a:avLst/>
          </a:prstGeom>
          <a:solidFill>
            <a:srgbClr val="17203A"/>
          </a:solidFill>
          <a:ln/>
        </p:spPr>
      </p:sp>
      <p:sp>
        <p:nvSpPr>
          <p:cNvPr id="32" name="Text 30"/>
          <p:cNvSpPr/>
          <p:nvPr/>
        </p:nvSpPr>
        <p:spPr>
          <a:xfrm>
            <a:off x="6656832" y="2130552"/>
            <a:ext cx="2057400" cy="384048"/>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Google OAuth</a:t>
            </a:r>
            <a:endParaRPr lang="en-US" sz="1100" dirty="0"/>
          </a:p>
        </p:txBody>
      </p:sp>
      <p:sp>
        <p:nvSpPr>
          <p:cNvPr id="33" name="Shape 31"/>
          <p:cNvSpPr/>
          <p:nvPr/>
        </p:nvSpPr>
        <p:spPr>
          <a:xfrm>
            <a:off x="6400800" y="2743200"/>
            <a:ext cx="146304" cy="146304"/>
          </a:xfrm>
          <a:prstGeom prst="ellipse">
            <a:avLst/>
          </a:prstGeom>
          <a:solidFill>
            <a:srgbClr val="17203A"/>
          </a:solidFill>
          <a:ln/>
        </p:spPr>
      </p:sp>
      <p:sp>
        <p:nvSpPr>
          <p:cNvPr id="34" name="Text 32"/>
          <p:cNvSpPr/>
          <p:nvPr/>
        </p:nvSpPr>
        <p:spPr>
          <a:xfrm>
            <a:off x="6656832" y="2633472"/>
            <a:ext cx="2057400" cy="384048"/>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JWT (jwt.io)</a:t>
            </a:r>
            <a:endParaRPr lang="en-US" sz="1100" dirty="0"/>
          </a:p>
        </p:txBody>
      </p:sp>
      <p:sp>
        <p:nvSpPr>
          <p:cNvPr id="35" name="Shape 33"/>
          <p:cNvSpPr/>
          <p:nvPr/>
        </p:nvSpPr>
        <p:spPr>
          <a:xfrm>
            <a:off x="6400800" y="3246120"/>
            <a:ext cx="146304" cy="146304"/>
          </a:xfrm>
          <a:prstGeom prst="ellipse">
            <a:avLst/>
          </a:prstGeom>
          <a:solidFill>
            <a:srgbClr val="17203A"/>
          </a:solidFill>
          <a:ln/>
        </p:spPr>
      </p:sp>
      <p:sp>
        <p:nvSpPr>
          <p:cNvPr id="36" name="Text 34"/>
          <p:cNvSpPr/>
          <p:nvPr/>
        </p:nvSpPr>
        <p:spPr>
          <a:xfrm>
            <a:off x="6656832" y="3136392"/>
            <a:ext cx="2057400" cy="384048"/>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Judge0 API</a:t>
            </a:r>
            <a:endParaRPr lang="en-US" sz="1100" dirty="0"/>
          </a:p>
        </p:txBody>
      </p:sp>
      <p:sp>
        <p:nvSpPr>
          <p:cNvPr id="37" name="Shape 35"/>
          <p:cNvSpPr/>
          <p:nvPr/>
        </p:nvSpPr>
        <p:spPr>
          <a:xfrm>
            <a:off x="9052560" y="1463040"/>
            <a:ext cx="2651760" cy="4206240"/>
          </a:xfrm>
          <a:prstGeom prst="roundRect">
            <a:avLst>
              <a:gd name="adj" fmla="val 3103"/>
            </a:avLst>
          </a:prstGeom>
          <a:solidFill>
            <a:srgbClr val="F4F8FA"/>
          </a:solidFill>
          <a:ln w="12700">
            <a:solidFill>
              <a:srgbClr val="D9E3E8"/>
            </a:solidFill>
            <a:prstDash val="solid"/>
          </a:ln>
        </p:spPr>
      </p:sp>
      <p:sp>
        <p:nvSpPr>
          <p:cNvPr id="38" name="Shape 36"/>
          <p:cNvSpPr/>
          <p:nvPr/>
        </p:nvSpPr>
        <p:spPr>
          <a:xfrm>
            <a:off x="9052560" y="1463040"/>
            <a:ext cx="2651760" cy="548640"/>
          </a:xfrm>
          <a:prstGeom prst="rect">
            <a:avLst/>
          </a:prstGeom>
          <a:solidFill>
            <a:srgbClr val="FFB100"/>
          </a:solidFill>
          <a:ln/>
        </p:spPr>
      </p:sp>
      <p:sp>
        <p:nvSpPr>
          <p:cNvPr id="39" name="Text 37"/>
          <p:cNvSpPr/>
          <p:nvPr/>
        </p:nvSpPr>
        <p:spPr>
          <a:xfrm>
            <a:off x="9189720" y="1463040"/>
            <a:ext cx="2377440" cy="54864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Community</a:t>
            </a:r>
            <a:endParaRPr lang="en-US" sz="1250" dirty="0"/>
          </a:p>
        </p:txBody>
      </p:sp>
      <p:sp>
        <p:nvSpPr>
          <p:cNvPr id="40" name="Shape 38"/>
          <p:cNvSpPr/>
          <p:nvPr/>
        </p:nvSpPr>
        <p:spPr>
          <a:xfrm>
            <a:off x="9235440" y="2240280"/>
            <a:ext cx="146304" cy="146304"/>
          </a:xfrm>
          <a:prstGeom prst="ellipse">
            <a:avLst/>
          </a:prstGeom>
          <a:solidFill>
            <a:srgbClr val="FFB100"/>
          </a:solidFill>
          <a:ln/>
        </p:spPr>
      </p:sp>
      <p:sp>
        <p:nvSpPr>
          <p:cNvPr id="41" name="Text 39"/>
          <p:cNvSpPr/>
          <p:nvPr/>
        </p:nvSpPr>
        <p:spPr>
          <a:xfrm>
            <a:off x="9491472" y="2130552"/>
            <a:ext cx="2057400" cy="384048"/>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Stack Overflow</a:t>
            </a:r>
            <a:endParaRPr lang="en-US" sz="1100" dirty="0"/>
          </a:p>
        </p:txBody>
      </p:sp>
      <p:sp>
        <p:nvSpPr>
          <p:cNvPr id="42" name="Shape 40"/>
          <p:cNvSpPr/>
          <p:nvPr/>
        </p:nvSpPr>
        <p:spPr>
          <a:xfrm>
            <a:off x="9235440" y="2743200"/>
            <a:ext cx="146304" cy="146304"/>
          </a:xfrm>
          <a:prstGeom prst="ellipse">
            <a:avLst/>
          </a:prstGeom>
          <a:solidFill>
            <a:srgbClr val="FFB100"/>
          </a:solidFill>
          <a:ln/>
        </p:spPr>
      </p:sp>
      <p:sp>
        <p:nvSpPr>
          <p:cNvPr id="43" name="Text 41"/>
          <p:cNvSpPr/>
          <p:nvPr/>
        </p:nvSpPr>
        <p:spPr>
          <a:xfrm>
            <a:off x="9491472" y="2633472"/>
            <a:ext cx="2057400" cy="384048"/>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GitHub repositories</a:t>
            </a:r>
            <a:endParaRPr lang="en-US" sz="1100" dirty="0"/>
          </a:p>
        </p:txBody>
      </p:sp>
      <p:sp>
        <p:nvSpPr>
          <p:cNvPr id="44" name="Shape 42"/>
          <p:cNvSpPr/>
          <p:nvPr/>
        </p:nvSpPr>
        <p:spPr>
          <a:xfrm>
            <a:off x="9235440" y="3246120"/>
            <a:ext cx="146304" cy="146304"/>
          </a:xfrm>
          <a:prstGeom prst="ellipse">
            <a:avLst/>
          </a:prstGeom>
          <a:solidFill>
            <a:srgbClr val="FFB100"/>
          </a:solidFill>
          <a:ln/>
        </p:spPr>
      </p:sp>
      <p:sp>
        <p:nvSpPr>
          <p:cNvPr id="45" name="Text 43"/>
          <p:cNvSpPr/>
          <p:nvPr/>
        </p:nvSpPr>
        <p:spPr>
          <a:xfrm>
            <a:off x="9491472" y="3136392"/>
            <a:ext cx="2057400" cy="384048"/>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Medium articles</a:t>
            </a:r>
            <a:endParaRPr lang="en-US" sz="1100" dirty="0"/>
          </a:p>
        </p:txBody>
      </p:sp>
      <p:sp>
        <p:nvSpPr>
          <p:cNvPr id="46" name="Shape 44"/>
          <p:cNvSpPr/>
          <p:nvPr/>
        </p:nvSpPr>
        <p:spPr>
          <a:xfrm>
            <a:off x="9235440" y="3749040"/>
            <a:ext cx="146304" cy="146304"/>
          </a:xfrm>
          <a:prstGeom prst="ellipse">
            <a:avLst/>
          </a:prstGeom>
          <a:solidFill>
            <a:srgbClr val="FFB100"/>
          </a:solidFill>
          <a:ln/>
        </p:spPr>
      </p:sp>
      <p:sp>
        <p:nvSpPr>
          <p:cNvPr id="47" name="Text 45"/>
          <p:cNvSpPr/>
          <p:nvPr/>
        </p:nvSpPr>
        <p:spPr>
          <a:xfrm>
            <a:off x="9491472" y="3639312"/>
            <a:ext cx="2057400" cy="384048"/>
          </a:xfrm>
          <a:prstGeom prst="rect">
            <a:avLst/>
          </a:prstGeom>
          <a:noFill/>
          <a:ln/>
        </p:spPr>
        <p:txBody>
          <a:bodyPr wrap="square" rtlCol="0" anchor="ctr"/>
          <a:lstStyle/>
          <a:p>
            <a:pPr indent="0" marL="0">
              <a:buNone/>
            </a:pPr>
            <a:r>
              <a:rPr lang="en-US" sz="1100" dirty="0">
                <a:solidFill>
                  <a:srgbClr val="16232E"/>
                </a:solidFill>
                <a:latin typeface="Calibri" pitchFamily="34" charset="0"/>
                <a:ea typeface="Calibri" pitchFamily="34" charset="-122"/>
                <a:cs typeface="Calibri" pitchFamily="34" charset="-120"/>
              </a:rPr>
              <a:t>YouTube tutorials</a:t>
            </a:r>
            <a:endParaRPr lang="en-US" sz="1100" dirty="0"/>
          </a:p>
        </p:txBody>
      </p:sp>
      <p:sp>
        <p:nvSpPr>
          <p:cNvPr id="48" name="Text 46"/>
          <p:cNvSpPr/>
          <p:nvPr/>
        </p:nvSpPr>
        <p:spPr>
          <a:xfrm>
            <a:off x="548640" y="5806440"/>
            <a:ext cx="10881360" cy="457200"/>
          </a:xfrm>
          <a:prstGeom prst="rect">
            <a:avLst/>
          </a:prstGeom>
          <a:noFill/>
          <a:ln/>
        </p:spPr>
        <p:txBody>
          <a:bodyPr wrap="square" rtlCol="0" anchor="ctr"/>
          <a:lstStyle/>
          <a:p>
            <a:pPr indent="0" marL="0">
              <a:buNone/>
            </a:pPr>
            <a:r>
              <a:rPr lang="en-US" sz="1100" i="1" dirty="0">
                <a:solidFill>
                  <a:srgbClr val="5B6B7A"/>
                </a:solidFill>
                <a:latin typeface="Calibri" pitchFamily="34" charset="0"/>
                <a:ea typeface="Calibri" pitchFamily="34" charset="-122"/>
                <a:cs typeface="Calibri" pitchFamily="34" charset="-120"/>
              </a:rPr>
              <a:t>Docs were used for correctness (API contracts, config flags); Stack Overflow / community posts for debugging edge cases and comparing real-world setups.</a:t>
            </a:r>
            <a:endParaRPr lang="en-US" sz="1100" dirty="0"/>
          </a:p>
        </p:txBody>
      </p:sp>
      <p:sp>
        <p:nvSpPr>
          <p:cNvPr id="49" name="Text 47"/>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BY THE NUMBERS</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Project Metrics</a:t>
            </a:r>
            <a:endParaRPr lang="en-US" sz="2800" dirty="0"/>
          </a:p>
        </p:txBody>
      </p:sp>
      <p:sp>
        <p:nvSpPr>
          <p:cNvPr id="4" name="Shape 2"/>
          <p:cNvSpPr/>
          <p:nvPr/>
        </p:nvSpPr>
        <p:spPr>
          <a:xfrm>
            <a:off x="548640" y="1463040"/>
            <a:ext cx="3520440" cy="1965960"/>
          </a:xfrm>
          <a:prstGeom prst="roundRect">
            <a:avLst>
              <a:gd name="adj" fmla="val 4651"/>
            </a:avLst>
          </a:prstGeom>
          <a:solidFill>
            <a:srgbClr val="FFFFFF"/>
          </a:solidFill>
          <a:ln w="12700">
            <a:solidFill>
              <a:srgbClr val="D9E3E8"/>
            </a:solidFill>
            <a:prstDash val="solid"/>
          </a:ln>
        </p:spPr>
      </p:sp>
      <p:sp>
        <p:nvSpPr>
          <p:cNvPr id="5" name="Text 3"/>
          <p:cNvSpPr/>
          <p:nvPr/>
        </p:nvSpPr>
        <p:spPr>
          <a:xfrm>
            <a:off x="548640" y="1664208"/>
            <a:ext cx="3520440" cy="914400"/>
          </a:xfrm>
          <a:prstGeom prst="rect">
            <a:avLst/>
          </a:prstGeom>
          <a:noFill/>
          <a:ln/>
        </p:spPr>
        <p:txBody>
          <a:bodyPr wrap="square" rtlCol="0" anchor="ctr"/>
          <a:lstStyle/>
          <a:p>
            <a:pPr algn="ctr" indent="0" marL="0">
              <a:buNone/>
            </a:pPr>
            <a:r>
              <a:rPr lang="en-US" sz="4200" b="1" dirty="0">
                <a:solidFill>
                  <a:srgbClr val="065A82"/>
                </a:solidFill>
                <a:latin typeface="Arial" pitchFamily="34" charset="0"/>
                <a:ea typeface="Arial" pitchFamily="34" charset="-122"/>
                <a:cs typeface="Arial" pitchFamily="34" charset="-120"/>
              </a:rPr>
              <a:t>45+</a:t>
            </a:r>
            <a:endParaRPr lang="en-US" sz="4200" dirty="0"/>
          </a:p>
        </p:txBody>
      </p:sp>
      <p:sp>
        <p:nvSpPr>
          <p:cNvPr id="6" name="Text 4"/>
          <p:cNvSpPr/>
          <p:nvPr/>
        </p:nvSpPr>
        <p:spPr>
          <a:xfrm>
            <a:off x="548640" y="2651760"/>
            <a:ext cx="3520440" cy="457200"/>
          </a:xfrm>
          <a:prstGeom prst="rect">
            <a:avLst/>
          </a:prstGeom>
          <a:noFill/>
          <a:ln/>
        </p:spPr>
        <p:txBody>
          <a:bodyPr wrap="square" rtlCol="0" anchor="ctr"/>
          <a:lstStyle/>
          <a:p>
            <a:pPr algn="ctr" indent="0" marL="0">
              <a:buNone/>
            </a:pPr>
            <a:r>
              <a:rPr lang="en-US" sz="1250" dirty="0">
                <a:solidFill>
                  <a:srgbClr val="5B6B7A"/>
                </a:solidFill>
                <a:latin typeface="Calibri" pitchFamily="34" charset="0"/>
                <a:ea typeface="Calibri" pitchFamily="34" charset="-122"/>
                <a:cs typeface="Calibri" pitchFamily="34" charset="-120"/>
              </a:rPr>
              <a:t>Frontend Components</a:t>
            </a:r>
            <a:endParaRPr lang="en-US" sz="1250" dirty="0"/>
          </a:p>
        </p:txBody>
      </p:sp>
      <p:sp>
        <p:nvSpPr>
          <p:cNvPr id="7" name="Shape 5"/>
          <p:cNvSpPr/>
          <p:nvPr/>
        </p:nvSpPr>
        <p:spPr>
          <a:xfrm>
            <a:off x="4251960" y="1463040"/>
            <a:ext cx="3520440" cy="1965960"/>
          </a:xfrm>
          <a:prstGeom prst="roundRect">
            <a:avLst>
              <a:gd name="adj" fmla="val 4651"/>
            </a:avLst>
          </a:prstGeom>
          <a:solidFill>
            <a:srgbClr val="FFFFFF"/>
          </a:solidFill>
          <a:ln w="12700">
            <a:solidFill>
              <a:srgbClr val="D9E3E8"/>
            </a:solidFill>
            <a:prstDash val="solid"/>
          </a:ln>
        </p:spPr>
      </p:sp>
      <p:sp>
        <p:nvSpPr>
          <p:cNvPr id="8" name="Text 6"/>
          <p:cNvSpPr/>
          <p:nvPr/>
        </p:nvSpPr>
        <p:spPr>
          <a:xfrm>
            <a:off x="4251960" y="1664208"/>
            <a:ext cx="3520440" cy="914400"/>
          </a:xfrm>
          <a:prstGeom prst="rect">
            <a:avLst/>
          </a:prstGeom>
          <a:noFill/>
          <a:ln/>
        </p:spPr>
        <p:txBody>
          <a:bodyPr wrap="square" rtlCol="0" anchor="ctr"/>
          <a:lstStyle/>
          <a:p>
            <a:pPr algn="ctr" indent="0" marL="0">
              <a:buNone/>
            </a:pPr>
            <a:r>
              <a:rPr lang="en-US" sz="4200" b="1" dirty="0">
                <a:solidFill>
                  <a:srgbClr val="1C7293"/>
                </a:solidFill>
                <a:latin typeface="Arial" pitchFamily="34" charset="0"/>
                <a:ea typeface="Arial" pitchFamily="34" charset="-122"/>
                <a:cs typeface="Arial" pitchFamily="34" charset="-120"/>
              </a:rPr>
              <a:t>40+</a:t>
            </a:r>
            <a:endParaRPr lang="en-US" sz="4200" dirty="0"/>
          </a:p>
        </p:txBody>
      </p:sp>
      <p:sp>
        <p:nvSpPr>
          <p:cNvPr id="9" name="Text 7"/>
          <p:cNvSpPr/>
          <p:nvPr/>
        </p:nvSpPr>
        <p:spPr>
          <a:xfrm>
            <a:off x="4251960" y="2651760"/>
            <a:ext cx="3520440" cy="457200"/>
          </a:xfrm>
          <a:prstGeom prst="rect">
            <a:avLst/>
          </a:prstGeom>
          <a:noFill/>
          <a:ln/>
        </p:spPr>
        <p:txBody>
          <a:bodyPr wrap="square" rtlCol="0" anchor="ctr"/>
          <a:lstStyle/>
          <a:p>
            <a:pPr algn="ctr" indent="0" marL="0">
              <a:buNone/>
            </a:pPr>
            <a:r>
              <a:rPr lang="en-US" sz="1250" dirty="0">
                <a:solidFill>
                  <a:srgbClr val="5B6B7A"/>
                </a:solidFill>
                <a:latin typeface="Calibri" pitchFamily="34" charset="0"/>
                <a:ea typeface="Calibri" pitchFamily="34" charset="-122"/>
                <a:cs typeface="Calibri" pitchFamily="34" charset="-120"/>
              </a:rPr>
              <a:t>REST API Endpoints</a:t>
            </a:r>
            <a:endParaRPr lang="en-US" sz="1250" dirty="0"/>
          </a:p>
        </p:txBody>
      </p:sp>
      <p:sp>
        <p:nvSpPr>
          <p:cNvPr id="10" name="Shape 8"/>
          <p:cNvSpPr/>
          <p:nvPr/>
        </p:nvSpPr>
        <p:spPr>
          <a:xfrm>
            <a:off x="7955280" y="1463040"/>
            <a:ext cx="3520440" cy="1965960"/>
          </a:xfrm>
          <a:prstGeom prst="roundRect">
            <a:avLst>
              <a:gd name="adj" fmla="val 4651"/>
            </a:avLst>
          </a:prstGeom>
          <a:solidFill>
            <a:srgbClr val="FFFFFF"/>
          </a:solidFill>
          <a:ln w="12700">
            <a:solidFill>
              <a:srgbClr val="D9E3E8"/>
            </a:solidFill>
            <a:prstDash val="solid"/>
          </a:ln>
        </p:spPr>
      </p:sp>
      <p:sp>
        <p:nvSpPr>
          <p:cNvPr id="11" name="Text 9"/>
          <p:cNvSpPr/>
          <p:nvPr/>
        </p:nvSpPr>
        <p:spPr>
          <a:xfrm>
            <a:off x="7955280" y="1664208"/>
            <a:ext cx="3520440" cy="914400"/>
          </a:xfrm>
          <a:prstGeom prst="rect">
            <a:avLst/>
          </a:prstGeom>
          <a:noFill/>
          <a:ln/>
        </p:spPr>
        <p:txBody>
          <a:bodyPr wrap="square" rtlCol="0" anchor="ctr"/>
          <a:lstStyle/>
          <a:p>
            <a:pPr algn="ctr" indent="0" marL="0">
              <a:buNone/>
            </a:pPr>
            <a:r>
              <a:rPr lang="en-US" sz="4200" b="1" dirty="0">
                <a:solidFill>
                  <a:srgbClr val="17203A"/>
                </a:solidFill>
                <a:latin typeface="Arial" pitchFamily="34" charset="0"/>
                <a:ea typeface="Arial" pitchFamily="34" charset="-122"/>
                <a:cs typeface="Arial" pitchFamily="34" charset="-120"/>
              </a:rPr>
              <a:t>60+</a:t>
            </a:r>
            <a:endParaRPr lang="en-US" sz="4200" dirty="0"/>
          </a:p>
        </p:txBody>
      </p:sp>
      <p:sp>
        <p:nvSpPr>
          <p:cNvPr id="12" name="Text 10"/>
          <p:cNvSpPr/>
          <p:nvPr/>
        </p:nvSpPr>
        <p:spPr>
          <a:xfrm>
            <a:off x="7955280" y="2651760"/>
            <a:ext cx="3520440" cy="457200"/>
          </a:xfrm>
          <a:prstGeom prst="rect">
            <a:avLst/>
          </a:prstGeom>
          <a:noFill/>
          <a:ln/>
        </p:spPr>
        <p:txBody>
          <a:bodyPr wrap="square" rtlCol="0" anchor="ctr"/>
          <a:lstStyle/>
          <a:p>
            <a:pPr algn="ctr" indent="0" marL="0">
              <a:buNone/>
            </a:pPr>
            <a:r>
              <a:rPr lang="en-US" sz="1250" dirty="0">
                <a:solidFill>
                  <a:srgbClr val="5B6B7A"/>
                </a:solidFill>
                <a:latin typeface="Calibri" pitchFamily="34" charset="0"/>
                <a:ea typeface="Calibri" pitchFamily="34" charset="-122"/>
                <a:cs typeface="Calibri" pitchFamily="34" charset="-120"/>
              </a:rPr>
              <a:t>Languages via Judge0</a:t>
            </a:r>
            <a:endParaRPr lang="en-US" sz="1250" dirty="0"/>
          </a:p>
        </p:txBody>
      </p:sp>
      <p:sp>
        <p:nvSpPr>
          <p:cNvPr id="13" name="Shape 11"/>
          <p:cNvSpPr/>
          <p:nvPr/>
        </p:nvSpPr>
        <p:spPr>
          <a:xfrm>
            <a:off x="548640" y="3630168"/>
            <a:ext cx="3520440" cy="1965960"/>
          </a:xfrm>
          <a:prstGeom prst="roundRect">
            <a:avLst>
              <a:gd name="adj" fmla="val 4651"/>
            </a:avLst>
          </a:prstGeom>
          <a:solidFill>
            <a:srgbClr val="FFFFFF"/>
          </a:solidFill>
          <a:ln w="12700">
            <a:solidFill>
              <a:srgbClr val="D9E3E8"/>
            </a:solidFill>
            <a:prstDash val="solid"/>
          </a:ln>
        </p:spPr>
      </p:sp>
      <p:sp>
        <p:nvSpPr>
          <p:cNvPr id="14" name="Text 12"/>
          <p:cNvSpPr/>
          <p:nvPr/>
        </p:nvSpPr>
        <p:spPr>
          <a:xfrm>
            <a:off x="548640" y="3831336"/>
            <a:ext cx="3520440" cy="914400"/>
          </a:xfrm>
          <a:prstGeom prst="rect">
            <a:avLst/>
          </a:prstGeom>
          <a:noFill/>
          <a:ln/>
        </p:spPr>
        <p:txBody>
          <a:bodyPr wrap="square" rtlCol="0" anchor="ctr"/>
          <a:lstStyle/>
          <a:p>
            <a:pPr algn="ctr" indent="0" marL="0">
              <a:buNone/>
            </a:pPr>
            <a:r>
              <a:rPr lang="en-US" sz="4200" b="1" dirty="0">
                <a:solidFill>
                  <a:srgbClr val="065A82"/>
                </a:solidFill>
                <a:latin typeface="Arial" pitchFamily="34" charset="0"/>
                <a:ea typeface="Arial" pitchFamily="34" charset="-122"/>
                <a:cs typeface="Arial" pitchFamily="34" charset="-120"/>
              </a:rPr>
              <a:t>4</a:t>
            </a:r>
            <a:endParaRPr lang="en-US" sz="4200" dirty="0"/>
          </a:p>
        </p:txBody>
      </p:sp>
      <p:sp>
        <p:nvSpPr>
          <p:cNvPr id="15" name="Text 13"/>
          <p:cNvSpPr/>
          <p:nvPr/>
        </p:nvSpPr>
        <p:spPr>
          <a:xfrm>
            <a:off x="548640" y="4818888"/>
            <a:ext cx="3520440" cy="457200"/>
          </a:xfrm>
          <a:prstGeom prst="rect">
            <a:avLst/>
          </a:prstGeom>
          <a:noFill/>
          <a:ln/>
        </p:spPr>
        <p:txBody>
          <a:bodyPr wrap="square" rtlCol="0" anchor="ctr"/>
          <a:lstStyle/>
          <a:p>
            <a:pPr algn="ctr" indent="0" marL="0">
              <a:buNone/>
            </a:pPr>
            <a:r>
              <a:rPr lang="en-US" sz="1250" dirty="0">
                <a:solidFill>
                  <a:srgbClr val="5B6B7A"/>
                </a:solidFill>
                <a:latin typeface="Calibri" pitchFamily="34" charset="0"/>
                <a:ea typeface="Calibri" pitchFamily="34" charset="-122"/>
                <a:cs typeface="Calibri" pitchFamily="34" charset="-120"/>
              </a:rPr>
              <a:t>Docker Containers</a:t>
            </a:r>
            <a:endParaRPr lang="en-US" sz="1250" dirty="0"/>
          </a:p>
        </p:txBody>
      </p:sp>
      <p:sp>
        <p:nvSpPr>
          <p:cNvPr id="16" name="Shape 14"/>
          <p:cNvSpPr/>
          <p:nvPr/>
        </p:nvSpPr>
        <p:spPr>
          <a:xfrm>
            <a:off x="4251960" y="3630168"/>
            <a:ext cx="3520440" cy="1965960"/>
          </a:xfrm>
          <a:prstGeom prst="roundRect">
            <a:avLst>
              <a:gd name="adj" fmla="val 4651"/>
            </a:avLst>
          </a:prstGeom>
          <a:solidFill>
            <a:srgbClr val="FFFFFF"/>
          </a:solidFill>
          <a:ln w="12700">
            <a:solidFill>
              <a:srgbClr val="D9E3E8"/>
            </a:solidFill>
            <a:prstDash val="solid"/>
          </a:ln>
        </p:spPr>
      </p:sp>
      <p:sp>
        <p:nvSpPr>
          <p:cNvPr id="17" name="Text 15"/>
          <p:cNvSpPr/>
          <p:nvPr/>
        </p:nvSpPr>
        <p:spPr>
          <a:xfrm>
            <a:off x="4251960" y="3831336"/>
            <a:ext cx="3520440" cy="914400"/>
          </a:xfrm>
          <a:prstGeom prst="rect">
            <a:avLst/>
          </a:prstGeom>
          <a:noFill/>
          <a:ln/>
        </p:spPr>
        <p:txBody>
          <a:bodyPr wrap="square" rtlCol="0" anchor="ctr"/>
          <a:lstStyle/>
          <a:p>
            <a:pPr algn="ctr" indent="0" marL="0">
              <a:buNone/>
            </a:pPr>
            <a:r>
              <a:rPr lang="en-US" sz="4200" b="1" dirty="0">
                <a:solidFill>
                  <a:srgbClr val="1C7293"/>
                </a:solidFill>
                <a:latin typeface="Arial" pitchFamily="34" charset="0"/>
                <a:ea typeface="Arial" pitchFamily="34" charset="-122"/>
                <a:cs typeface="Arial" pitchFamily="34" charset="-120"/>
              </a:rPr>
              <a:t>~3 min</a:t>
            </a:r>
            <a:endParaRPr lang="en-US" sz="4200" dirty="0"/>
          </a:p>
        </p:txBody>
      </p:sp>
      <p:sp>
        <p:nvSpPr>
          <p:cNvPr id="18" name="Text 16"/>
          <p:cNvSpPr/>
          <p:nvPr/>
        </p:nvSpPr>
        <p:spPr>
          <a:xfrm>
            <a:off x="4251960" y="4818888"/>
            <a:ext cx="3520440" cy="457200"/>
          </a:xfrm>
          <a:prstGeom prst="rect">
            <a:avLst/>
          </a:prstGeom>
          <a:noFill/>
          <a:ln/>
        </p:spPr>
        <p:txBody>
          <a:bodyPr wrap="square" rtlCol="0" anchor="ctr"/>
          <a:lstStyle/>
          <a:p>
            <a:pPr algn="ctr" indent="0" marL="0">
              <a:buNone/>
            </a:pPr>
            <a:r>
              <a:rPr lang="en-US" sz="1250" dirty="0">
                <a:solidFill>
                  <a:srgbClr val="5B6B7A"/>
                </a:solidFill>
                <a:latin typeface="Calibri" pitchFamily="34" charset="0"/>
                <a:ea typeface="Calibri" pitchFamily="34" charset="-122"/>
                <a:cs typeface="Calibri" pitchFamily="34" charset="-120"/>
              </a:rPr>
              <a:t>Automated Deploy Time</a:t>
            </a:r>
            <a:endParaRPr lang="en-US" sz="1250" dirty="0"/>
          </a:p>
        </p:txBody>
      </p:sp>
      <p:sp>
        <p:nvSpPr>
          <p:cNvPr id="19" name="Shape 17"/>
          <p:cNvSpPr/>
          <p:nvPr/>
        </p:nvSpPr>
        <p:spPr>
          <a:xfrm>
            <a:off x="7955280" y="3630168"/>
            <a:ext cx="3520440" cy="1965960"/>
          </a:xfrm>
          <a:prstGeom prst="roundRect">
            <a:avLst>
              <a:gd name="adj" fmla="val 4651"/>
            </a:avLst>
          </a:prstGeom>
          <a:solidFill>
            <a:srgbClr val="FFFFFF"/>
          </a:solidFill>
          <a:ln w="12700">
            <a:solidFill>
              <a:srgbClr val="D9E3E8"/>
            </a:solidFill>
            <a:prstDash val="solid"/>
          </a:ln>
        </p:spPr>
      </p:sp>
      <p:sp>
        <p:nvSpPr>
          <p:cNvPr id="20" name="Text 18"/>
          <p:cNvSpPr/>
          <p:nvPr/>
        </p:nvSpPr>
        <p:spPr>
          <a:xfrm>
            <a:off x="7955280" y="3831336"/>
            <a:ext cx="3520440" cy="914400"/>
          </a:xfrm>
          <a:prstGeom prst="rect">
            <a:avLst/>
          </a:prstGeom>
          <a:noFill/>
          <a:ln/>
        </p:spPr>
        <p:txBody>
          <a:bodyPr wrap="square" rtlCol="0" anchor="ctr"/>
          <a:lstStyle/>
          <a:p>
            <a:pPr algn="ctr" indent="0" marL="0">
              <a:buNone/>
            </a:pPr>
            <a:r>
              <a:rPr lang="en-US" sz="4200" b="1" dirty="0">
                <a:solidFill>
                  <a:srgbClr val="17203A"/>
                </a:solidFill>
                <a:latin typeface="Arial" pitchFamily="34" charset="0"/>
                <a:ea typeface="Arial" pitchFamily="34" charset="-122"/>
                <a:cs typeface="Arial" pitchFamily="34" charset="-120"/>
              </a:rPr>
              <a:t>100%</a:t>
            </a:r>
            <a:endParaRPr lang="en-US" sz="4200" dirty="0"/>
          </a:p>
        </p:txBody>
      </p:sp>
      <p:sp>
        <p:nvSpPr>
          <p:cNvPr id="21" name="Text 19"/>
          <p:cNvSpPr/>
          <p:nvPr/>
        </p:nvSpPr>
        <p:spPr>
          <a:xfrm>
            <a:off x="7955280" y="4818888"/>
            <a:ext cx="3520440" cy="457200"/>
          </a:xfrm>
          <a:prstGeom prst="rect">
            <a:avLst/>
          </a:prstGeom>
          <a:noFill/>
          <a:ln/>
        </p:spPr>
        <p:txBody>
          <a:bodyPr wrap="square" rtlCol="0" anchor="ctr"/>
          <a:lstStyle/>
          <a:p>
            <a:pPr algn="ctr" indent="0" marL="0">
              <a:buNone/>
            </a:pPr>
            <a:r>
              <a:rPr lang="en-US" sz="1250" dirty="0">
                <a:solidFill>
                  <a:srgbClr val="5B6B7A"/>
                </a:solidFill>
                <a:latin typeface="Calibri" pitchFamily="34" charset="0"/>
                <a:ea typeface="Calibri" pitchFamily="34" charset="-122"/>
                <a:cs typeface="Calibri" pitchFamily="34" charset="-120"/>
              </a:rPr>
              <a:t>HTTPS Enabled</a:t>
            </a:r>
            <a:endParaRPr lang="en-US" sz="1250" dirty="0"/>
          </a:p>
        </p:txBody>
      </p:sp>
      <p:sp>
        <p:nvSpPr>
          <p:cNvPr id="22" name="Text 2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065A82"/>
                </a:solidFill>
                <a:latin typeface="Calibri" pitchFamily="34" charset="0"/>
                <a:ea typeface="Calibri" pitchFamily="34" charset="-122"/>
                <a:cs typeface="Calibri" pitchFamily="34" charset="-120"/>
              </a:rPr>
              <a:t>ENGINEERING CHALLENGES</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16232E"/>
                </a:solidFill>
                <a:latin typeface="Arial" pitchFamily="34" charset="0"/>
                <a:ea typeface="Arial" pitchFamily="34" charset="-122"/>
                <a:cs typeface="Arial" pitchFamily="34" charset="-120"/>
              </a:rPr>
              <a:t>Toughest Bugs &amp; How They Were Fixed</a:t>
            </a:r>
            <a:endParaRPr lang="en-US" sz="2800" dirty="0"/>
          </a:p>
        </p:txBody>
      </p:sp>
      <p:sp>
        <p:nvSpPr>
          <p:cNvPr id="4" name="Shape 2"/>
          <p:cNvSpPr/>
          <p:nvPr/>
        </p:nvSpPr>
        <p:spPr>
          <a:xfrm>
            <a:off x="548640" y="1417320"/>
            <a:ext cx="10881360" cy="603504"/>
          </a:xfrm>
          <a:prstGeom prst="rect">
            <a:avLst/>
          </a:prstGeom>
          <a:solidFill>
            <a:srgbClr val="F4F8FA"/>
          </a:solidFill>
          <a:ln w="6350">
            <a:solidFill>
              <a:srgbClr val="D9E3E8"/>
            </a:solidFill>
            <a:prstDash val="solid"/>
          </a:ln>
        </p:spPr>
      </p:sp>
      <p:sp>
        <p:nvSpPr>
          <p:cNvPr id="5" name="Text 3"/>
          <p:cNvSpPr/>
          <p:nvPr/>
        </p:nvSpPr>
        <p:spPr>
          <a:xfrm>
            <a:off x="731520" y="1417320"/>
            <a:ext cx="1920240" cy="603504"/>
          </a:xfrm>
          <a:prstGeom prst="rect">
            <a:avLst/>
          </a:prstGeom>
          <a:noFill/>
          <a:ln/>
        </p:spPr>
        <p:txBody>
          <a:bodyPr wrap="square" rtlCol="0" anchor="ctr"/>
          <a:lstStyle/>
          <a:p>
            <a:pPr indent="0" marL="0">
              <a:buNone/>
            </a:pPr>
            <a:r>
              <a:rPr lang="en-US" sz="1150" b="1" dirty="0">
                <a:solidFill>
                  <a:srgbClr val="065A82"/>
                </a:solidFill>
                <a:latin typeface="Arial" pitchFamily="34" charset="0"/>
                <a:ea typeface="Arial" pitchFamily="34" charset="-122"/>
                <a:cs typeface="Arial" pitchFamily="34" charset="-120"/>
              </a:rPr>
              <a:t>Docker networking</a:t>
            </a:r>
            <a:endParaRPr lang="en-US" sz="1150" dirty="0"/>
          </a:p>
        </p:txBody>
      </p:sp>
      <p:sp>
        <p:nvSpPr>
          <p:cNvPr id="6" name="Text 4"/>
          <p:cNvSpPr/>
          <p:nvPr/>
        </p:nvSpPr>
        <p:spPr>
          <a:xfrm>
            <a:off x="2697480" y="1417320"/>
            <a:ext cx="2834640" cy="603504"/>
          </a:xfrm>
          <a:prstGeom prst="rect">
            <a:avLst/>
          </a:prstGeom>
          <a:noFill/>
          <a:ln/>
        </p:spPr>
        <p:txBody>
          <a:bodyPr wrap="square" rtlCol="0" anchor="ctr"/>
          <a:lstStyle/>
          <a:p>
            <a:pPr indent="0" marL="0">
              <a:buNone/>
            </a:pPr>
            <a:r>
              <a:rPr lang="en-US" sz="1000" dirty="0">
                <a:solidFill>
                  <a:srgbClr val="B03A2E"/>
                </a:solidFill>
                <a:latin typeface="Courier New" pitchFamily="34" charset="0"/>
                <a:ea typeface="Courier New" pitchFamily="34" charset="-122"/>
                <a:cs typeface="Courier New" pitchFamily="34" charset="-120"/>
              </a:rPr>
              <a:t>Cannot connect to backend</a:t>
            </a:r>
            <a:endParaRPr lang="en-US" sz="1000" dirty="0"/>
          </a:p>
        </p:txBody>
      </p:sp>
      <p:sp>
        <p:nvSpPr>
          <p:cNvPr id="7" name="Text 5"/>
          <p:cNvSpPr/>
          <p:nvPr/>
        </p:nvSpPr>
        <p:spPr>
          <a:xfrm>
            <a:off x="5623560" y="1417320"/>
            <a:ext cx="5669280" cy="603504"/>
          </a:xfrm>
          <a:prstGeom prst="rect">
            <a:avLst/>
          </a:prstGeom>
          <a:noFill/>
          <a:ln/>
        </p:spPr>
        <p:txBody>
          <a:bodyPr wrap="square" rtlCol="0" anchor="ctr"/>
          <a:lstStyle/>
          <a:p>
            <a:pPr indent="0" marL="0">
              <a:buNone/>
            </a:pPr>
            <a:r>
              <a:rPr lang="en-US" sz="1050" dirty="0">
                <a:solidFill>
                  <a:srgbClr val="16232E"/>
                </a:solidFill>
                <a:latin typeface="Calibri" pitchFamily="34" charset="0"/>
                <a:ea typeface="Calibri" pitchFamily="34" charset="-122"/>
                <a:cs typeface="Calibri" pitchFamily="34" charset="-120"/>
              </a:rPr>
              <a:t>Created a shared Docker network so containers resolve each other by service name</a:t>
            </a:r>
            <a:endParaRPr lang="en-US" sz="1050" dirty="0"/>
          </a:p>
        </p:txBody>
      </p:sp>
      <p:sp>
        <p:nvSpPr>
          <p:cNvPr id="8" name="Shape 6"/>
          <p:cNvSpPr/>
          <p:nvPr/>
        </p:nvSpPr>
        <p:spPr>
          <a:xfrm>
            <a:off x="548640" y="2020824"/>
            <a:ext cx="10881360" cy="603504"/>
          </a:xfrm>
          <a:prstGeom prst="rect">
            <a:avLst/>
          </a:prstGeom>
          <a:solidFill>
            <a:srgbClr val="FFFFFF"/>
          </a:solidFill>
          <a:ln w="6350">
            <a:solidFill>
              <a:srgbClr val="D9E3E8"/>
            </a:solidFill>
            <a:prstDash val="solid"/>
          </a:ln>
        </p:spPr>
      </p:sp>
      <p:sp>
        <p:nvSpPr>
          <p:cNvPr id="9" name="Text 7"/>
          <p:cNvSpPr/>
          <p:nvPr/>
        </p:nvSpPr>
        <p:spPr>
          <a:xfrm>
            <a:off x="731520" y="2020824"/>
            <a:ext cx="1920240" cy="603504"/>
          </a:xfrm>
          <a:prstGeom prst="rect">
            <a:avLst/>
          </a:prstGeom>
          <a:noFill/>
          <a:ln/>
        </p:spPr>
        <p:txBody>
          <a:bodyPr wrap="square" rtlCol="0" anchor="ctr"/>
          <a:lstStyle/>
          <a:p>
            <a:pPr indent="0" marL="0">
              <a:buNone/>
            </a:pPr>
            <a:r>
              <a:rPr lang="en-US" sz="1150" b="1" dirty="0">
                <a:solidFill>
                  <a:srgbClr val="065A82"/>
                </a:solidFill>
                <a:latin typeface="Arial" pitchFamily="34" charset="0"/>
                <a:ea typeface="Arial" pitchFamily="34" charset="-122"/>
                <a:cs typeface="Arial" pitchFamily="34" charset="-120"/>
              </a:rPr>
              <a:t>MongoDB</a:t>
            </a:r>
            <a:endParaRPr lang="en-US" sz="1150" dirty="0"/>
          </a:p>
        </p:txBody>
      </p:sp>
      <p:sp>
        <p:nvSpPr>
          <p:cNvPr id="10" name="Text 8"/>
          <p:cNvSpPr/>
          <p:nvPr/>
        </p:nvSpPr>
        <p:spPr>
          <a:xfrm>
            <a:off x="2697480" y="2020824"/>
            <a:ext cx="2834640" cy="603504"/>
          </a:xfrm>
          <a:prstGeom prst="rect">
            <a:avLst/>
          </a:prstGeom>
          <a:noFill/>
          <a:ln/>
        </p:spPr>
        <p:txBody>
          <a:bodyPr wrap="square" rtlCol="0" anchor="ctr"/>
          <a:lstStyle/>
          <a:p>
            <a:pPr indent="0" marL="0">
              <a:buNone/>
            </a:pPr>
            <a:r>
              <a:rPr lang="en-US" sz="1000" dirty="0">
                <a:solidFill>
                  <a:srgbClr val="B03A2E"/>
                </a:solidFill>
                <a:latin typeface="Courier New" pitchFamily="34" charset="0"/>
                <a:ea typeface="Courier New" pitchFamily="34" charset="-122"/>
                <a:cs typeface="Courier New" pitchFamily="34" charset="-120"/>
              </a:rPr>
              <a:t>Connection timeout</a:t>
            </a:r>
            <a:endParaRPr lang="en-US" sz="1000" dirty="0"/>
          </a:p>
        </p:txBody>
      </p:sp>
      <p:sp>
        <p:nvSpPr>
          <p:cNvPr id="11" name="Text 9"/>
          <p:cNvSpPr/>
          <p:nvPr/>
        </p:nvSpPr>
        <p:spPr>
          <a:xfrm>
            <a:off x="5623560" y="2020824"/>
            <a:ext cx="5669280" cy="603504"/>
          </a:xfrm>
          <a:prstGeom prst="rect">
            <a:avLst/>
          </a:prstGeom>
          <a:noFill/>
          <a:ln/>
        </p:spPr>
        <p:txBody>
          <a:bodyPr wrap="square" rtlCol="0" anchor="ctr"/>
          <a:lstStyle/>
          <a:p>
            <a:pPr indent="0" marL="0">
              <a:buNone/>
            </a:pPr>
            <a:r>
              <a:rPr lang="en-US" sz="1050" dirty="0">
                <a:solidFill>
                  <a:srgbClr val="16232E"/>
                </a:solidFill>
                <a:latin typeface="Calibri" pitchFamily="34" charset="0"/>
                <a:ea typeface="Calibri" pitchFamily="34" charset="-122"/>
                <a:cs typeface="Calibri" pitchFamily="34" charset="-120"/>
              </a:rPr>
              <a:t>Fixed .env URI and whitelisted the EC2 IP in Atlas</a:t>
            </a:r>
            <a:endParaRPr lang="en-US" sz="1050" dirty="0"/>
          </a:p>
        </p:txBody>
      </p:sp>
      <p:sp>
        <p:nvSpPr>
          <p:cNvPr id="12" name="Shape 10"/>
          <p:cNvSpPr/>
          <p:nvPr/>
        </p:nvSpPr>
        <p:spPr>
          <a:xfrm>
            <a:off x="548640" y="2624328"/>
            <a:ext cx="10881360" cy="603504"/>
          </a:xfrm>
          <a:prstGeom prst="rect">
            <a:avLst/>
          </a:prstGeom>
          <a:solidFill>
            <a:srgbClr val="F4F8FA"/>
          </a:solidFill>
          <a:ln w="6350">
            <a:solidFill>
              <a:srgbClr val="D9E3E8"/>
            </a:solidFill>
            <a:prstDash val="solid"/>
          </a:ln>
        </p:spPr>
      </p:sp>
      <p:sp>
        <p:nvSpPr>
          <p:cNvPr id="13" name="Text 11"/>
          <p:cNvSpPr/>
          <p:nvPr/>
        </p:nvSpPr>
        <p:spPr>
          <a:xfrm>
            <a:off x="731520" y="2624328"/>
            <a:ext cx="1920240" cy="603504"/>
          </a:xfrm>
          <a:prstGeom prst="rect">
            <a:avLst/>
          </a:prstGeom>
          <a:noFill/>
          <a:ln/>
        </p:spPr>
        <p:txBody>
          <a:bodyPr wrap="square" rtlCol="0" anchor="ctr"/>
          <a:lstStyle/>
          <a:p>
            <a:pPr indent="0" marL="0">
              <a:buNone/>
            </a:pPr>
            <a:r>
              <a:rPr lang="en-US" sz="1150" b="1" dirty="0">
                <a:solidFill>
                  <a:srgbClr val="065A82"/>
                </a:solidFill>
                <a:latin typeface="Arial" pitchFamily="34" charset="0"/>
                <a:ea typeface="Arial" pitchFamily="34" charset="-122"/>
                <a:cs typeface="Arial" pitchFamily="34" charset="-120"/>
              </a:rPr>
              <a:t>Google OAuth</a:t>
            </a:r>
            <a:endParaRPr lang="en-US" sz="1150" dirty="0"/>
          </a:p>
        </p:txBody>
      </p:sp>
      <p:sp>
        <p:nvSpPr>
          <p:cNvPr id="14" name="Text 12"/>
          <p:cNvSpPr/>
          <p:nvPr/>
        </p:nvSpPr>
        <p:spPr>
          <a:xfrm>
            <a:off x="2697480" y="2624328"/>
            <a:ext cx="2834640" cy="603504"/>
          </a:xfrm>
          <a:prstGeom prst="rect">
            <a:avLst/>
          </a:prstGeom>
          <a:noFill/>
          <a:ln/>
        </p:spPr>
        <p:txBody>
          <a:bodyPr wrap="square" rtlCol="0" anchor="ctr"/>
          <a:lstStyle/>
          <a:p>
            <a:pPr indent="0" marL="0">
              <a:buNone/>
            </a:pPr>
            <a:r>
              <a:rPr lang="en-US" sz="1000" dirty="0">
                <a:solidFill>
                  <a:srgbClr val="B03A2E"/>
                </a:solidFill>
                <a:latin typeface="Courier New" pitchFamily="34" charset="0"/>
                <a:ea typeface="Courier New" pitchFamily="34" charset="-122"/>
                <a:cs typeface="Courier New" pitchFamily="34" charset="-120"/>
              </a:rPr>
              <a:t>redirect_uri_mismatch</a:t>
            </a:r>
            <a:endParaRPr lang="en-US" sz="1000" dirty="0"/>
          </a:p>
        </p:txBody>
      </p:sp>
      <p:sp>
        <p:nvSpPr>
          <p:cNvPr id="15" name="Text 13"/>
          <p:cNvSpPr/>
          <p:nvPr/>
        </p:nvSpPr>
        <p:spPr>
          <a:xfrm>
            <a:off x="5623560" y="2624328"/>
            <a:ext cx="5669280" cy="603504"/>
          </a:xfrm>
          <a:prstGeom prst="rect">
            <a:avLst/>
          </a:prstGeom>
          <a:noFill/>
          <a:ln/>
        </p:spPr>
        <p:txBody>
          <a:bodyPr wrap="square" rtlCol="0" anchor="ctr"/>
          <a:lstStyle/>
          <a:p>
            <a:pPr indent="0" marL="0">
              <a:buNone/>
            </a:pPr>
            <a:r>
              <a:rPr lang="en-US" sz="1050" dirty="0">
                <a:solidFill>
                  <a:srgbClr val="16232E"/>
                </a:solidFill>
                <a:latin typeface="Calibri" pitchFamily="34" charset="0"/>
                <a:ea typeface="Calibri" pitchFamily="34" charset="-122"/>
                <a:cs typeface="Calibri" pitchFamily="34" charset="-120"/>
              </a:rPr>
              <a:t>Corrected the authorized redirect URI in Google Cloud Console</a:t>
            </a:r>
            <a:endParaRPr lang="en-US" sz="1050" dirty="0"/>
          </a:p>
        </p:txBody>
      </p:sp>
      <p:sp>
        <p:nvSpPr>
          <p:cNvPr id="16" name="Shape 14"/>
          <p:cNvSpPr/>
          <p:nvPr/>
        </p:nvSpPr>
        <p:spPr>
          <a:xfrm>
            <a:off x="548640" y="3227832"/>
            <a:ext cx="10881360" cy="603504"/>
          </a:xfrm>
          <a:prstGeom prst="rect">
            <a:avLst/>
          </a:prstGeom>
          <a:solidFill>
            <a:srgbClr val="FFFFFF"/>
          </a:solidFill>
          <a:ln w="6350">
            <a:solidFill>
              <a:srgbClr val="D9E3E8"/>
            </a:solidFill>
            <a:prstDash val="solid"/>
          </a:ln>
        </p:spPr>
      </p:sp>
      <p:sp>
        <p:nvSpPr>
          <p:cNvPr id="17" name="Text 15"/>
          <p:cNvSpPr/>
          <p:nvPr/>
        </p:nvSpPr>
        <p:spPr>
          <a:xfrm>
            <a:off x="731520" y="3227832"/>
            <a:ext cx="1920240" cy="603504"/>
          </a:xfrm>
          <a:prstGeom prst="rect">
            <a:avLst/>
          </a:prstGeom>
          <a:noFill/>
          <a:ln/>
        </p:spPr>
        <p:txBody>
          <a:bodyPr wrap="square" rtlCol="0" anchor="ctr"/>
          <a:lstStyle/>
          <a:p>
            <a:pPr indent="0" marL="0">
              <a:buNone/>
            </a:pPr>
            <a:r>
              <a:rPr lang="en-US" sz="1150" b="1" dirty="0">
                <a:solidFill>
                  <a:srgbClr val="065A82"/>
                </a:solidFill>
                <a:latin typeface="Arial" pitchFamily="34" charset="0"/>
                <a:ea typeface="Arial" pitchFamily="34" charset="-122"/>
                <a:cs typeface="Arial" pitchFamily="34" charset="-120"/>
              </a:rPr>
              <a:t>JWT</a:t>
            </a:r>
            <a:endParaRPr lang="en-US" sz="1150" dirty="0"/>
          </a:p>
        </p:txBody>
      </p:sp>
      <p:sp>
        <p:nvSpPr>
          <p:cNvPr id="18" name="Text 16"/>
          <p:cNvSpPr/>
          <p:nvPr/>
        </p:nvSpPr>
        <p:spPr>
          <a:xfrm>
            <a:off x="2697480" y="3227832"/>
            <a:ext cx="2834640" cy="603504"/>
          </a:xfrm>
          <a:prstGeom prst="rect">
            <a:avLst/>
          </a:prstGeom>
          <a:noFill/>
          <a:ln/>
        </p:spPr>
        <p:txBody>
          <a:bodyPr wrap="square" rtlCol="0" anchor="ctr"/>
          <a:lstStyle/>
          <a:p>
            <a:pPr indent="0" marL="0">
              <a:buNone/>
            </a:pPr>
            <a:r>
              <a:rPr lang="en-US" sz="1000" dirty="0">
                <a:solidFill>
                  <a:srgbClr val="B03A2E"/>
                </a:solidFill>
                <a:latin typeface="Courier New" pitchFamily="34" charset="0"/>
                <a:ea typeface="Courier New" pitchFamily="34" charset="-122"/>
                <a:cs typeface="Courier New" pitchFamily="34" charset="-120"/>
              </a:rPr>
              <a:t>401 Unauthorized</a:t>
            </a:r>
            <a:endParaRPr lang="en-US" sz="1000" dirty="0"/>
          </a:p>
        </p:txBody>
      </p:sp>
      <p:sp>
        <p:nvSpPr>
          <p:cNvPr id="19" name="Text 17"/>
          <p:cNvSpPr/>
          <p:nvPr/>
        </p:nvSpPr>
        <p:spPr>
          <a:xfrm>
            <a:off x="5623560" y="3227832"/>
            <a:ext cx="5669280" cy="603504"/>
          </a:xfrm>
          <a:prstGeom prst="rect">
            <a:avLst/>
          </a:prstGeom>
          <a:noFill/>
          <a:ln/>
        </p:spPr>
        <p:txBody>
          <a:bodyPr wrap="square" rtlCol="0" anchor="ctr"/>
          <a:lstStyle/>
          <a:p>
            <a:pPr indent="0" marL="0">
              <a:buNone/>
            </a:pPr>
            <a:r>
              <a:rPr lang="en-US" sz="1050" dirty="0">
                <a:solidFill>
                  <a:srgbClr val="16232E"/>
                </a:solidFill>
                <a:latin typeface="Calibri" pitchFamily="34" charset="0"/>
                <a:ea typeface="Calibri" pitchFamily="34" charset="-122"/>
                <a:cs typeface="Calibri" pitchFamily="34" charset="-120"/>
              </a:rPr>
              <a:t>Verified Bearer header format and matching JWT secret across environments</a:t>
            </a:r>
            <a:endParaRPr lang="en-US" sz="1050" dirty="0"/>
          </a:p>
        </p:txBody>
      </p:sp>
      <p:sp>
        <p:nvSpPr>
          <p:cNvPr id="20" name="Shape 18"/>
          <p:cNvSpPr/>
          <p:nvPr/>
        </p:nvSpPr>
        <p:spPr>
          <a:xfrm>
            <a:off x="548640" y="3831336"/>
            <a:ext cx="10881360" cy="603504"/>
          </a:xfrm>
          <a:prstGeom prst="rect">
            <a:avLst/>
          </a:prstGeom>
          <a:solidFill>
            <a:srgbClr val="F4F8FA"/>
          </a:solidFill>
          <a:ln w="6350">
            <a:solidFill>
              <a:srgbClr val="D9E3E8"/>
            </a:solidFill>
            <a:prstDash val="solid"/>
          </a:ln>
        </p:spPr>
      </p:sp>
      <p:sp>
        <p:nvSpPr>
          <p:cNvPr id="21" name="Text 19"/>
          <p:cNvSpPr/>
          <p:nvPr/>
        </p:nvSpPr>
        <p:spPr>
          <a:xfrm>
            <a:off x="731520" y="3831336"/>
            <a:ext cx="1920240" cy="603504"/>
          </a:xfrm>
          <a:prstGeom prst="rect">
            <a:avLst/>
          </a:prstGeom>
          <a:noFill/>
          <a:ln/>
        </p:spPr>
        <p:txBody>
          <a:bodyPr wrap="square" rtlCol="0" anchor="ctr"/>
          <a:lstStyle/>
          <a:p>
            <a:pPr indent="0" marL="0">
              <a:buNone/>
            </a:pPr>
            <a:r>
              <a:rPr lang="en-US" sz="1150" b="1" dirty="0">
                <a:solidFill>
                  <a:srgbClr val="065A82"/>
                </a:solidFill>
                <a:latin typeface="Arial" pitchFamily="34" charset="0"/>
                <a:ea typeface="Arial" pitchFamily="34" charset="-122"/>
                <a:cs typeface="Arial" pitchFamily="34" charset="-120"/>
              </a:rPr>
              <a:t>Judge0</a:t>
            </a:r>
            <a:endParaRPr lang="en-US" sz="1150" dirty="0"/>
          </a:p>
        </p:txBody>
      </p:sp>
      <p:sp>
        <p:nvSpPr>
          <p:cNvPr id="22" name="Text 20"/>
          <p:cNvSpPr/>
          <p:nvPr/>
        </p:nvSpPr>
        <p:spPr>
          <a:xfrm>
            <a:off x="2697480" y="3831336"/>
            <a:ext cx="2834640" cy="603504"/>
          </a:xfrm>
          <a:prstGeom prst="rect">
            <a:avLst/>
          </a:prstGeom>
          <a:noFill/>
          <a:ln/>
        </p:spPr>
        <p:txBody>
          <a:bodyPr wrap="square" rtlCol="0" anchor="ctr"/>
          <a:lstStyle/>
          <a:p>
            <a:pPr indent="0" marL="0">
              <a:buNone/>
            </a:pPr>
            <a:r>
              <a:rPr lang="en-US" sz="1000" dirty="0">
                <a:solidFill>
                  <a:srgbClr val="B03A2E"/>
                </a:solidFill>
                <a:latin typeface="Courier New" pitchFamily="34" charset="0"/>
                <a:ea typeface="Courier New" pitchFamily="34" charset="-122"/>
                <a:cs typeface="Courier New" pitchFamily="34" charset="-120"/>
              </a:rPr>
              <a:t>Compilation timeout</a:t>
            </a:r>
            <a:endParaRPr lang="en-US" sz="1000" dirty="0"/>
          </a:p>
        </p:txBody>
      </p:sp>
      <p:sp>
        <p:nvSpPr>
          <p:cNvPr id="23" name="Text 21"/>
          <p:cNvSpPr/>
          <p:nvPr/>
        </p:nvSpPr>
        <p:spPr>
          <a:xfrm>
            <a:off x="5623560" y="3831336"/>
            <a:ext cx="5669280" cy="603504"/>
          </a:xfrm>
          <a:prstGeom prst="rect">
            <a:avLst/>
          </a:prstGeom>
          <a:noFill/>
          <a:ln/>
        </p:spPr>
        <p:txBody>
          <a:bodyPr wrap="square" rtlCol="0" anchor="ctr"/>
          <a:lstStyle/>
          <a:p>
            <a:pPr indent="0" marL="0">
              <a:buNone/>
            </a:pPr>
            <a:r>
              <a:rPr lang="en-US" sz="1050" dirty="0">
                <a:solidFill>
                  <a:srgbClr val="16232E"/>
                </a:solidFill>
                <a:latin typeface="Calibri" pitchFamily="34" charset="0"/>
                <a:ea typeface="Calibri" pitchFamily="34" charset="-122"/>
                <a:cs typeface="Calibri" pitchFamily="34" charset="-120"/>
              </a:rPr>
              <a:t>Added asynchronous polling with retry/backoff instead of a single blocking call</a:t>
            </a:r>
            <a:endParaRPr lang="en-US" sz="1050" dirty="0"/>
          </a:p>
        </p:txBody>
      </p:sp>
      <p:sp>
        <p:nvSpPr>
          <p:cNvPr id="24" name="Shape 22"/>
          <p:cNvSpPr/>
          <p:nvPr/>
        </p:nvSpPr>
        <p:spPr>
          <a:xfrm>
            <a:off x="548640" y="4434840"/>
            <a:ext cx="10881360" cy="603504"/>
          </a:xfrm>
          <a:prstGeom prst="rect">
            <a:avLst/>
          </a:prstGeom>
          <a:solidFill>
            <a:srgbClr val="FFFFFF"/>
          </a:solidFill>
          <a:ln w="6350">
            <a:solidFill>
              <a:srgbClr val="D9E3E8"/>
            </a:solidFill>
            <a:prstDash val="solid"/>
          </a:ln>
        </p:spPr>
      </p:sp>
      <p:sp>
        <p:nvSpPr>
          <p:cNvPr id="25" name="Text 23"/>
          <p:cNvSpPr/>
          <p:nvPr/>
        </p:nvSpPr>
        <p:spPr>
          <a:xfrm>
            <a:off x="731520" y="4434840"/>
            <a:ext cx="1920240" cy="603504"/>
          </a:xfrm>
          <a:prstGeom prst="rect">
            <a:avLst/>
          </a:prstGeom>
          <a:noFill/>
          <a:ln/>
        </p:spPr>
        <p:txBody>
          <a:bodyPr wrap="square" rtlCol="0" anchor="ctr"/>
          <a:lstStyle/>
          <a:p>
            <a:pPr indent="0" marL="0">
              <a:buNone/>
            </a:pPr>
            <a:r>
              <a:rPr lang="en-US" sz="1150" b="1" dirty="0">
                <a:solidFill>
                  <a:srgbClr val="065A82"/>
                </a:solidFill>
                <a:latin typeface="Arial" pitchFamily="34" charset="0"/>
                <a:ea typeface="Arial" pitchFamily="34" charset="-122"/>
                <a:cs typeface="Arial" pitchFamily="34" charset="-120"/>
              </a:rPr>
              <a:t>GitHub Actions</a:t>
            </a:r>
            <a:endParaRPr lang="en-US" sz="1150" dirty="0"/>
          </a:p>
        </p:txBody>
      </p:sp>
      <p:sp>
        <p:nvSpPr>
          <p:cNvPr id="26" name="Text 24"/>
          <p:cNvSpPr/>
          <p:nvPr/>
        </p:nvSpPr>
        <p:spPr>
          <a:xfrm>
            <a:off x="2697480" y="4434840"/>
            <a:ext cx="2834640" cy="603504"/>
          </a:xfrm>
          <a:prstGeom prst="rect">
            <a:avLst/>
          </a:prstGeom>
          <a:noFill/>
          <a:ln/>
        </p:spPr>
        <p:txBody>
          <a:bodyPr wrap="square" rtlCol="0" anchor="ctr"/>
          <a:lstStyle/>
          <a:p>
            <a:pPr indent="0" marL="0">
              <a:buNone/>
            </a:pPr>
            <a:r>
              <a:rPr lang="en-US" sz="1000" dirty="0">
                <a:solidFill>
                  <a:srgbClr val="B03A2E"/>
                </a:solidFill>
                <a:latin typeface="Courier New" pitchFamily="34" charset="0"/>
                <a:ea typeface="Courier New" pitchFamily="34" charset="-122"/>
                <a:cs typeface="Courier New" pitchFamily="34" charset="-120"/>
              </a:rPr>
              <a:t>Permission denied (publickey)</a:t>
            </a:r>
            <a:endParaRPr lang="en-US" sz="1000" dirty="0"/>
          </a:p>
        </p:txBody>
      </p:sp>
      <p:sp>
        <p:nvSpPr>
          <p:cNvPr id="27" name="Text 25"/>
          <p:cNvSpPr/>
          <p:nvPr/>
        </p:nvSpPr>
        <p:spPr>
          <a:xfrm>
            <a:off x="5623560" y="4434840"/>
            <a:ext cx="5669280" cy="603504"/>
          </a:xfrm>
          <a:prstGeom prst="rect">
            <a:avLst/>
          </a:prstGeom>
          <a:noFill/>
          <a:ln/>
        </p:spPr>
        <p:txBody>
          <a:bodyPr wrap="square" rtlCol="0" anchor="ctr"/>
          <a:lstStyle/>
          <a:p>
            <a:pPr indent="0" marL="0">
              <a:buNone/>
            </a:pPr>
            <a:r>
              <a:rPr lang="en-US" sz="1050" dirty="0">
                <a:solidFill>
                  <a:srgbClr val="16232E"/>
                </a:solidFill>
                <a:latin typeface="Calibri" pitchFamily="34" charset="0"/>
                <a:ea typeface="Calibri" pitchFamily="34" charset="-122"/>
                <a:cs typeface="Calibri" pitchFamily="34" charset="-120"/>
              </a:rPr>
              <a:t>Stored the EC2 PEM key correctly inside GitHub Secrets</a:t>
            </a:r>
            <a:endParaRPr lang="en-US" sz="1050" dirty="0"/>
          </a:p>
        </p:txBody>
      </p:sp>
      <p:sp>
        <p:nvSpPr>
          <p:cNvPr id="28" name="Shape 26"/>
          <p:cNvSpPr/>
          <p:nvPr/>
        </p:nvSpPr>
        <p:spPr>
          <a:xfrm>
            <a:off x="548640" y="5038344"/>
            <a:ext cx="10881360" cy="603504"/>
          </a:xfrm>
          <a:prstGeom prst="rect">
            <a:avLst/>
          </a:prstGeom>
          <a:solidFill>
            <a:srgbClr val="F4F8FA"/>
          </a:solidFill>
          <a:ln w="6350">
            <a:solidFill>
              <a:srgbClr val="D9E3E8"/>
            </a:solidFill>
            <a:prstDash val="solid"/>
          </a:ln>
        </p:spPr>
      </p:sp>
      <p:sp>
        <p:nvSpPr>
          <p:cNvPr id="29" name="Text 27"/>
          <p:cNvSpPr/>
          <p:nvPr/>
        </p:nvSpPr>
        <p:spPr>
          <a:xfrm>
            <a:off x="731520" y="5038344"/>
            <a:ext cx="1920240" cy="603504"/>
          </a:xfrm>
          <a:prstGeom prst="rect">
            <a:avLst/>
          </a:prstGeom>
          <a:noFill/>
          <a:ln/>
        </p:spPr>
        <p:txBody>
          <a:bodyPr wrap="square" rtlCol="0" anchor="ctr"/>
          <a:lstStyle/>
          <a:p>
            <a:pPr indent="0" marL="0">
              <a:buNone/>
            </a:pPr>
            <a:r>
              <a:rPr lang="en-US" sz="1150" b="1" dirty="0">
                <a:solidFill>
                  <a:srgbClr val="065A82"/>
                </a:solidFill>
                <a:latin typeface="Arial" pitchFamily="34" charset="0"/>
                <a:ea typeface="Arial" pitchFamily="34" charset="-122"/>
                <a:cs typeface="Arial" pitchFamily="34" charset="-120"/>
              </a:rPr>
              <a:t>EC2</a:t>
            </a:r>
            <a:endParaRPr lang="en-US" sz="1150" dirty="0"/>
          </a:p>
        </p:txBody>
      </p:sp>
      <p:sp>
        <p:nvSpPr>
          <p:cNvPr id="30" name="Text 28"/>
          <p:cNvSpPr/>
          <p:nvPr/>
        </p:nvSpPr>
        <p:spPr>
          <a:xfrm>
            <a:off x="2697480" y="5038344"/>
            <a:ext cx="2834640" cy="603504"/>
          </a:xfrm>
          <a:prstGeom prst="rect">
            <a:avLst/>
          </a:prstGeom>
          <a:noFill/>
          <a:ln/>
        </p:spPr>
        <p:txBody>
          <a:bodyPr wrap="square" rtlCol="0" anchor="ctr"/>
          <a:lstStyle/>
          <a:p>
            <a:pPr indent="0" marL="0">
              <a:buNone/>
            </a:pPr>
            <a:r>
              <a:rPr lang="en-US" sz="1000" dirty="0">
                <a:solidFill>
                  <a:srgbClr val="B03A2E"/>
                </a:solidFill>
                <a:latin typeface="Courier New" pitchFamily="34" charset="0"/>
                <a:ea typeface="Courier New" pitchFamily="34" charset="-122"/>
                <a:cs typeface="Courier New" pitchFamily="34" charset="-120"/>
              </a:rPr>
              <a:t>Port not accessible</a:t>
            </a:r>
            <a:endParaRPr lang="en-US" sz="1000" dirty="0"/>
          </a:p>
        </p:txBody>
      </p:sp>
      <p:sp>
        <p:nvSpPr>
          <p:cNvPr id="31" name="Text 29"/>
          <p:cNvSpPr/>
          <p:nvPr/>
        </p:nvSpPr>
        <p:spPr>
          <a:xfrm>
            <a:off x="5623560" y="5038344"/>
            <a:ext cx="5669280" cy="603504"/>
          </a:xfrm>
          <a:prstGeom prst="rect">
            <a:avLst/>
          </a:prstGeom>
          <a:noFill/>
          <a:ln/>
        </p:spPr>
        <p:txBody>
          <a:bodyPr wrap="square" rtlCol="0" anchor="ctr"/>
          <a:lstStyle/>
          <a:p>
            <a:pPr indent="0" marL="0">
              <a:buNone/>
            </a:pPr>
            <a:r>
              <a:rPr lang="en-US" sz="1050" dirty="0">
                <a:solidFill>
                  <a:srgbClr val="16232E"/>
                </a:solidFill>
                <a:latin typeface="Calibri" pitchFamily="34" charset="0"/>
                <a:ea typeface="Calibri" pitchFamily="34" charset="-122"/>
                <a:cs typeface="Calibri" pitchFamily="34" charset="-120"/>
              </a:rPr>
              <a:t>Opened ports 22, 80, 443 in the Security Group</a:t>
            </a:r>
            <a:endParaRPr lang="en-US" sz="1050" dirty="0"/>
          </a:p>
        </p:txBody>
      </p:sp>
      <p:sp>
        <p:nvSpPr>
          <p:cNvPr id="32" name="Shape 30"/>
          <p:cNvSpPr/>
          <p:nvPr/>
        </p:nvSpPr>
        <p:spPr>
          <a:xfrm>
            <a:off x="548640" y="5641848"/>
            <a:ext cx="10881360" cy="603504"/>
          </a:xfrm>
          <a:prstGeom prst="rect">
            <a:avLst/>
          </a:prstGeom>
          <a:solidFill>
            <a:srgbClr val="FFFFFF"/>
          </a:solidFill>
          <a:ln w="6350">
            <a:solidFill>
              <a:srgbClr val="D9E3E8"/>
            </a:solidFill>
            <a:prstDash val="solid"/>
          </a:ln>
        </p:spPr>
      </p:sp>
      <p:sp>
        <p:nvSpPr>
          <p:cNvPr id="33" name="Text 31"/>
          <p:cNvSpPr/>
          <p:nvPr/>
        </p:nvSpPr>
        <p:spPr>
          <a:xfrm>
            <a:off x="731520" y="5641848"/>
            <a:ext cx="1920240" cy="603504"/>
          </a:xfrm>
          <a:prstGeom prst="rect">
            <a:avLst/>
          </a:prstGeom>
          <a:noFill/>
          <a:ln/>
        </p:spPr>
        <p:txBody>
          <a:bodyPr wrap="square" rtlCol="0" anchor="ctr"/>
          <a:lstStyle/>
          <a:p>
            <a:pPr indent="0" marL="0">
              <a:buNone/>
            </a:pPr>
            <a:r>
              <a:rPr lang="en-US" sz="1150" b="1" dirty="0">
                <a:solidFill>
                  <a:srgbClr val="065A82"/>
                </a:solidFill>
                <a:latin typeface="Arial" pitchFamily="34" charset="0"/>
                <a:ea typeface="Arial" pitchFamily="34" charset="-122"/>
                <a:cs typeface="Arial" pitchFamily="34" charset="-120"/>
              </a:rPr>
              <a:t>Caddy</a:t>
            </a:r>
            <a:endParaRPr lang="en-US" sz="1150" dirty="0"/>
          </a:p>
        </p:txBody>
      </p:sp>
      <p:sp>
        <p:nvSpPr>
          <p:cNvPr id="34" name="Text 32"/>
          <p:cNvSpPr/>
          <p:nvPr/>
        </p:nvSpPr>
        <p:spPr>
          <a:xfrm>
            <a:off x="2697480" y="5641848"/>
            <a:ext cx="2834640" cy="603504"/>
          </a:xfrm>
          <a:prstGeom prst="rect">
            <a:avLst/>
          </a:prstGeom>
          <a:noFill/>
          <a:ln/>
        </p:spPr>
        <p:txBody>
          <a:bodyPr wrap="square" rtlCol="0" anchor="ctr"/>
          <a:lstStyle/>
          <a:p>
            <a:pPr indent="0" marL="0">
              <a:buNone/>
            </a:pPr>
            <a:r>
              <a:rPr lang="en-US" sz="1000" dirty="0">
                <a:solidFill>
                  <a:srgbClr val="B03A2E"/>
                </a:solidFill>
                <a:latin typeface="Courier New" pitchFamily="34" charset="0"/>
                <a:ea typeface="Courier New" pitchFamily="34" charset="-122"/>
                <a:cs typeface="Courier New" pitchFamily="34" charset="-120"/>
              </a:rPr>
              <a:t>HTTPS certificate not generated</a:t>
            </a:r>
            <a:endParaRPr lang="en-US" sz="1000" dirty="0"/>
          </a:p>
        </p:txBody>
      </p:sp>
      <p:sp>
        <p:nvSpPr>
          <p:cNvPr id="35" name="Text 33"/>
          <p:cNvSpPr/>
          <p:nvPr/>
        </p:nvSpPr>
        <p:spPr>
          <a:xfrm>
            <a:off x="5623560" y="5641848"/>
            <a:ext cx="5669280" cy="603504"/>
          </a:xfrm>
          <a:prstGeom prst="rect">
            <a:avLst/>
          </a:prstGeom>
          <a:noFill/>
          <a:ln/>
        </p:spPr>
        <p:txBody>
          <a:bodyPr wrap="square" rtlCol="0" anchor="ctr"/>
          <a:lstStyle/>
          <a:p>
            <a:pPr indent="0" marL="0">
              <a:buNone/>
            </a:pPr>
            <a:r>
              <a:rPr lang="en-US" sz="1050" dirty="0">
                <a:solidFill>
                  <a:srgbClr val="16232E"/>
                </a:solidFill>
                <a:latin typeface="Calibri" pitchFamily="34" charset="0"/>
                <a:ea typeface="Calibri" pitchFamily="34" charset="-122"/>
                <a:cs typeface="Calibri" pitchFamily="34" charset="-120"/>
              </a:rPr>
              <a:t>Verified DuckDNS resolution and opened port 80 for the ACME challenge</a:t>
            </a:r>
            <a:endParaRPr lang="en-US" sz="1050" dirty="0"/>
          </a:p>
        </p:txBody>
      </p:sp>
      <p:sp>
        <p:nvSpPr>
          <p:cNvPr id="36" name="Text 34"/>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7203A"/>
        </a:solidFill>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indent="0" marL="0">
              <a:buNone/>
            </a:pPr>
            <a:r>
              <a:rPr lang="en-US" sz="1250" b="1" spc="200" kern="0" dirty="0">
                <a:solidFill>
                  <a:srgbClr val="FFB100"/>
                </a:solidFill>
                <a:latin typeface="Calibri" pitchFamily="34" charset="0"/>
                <a:ea typeface="Calibri" pitchFamily="34" charset="-122"/>
                <a:cs typeface="Calibri" pitchFamily="34" charset="-120"/>
              </a:rPr>
              <a:t>CONCLUSION</a:t>
            </a:r>
            <a:endParaRPr lang="en-US" sz="1250" dirty="0"/>
          </a:p>
        </p:txBody>
      </p:sp>
      <p:sp>
        <p:nvSpPr>
          <p:cNvPr id="3" name="Text 1"/>
          <p:cNvSpPr/>
          <p:nvPr/>
        </p:nvSpPr>
        <p:spPr>
          <a:xfrm>
            <a:off x="548640" y="640080"/>
            <a:ext cx="11064240" cy="59436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Conclusion &amp; Future Scope</a:t>
            </a:r>
            <a:endParaRPr lang="en-US" sz="2800" dirty="0"/>
          </a:p>
        </p:txBody>
      </p:sp>
      <p:sp>
        <p:nvSpPr>
          <p:cNvPr id="4" name="Text 2"/>
          <p:cNvSpPr/>
          <p:nvPr/>
        </p:nvSpPr>
        <p:spPr>
          <a:xfrm>
            <a:off x="548640" y="1417320"/>
            <a:ext cx="4572000" cy="320040"/>
          </a:xfrm>
          <a:prstGeom prst="rect">
            <a:avLst/>
          </a:prstGeom>
          <a:noFill/>
          <a:ln/>
        </p:spPr>
        <p:txBody>
          <a:bodyPr wrap="square" rtlCol="0" anchor="ctr"/>
          <a:lstStyle/>
          <a:p>
            <a:pPr indent="0" marL="0">
              <a:buNone/>
            </a:pPr>
            <a:r>
              <a:rPr lang="en-US" sz="1200" b="1" spc="150" kern="0" dirty="0">
                <a:solidFill>
                  <a:srgbClr val="FFB100"/>
                </a:solidFill>
                <a:latin typeface="Calibri" pitchFamily="34" charset="0"/>
                <a:ea typeface="Calibri" pitchFamily="34" charset="-122"/>
                <a:cs typeface="Calibri" pitchFamily="34" charset="-120"/>
              </a:rPr>
              <a:t>ACHIEVEMENTS</a:t>
            </a:r>
            <a:endParaRPr lang="en-US" sz="1200" dirty="0"/>
          </a:p>
        </p:txBody>
      </p:sp>
      <p:sp>
        <p:nvSpPr>
          <p:cNvPr id="5" name="Shape 3"/>
          <p:cNvSpPr/>
          <p:nvPr/>
        </p:nvSpPr>
        <p:spPr>
          <a:xfrm>
            <a:off x="548640" y="1828800"/>
            <a:ext cx="182880" cy="182880"/>
          </a:xfrm>
          <a:prstGeom prst="ellipse">
            <a:avLst/>
          </a:prstGeom>
          <a:solidFill>
            <a:srgbClr val="FFB100"/>
          </a:solidFill>
          <a:ln/>
        </p:spPr>
      </p:sp>
      <p:sp>
        <p:nvSpPr>
          <p:cNvPr id="6" name="Text 4"/>
          <p:cNvSpPr/>
          <p:nvPr/>
        </p:nvSpPr>
        <p:spPr>
          <a:xfrm>
            <a:off x="914400" y="1728216"/>
            <a:ext cx="4937760" cy="384048"/>
          </a:xfrm>
          <a:prstGeom prst="rect">
            <a:avLst/>
          </a:prstGeom>
          <a:noFill/>
          <a:ln/>
        </p:spPr>
        <p:txBody>
          <a:bodyPr wrap="square" rtlCol="0" anchor="ctr"/>
          <a:lstStyle/>
          <a:p>
            <a:pPr indent="0" marL="0">
              <a:buNone/>
            </a:pPr>
            <a:r>
              <a:rPr lang="en-US" sz="1200" dirty="0">
                <a:solidFill>
                  <a:srgbClr val="E8EEF2"/>
                </a:solidFill>
                <a:latin typeface="Calibri" pitchFamily="34" charset="0"/>
                <a:ea typeface="Calibri" pitchFamily="34" charset="-122"/>
                <a:cs typeface="Calibri" pitchFamily="34" charset="-120"/>
              </a:rPr>
              <a:t>Production-style cloud-native coding platform</a:t>
            </a:r>
            <a:endParaRPr lang="en-US" sz="1200" dirty="0"/>
          </a:p>
        </p:txBody>
      </p:sp>
      <p:sp>
        <p:nvSpPr>
          <p:cNvPr id="7" name="Shape 5"/>
          <p:cNvSpPr/>
          <p:nvPr/>
        </p:nvSpPr>
        <p:spPr>
          <a:xfrm>
            <a:off x="548640" y="2359152"/>
            <a:ext cx="182880" cy="182880"/>
          </a:xfrm>
          <a:prstGeom prst="ellipse">
            <a:avLst/>
          </a:prstGeom>
          <a:solidFill>
            <a:srgbClr val="FFB100"/>
          </a:solidFill>
          <a:ln/>
        </p:spPr>
      </p:sp>
      <p:sp>
        <p:nvSpPr>
          <p:cNvPr id="8" name="Text 6"/>
          <p:cNvSpPr/>
          <p:nvPr/>
        </p:nvSpPr>
        <p:spPr>
          <a:xfrm>
            <a:off x="914400" y="2258568"/>
            <a:ext cx="4937760" cy="384048"/>
          </a:xfrm>
          <a:prstGeom prst="rect">
            <a:avLst/>
          </a:prstGeom>
          <a:noFill/>
          <a:ln/>
        </p:spPr>
        <p:txBody>
          <a:bodyPr wrap="square" rtlCol="0" anchor="ctr"/>
          <a:lstStyle/>
          <a:p>
            <a:pPr indent="0" marL="0">
              <a:buNone/>
            </a:pPr>
            <a:r>
              <a:rPr lang="en-US" sz="1200" dirty="0">
                <a:solidFill>
                  <a:srgbClr val="E8EEF2"/>
                </a:solidFill>
                <a:latin typeface="Calibri" pitchFamily="34" charset="0"/>
                <a:ea typeface="Calibri" pitchFamily="34" charset="-122"/>
                <a:cs typeface="Calibri" pitchFamily="34" charset="-120"/>
              </a:rPr>
              <a:t>Secure, password-less authentication</a:t>
            </a:r>
            <a:endParaRPr lang="en-US" sz="1200" dirty="0"/>
          </a:p>
        </p:txBody>
      </p:sp>
      <p:sp>
        <p:nvSpPr>
          <p:cNvPr id="9" name="Shape 7"/>
          <p:cNvSpPr/>
          <p:nvPr/>
        </p:nvSpPr>
        <p:spPr>
          <a:xfrm>
            <a:off x="548640" y="2889504"/>
            <a:ext cx="182880" cy="182880"/>
          </a:xfrm>
          <a:prstGeom prst="ellipse">
            <a:avLst/>
          </a:prstGeom>
          <a:solidFill>
            <a:srgbClr val="FFB100"/>
          </a:solidFill>
          <a:ln/>
        </p:spPr>
      </p:sp>
      <p:sp>
        <p:nvSpPr>
          <p:cNvPr id="10" name="Text 8"/>
          <p:cNvSpPr/>
          <p:nvPr/>
        </p:nvSpPr>
        <p:spPr>
          <a:xfrm>
            <a:off x="914400" y="2788920"/>
            <a:ext cx="4937760" cy="384048"/>
          </a:xfrm>
          <a:prstGeom prst="rect">
            <a:avLst/>
          </a:prstGeom>
          <a:noFill/>
          <a:ln/>
        </p:spPr>
        <p:txBody>
          <a:bodyPr wrap="square" rtlCol="0" anchor="ctr"/>
          <a:lstStyle/>
          <a:p>
            <a:pPr indent="0" marL="0">
              <a:buNone/>
            </a:pPr>
            <a:r>
              <a:rPr lang="en-US" sz="1200" dirty="0">
                <a:solidFill>
                  <a:srgbClr val="E8EEF2"/>
                </a:solidFill>
                <a:latin typeface="Calibri" pitchFamily="34" charset="0"/>
                <a:ea typeface="Calibri" pitchFamily="34" charset="-122"/>
                <a:cs typeface="Calibri" pitchFamily="34" charset="-120"/>
              </a:rPr>
              <a:t>Fully automated CI/CD to AWS</a:t>
            </a:r>
            <a:endParaRPr lang="en-US" sz="1200" dirty="0"/>
          </a:p>
        </p:txBody>
      </p:sp>
      <p:sp>
        <p:nvSpPr>
          <p:cNvPr id="11" name="Shape 9"/>
          <p:cNvSpPr/>
          <p:nvPr/>
        </p:nvSpPr>
        <p:spPr>
          <a:xfrm>
            <a:off x="548640" y="3419856"/>
            <a:ext cx="182880" cy="182880"/>
          </a:xfrm>
          <a:prstGeom prst="ellipse">
            <a:avLst/>
          </a:prstGeom>
          <a:solidFill>
            <a:srgbClr val="FFB100"/>
          </a:solidFill>
          <a:ln/>
        </p:spPr>
      </p:sp>
      <p:sp>
        <p:nvSpPr>
          <p:cNvPr id="12" name="Text 10"/>
          <p:cNvSpPr/>
          <p:nvPr/>
        </p:nvSpPr>
        <p:spPr>
          <a:xfrm>
            <a:off x="914400" y="3319272"/>
            <a:ext cx="4937760" cy="384048"/>
          </a:xfrm>
          <a:prstGeom prst="rect">
            <a:avLst/>
          </a:prstGeom>
          <a:noFill/>
          <a:ln/>
        </p:spPr>
        <p:txBody>
          <a:bodyPr wrap="square" rtlCol="0" anchor="ctr"/>
          <a:lstStyle/>
          <a:p>
            <a:pPr indent="0" marL="0">
              <a:buNone/>
            </a:pPr>
            <a:r>
              <a:rPr lang="en-US" sz="1200" dirty="0">
                <a:solidFill>
                  <a:srgbClr val="E8EEF2"/>
                </a:solidFill>
                <a:latin typeface="Calibri" pitchFamily="34" charset="0"/>
                <a:ea typeface="Calibri" pitchFamily="34" charset="-122"/>
                <a:cs typeface="Calibri" pitchFamily="34" charset="-120"/>
              </a:rPr>
              <a:t>Containerized with Docker &amp; Kubernetes-ready</a:t>
            </a:r>
            <a:endParaRPr lang="en-US" sz="1200" dirty="0"/>
          </a:p>
        </p:txBody>
      </p:sp>
      <p:sp>
        <p:nvSpPr>
          <p:cNvPr id="13" name="Text 11"/>
          <p:cNvSpPr/>
          <p:nvPr/>
        </p:nvSpPr>
        <p:spPr>
          <a:xfrm>
            <a:off x="6217920" y="1417320"/>
            <a:ext cx="4572000" cy="320040"/>
          </a:xfrm>
          <a:prstGeom prst="rect">
            <a:avLst/>
          </a:prstGeom>
          <a:noFill/>
          <a:ln/>
        </p:spPr>
        <p:txBody>
          <a:bodyPr wrap="square" rtlCol="0" anchor="ctr"/>
          <a:lstStyle/>
          <a:p>
            <a:pPr indent="0" marL="0">
              <a:buNone/>
            </a:pPr>
            <a:r>
              <a:rPr lang="en-US" sz="1200" b="1" spc="150" kern="0" dirty="0">
                <a:solidFill>
                  <a:srgbClr val="FFB100"/>
                </a:solidFill>
                <a:latin typeface="Calibri" pitchFamily="34" charset="0"/>
                <a:ea typeface="Calibri" pitchFamily="34" charset="-122"/>
                <a:cs typeface="Calibri" pitchFamily="34" charset="-120"/>
              </a:rPr>
              <a:t>FUTURE ENHANCEMENTS</a:t>
            </a:r>
            <a:endParaRPr lang="en-US" sz="1200" dirty="0"/>
          </a:p>
        </p:txBody>
      </p:sp>
      <p:sp>
        <p:nvSpPr>
          <p:cNvPr id="14" name="Shape 12"/>
          <p:cNvSpPr/>
          <p:nvPr/>
        </p:nvSpPr>
        <p:spPr>
          <a:xfrm>
            <a:off x="6217920" y="1828800"/>
            <a:ext cx="182880" cy="182880"/>
          </a:xfrm>
          <a:prstGeom prst="ellipse">
            <a:avLst/>
          </a:prstGeom>
          <a:solidFill>
            <a:srgbClr val="1C7293"/>
          </a:solidFill>
          <a:ln/>
        </p:spPr>
      </p:sp>
      <p:sp>
        <p:nvSpPr>
          <p:cNvPr id="15" name="Text 13"/>
          <p:cNvSpPr/>
          <p:nvPr/>
        </p:nvSpPr>
        <p:spPr>
          <a:xfrm>
            <a:off x="6583680" y="1728216"/>
            <a:ext cx="4937760" cy="384048"/>
          </a:xfrm>
          <a:prstGeom prst="rect">
            <a:avLst/>
          </a:prstGeom>
          <a:noFill/>
          <a:ln/>
        </p:spPr>
        <p:txBody>
          <a:bodyPr wrap="square" rtlCol="0" anchor="ctr"/>
          <a:lstStyle/>
          <a:p>
            <a:pPr indent="0" marL="0">
              <a:buNone/>
            </a:pPr>
            <a:r>
              <a:rPr lang="en-US" sz="1200" dirty="0">
                <a:solidFill>
                  <a:srgbClr val="E8EEF2"/>
                </a:solidFill>
                <a:latin typeface="Calibri" pitchFamily="34" charset="0"/>
                <a:ea typeface="Calibri" pitchFamily="34" charset="-122"/>
                <a:cs typeface="Calibri" pitchFamily="34" charset="-120"/>
              </a:rPr>
              <a:t>AI-assisted code review</a:t>
            </a:r>
            <a:endParaRPr lang="en-US" sz="1200" dirty="0"/>
          </a:p>
        </p:txBody>
      </p:sp>
      <p:sp>
        <p:nvSpPr>
          <p:cNvPr id="16" name="Shape 14"/>
          <p:cNvSpPr/>
          <p:nvPr/>
        </p:nvSpPr>
        <p:spPr>
          <a:xfrm>
            <a:off x="6217920" y="2359152"/>
            <a:ext cx="182880" cy="182880"/>
          </a:xfrm>
          <a:prstGeom prst="ellipse">
            <a:avLst/>
          </a:prstGeom>
          <a:solidFill>
            <a:srgbClr val="1C7293"/>
          </a:solidFill>
          <a:ln/>
        </p:spPr>
      </p:sp>
      <p:sp>
        <p:nvSpPr>
          <p:cNvPr id="17" name="Text 15"/>
          <p:cNvSpPr/>
          <p:nvPr/>
        </p:nvSpPr>
        <p:spPr>
          <a:xfrm>
            <a:off x="6583680" y="2258568"/>
            <a:ext cx="4937760" cy="384048"/>
          </a:xfrm>
          <a:prstGeom prst="rect">
            <a:avLst/>
          </a:prstGeom>
          <a:noFill/>
          <a:ln/>
        </p:spPr>
        <p:txBody>
          <a:bodyPr wrap="square" rtlCol="0" anchor="ctr"/>
          <a:lstStyle/>
          <a:p>
            <a:pPr indent="0" marL="0">
              <a:buNone/>
            </a:pPr>
            <a:r>
              <a:rPr lang="en-US" sz="1200" dirty="0">
                <a:solidFill>
                  <a:srgbClr val="E8EEF2"/>
                </a:solidFill>
                <a:latin typeface="Calibri" pitchFamily="34" charset="0"/>
                <a:ea typeface="Calibri" pitchFamily="34" charset="-122"/>
                <a:cs typeface="Calibri" pitchFamily="34" charset="-120"/>
              </a:rPr>
              <a:t>Real-time collaboration (WebSockets)</a:t>
            </a:r>
            <a:endParaRPr lang="en-US" sz="1200" dirty="0"/>
          </a:p>
        </p:txBody>
      </p:sp>
      <p:sp>
        <p:nvSpPr>
          <p:cNvPr id="18" name="Shape 16"/>
          <p:cNvSpPr/>
          <p:nvPr/>
        </p:nvSpPr>
        <p:spPr>
          <a:xfrm>
            <a:off x="6217920" y="2889504"/>
            <a:ext cx="182880" cy="182880"/>
          </a:xfrm>
          <a:prstGeom prst="ellipse">
            <a:avLst/>
          </a:prstGeom>
          <a:solidFill>
            <a:srgbClr val="1C7293"/>
          </a:solidFill>
          <a:ln/>
        </p:spPr>
      </p:sp>
      <p:sp>
        <p:nvSpPr>
          <p:cNvPr id="19" name="Text 17"/>
          <p:cNvSpPr/>
          <p:nvPr/>
        </p:nvSpPr>
        <p:spPr>
          <a:xfrm>
            <a:off x="6583680" y="2788920"/>
            <a:ext cx="4937760" cy="384048"/>
          </a:xfrm>
          <a:prstGeom prst="rect">
            <a:avLst/>
          </a:prstGeom>
          <a:noFill/>
          <a:ln/>
        </p:spPr>
        <p:txBody>
          <a:bodyPr wrap="square" rtlCol="0" anchor="ctr"/>
          <a:lstStyle/>
          <a:p>
            <a:pPr indent="0" marL="0">
              <a:buNone/>
            </a:pPr>
            <a:r>
              <a:rPr lang="en-US" sz="1200" dirty="0">
                <a:solidFill>
                  <a:srgbClr val="E8EEF2"/>
                </a:solidFill>
                <a:latin typeface="Calibri" pitchFamily="34" charset="0"/>
                <a:ea typeface="Calibri" pitchFamily="34" charset="-122"/>
                <a:cs typeface="Calibri" pitchFamily="34" charset="-120"/>
              </a:rPr>
              <a:t>Redis caching + Amazon EKS</a:t>
            </a:r>
            <a:endParaRPr lang="en-US" sz="1200" dirty="0"/>
          </a:p>
        </p:txBody>
      </p:sp>
      <p:sp>
        <p:nvSpPr>
          <p:cNvPr id="20" name="Shape 18"/>
          <p:cNvSpPr/>
          <p:nvPr/>
        </p:nvSpPr>
        <p:spPr>
          <a:xfrm>
            <a:off x="6217920" y="3419856"/>
            <a:ext cx="182880" cy="182880"/>
          </a:xfrm>
          <a:prstGeom prst="ellipse">
            <a:avLst/>
          </a:prstGeom>
          <a:solidFill>
            <a:srgbClr val="1C7293"/>
          </a:solidFill>
          <a:ln/>
        </p:spPr>
      </p:sp>
      <p:sp>
        <p:nvSpPr>
          <p:cNvPr id="21" name="Text 19"/>
          <p:cNvSpPr/>
          <p:nvPr/>
        </p:nvSpPr>
        <p:spPr>
          <a:xfrm>
            <a:off x="6583680" y="3319272"/>
            <a:ext cx="4937760" cy="384048"/>
          </a:xfrm>
          <a:prstGeom prst="rect">
            <a:avLst/>
          </a:prstGeom>
          <a:noFill/>
          <a:ln/>
        </p:spPr>
        <p:txBody>
          <a:bodyPr wrap="square" rtlCol="0" anchor="ctr"/>
          <a:lstStyle/>
          <a:p>
            <a:pPr indent="0" marL="0">
              <a:buNone/>
            </a:pPr>
            <a:r>
              <a:rPr lang="en-US" sz="1200" dirty="0">
                <a:solidFill>
                  <a:srgbClr val="E8EEF2"/>
                </a:solidFill>
                <a:latin typeface="Calibri" pitchFamily="34" charset="0"/>
                <a:ea typeface="Calibri" pitchFamily="34" charset="-122"/>
                <a:cs typeface="Calibri" pitchFamily="34" charset="-120"/>
              </a:rPr>
              <a:t>Prometheus/Grafana monitoring</a:t>
            </a:r>
            <a:endParaRPr lang="en-US" sz="1200" dirty="0"/>
          </a:p>
        </p:txBody>
      </p:sp>
      <p:sp>
        <p:nvSpPr>
          <p:cNvPr id="22" name="Shape 20"/>
          <p:cNvSpPr/>
          <p:nvPr/>
        </p:nvSpPr>
        <p:spPr>
          <a:xfrm>
            <a:off x="548640" y="4480560"/>
            <a:ext cx="10744200" cy="1600200"/>
          </a:xfrm>
          <a:prstGeom prst="roundRect">
            <a:avLst>
              <a:gd name="adj" fmla="val 5714"/>
            </a:avLst>
          </a:prstGeom>
          <a:solidFill>
            <a:srgbClr val="1F2C4D"/>
          </a:solidFill>
          <a:ln/>
        </p:spPr>
      </p:sp>
      <p:sp>
        <p:nvSpPr>
          <p:cNvPr id="23" name="Text 21"/>
          <p:cNvSpPr/>
          <p:nvPr/>
        </p:nvSpPr>
        <p:spPr>
          <a:xfrm>
            <a:off x="822960" y="4663440"/>
            <a:ext cx="10241280" cy="320040"/>
          </a:xfrm>
          <a:prstGeom prst="rect">
            <a:avLst/>
          </a:prstGeom>
          <a:noFill/>
          <a:ln/>
        </p:spPr>
        <p:txBody>
          <a:bodyPr wrap="square" rtlCol="0" anchor="ctr"/>
          <a:lstStyle/>
          <a:p>
            <a:pPr indent="0" marL="0">
              <a:buNone/>
            </a:pPr>
            <a:r>
              <a:rPr lang="en-US" sz="1300" b="1" dirty="0">
                <a:solidFill>
                  <a:srgbClr val="FFB100"/>
                </a:solidFill>
                <a:latin typeface="Arial" pitchFamily="34" charset="0"/>
                <a:ea typeface="Arial" pitchFamily="34" charset="-122"/>
                <a:cs typeface="Arial" pitchFamily="34" charset="-120"/>
              </a:rPr>
              <a:t>VIVA TIP — “Why Kubernetes if you deployed on one EC2 instance?”</a:t>
            </a:r>
            <a:endParaRPr lang="en-US" sz="1300" dirty="0"/>
          </a:p>
        </p:txBody>
      </p:sp>
      <p:sp>
        <p:nvSpPr>
          <p:cNvPr id="24" name="Text 22"/>
          <p:cNvSpPr/>
          <p:nvPr/>
        </p:nvSpPr>
        <p:spPr>
          <a:xfrm>
            <a:off x="822960" y="5029200"/>
            <a:ext cx="10241280" cy="914400"/>
          </a:xfrm>
          <a:prstGeom prst="rect">
            <a:avLst/>
          </a:prstGeom>
          <a:noFill/>
          <a:ln/>
        </p:spPr>
        <p:txBody>
          <a:bodyPr wrap="square" rtlCol="0" anchor="ctr"/>
          <a:lstStyle/>
          <a:p>
            <a:pPr indent="0" marL="0">
              <a:lnSpc>
                <a:spcPct val="125000"/>
              </a:lnSpc>
              <a:buNone/>
            </a:pPr>
            <a:r>
              <a:rPr lang="en-US" sz="1200" i="1" dirty="0">
                <a:solidFill>
                  <a:srgbClr val="D9E3E8"/>
                </a:solidFill>
                <a:latin typeface="Calibri" pitchFamily="34" charset="0"/>
                <a:ea typeface="Calibri" pitchFamily="34" charset="-122"/>
                <a:cs typeface="Calibri" pitchFamily="34" charset="-120"/>
              </a:rPr>
              <a:t>Production runs on Docker Compose on a single EC2 instance because it's cost-effective for current load. Kubernetes manifests are already written, so scaling to Amazon EKS needs minimal architectural change.</a:t>
            </a:r>
            <a:endParaRPr lang="en-US" sz="1200" dirty="0"/>
          </a:p>
        </p:txBody>
      </p:sp>
      <p:sp>
        <p:nvSpPr>
          <p:cNvPr id="25" name="Text 23"/>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2026-08-03T09:58:22Z</dcterms:created>
  <dcterms:modified xsi:type="dcterms:W3CDTF">2026-08-03T09:58:22Z</dcterms:modified>
</cp:coreProperties>
</file>